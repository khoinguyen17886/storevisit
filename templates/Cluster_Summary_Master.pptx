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</p:sldIdLst>
  <p:sldSz cx="18288000" cy="10287000"/>
  <p:notesSz cx="6797675" cy="9872663"/>
  <p:defaultTextStyle>
    <a:defPPr>
      <a:defRPr lang="vi-V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4" autoAdjust="0"/>
    <p:restoredTop sz="94660"/>
  </p:normalViewPr>
  <p:slideViewPr>
    <p:cSldViewPr>
      <p:cViewPr varScale="1">
        <p:scale>
          <a:sx n="52" d="100"/>
          <a:sy n="52" d="100"/>
        </p:scale>
        <p:origin x="878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5141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941E36-A285-701A-6ECA-C080523F1A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1797" tIns="45898" rIns="91797" bIns="45898" rtlCol="0"/>
          <a:lstStyle>
            <a:lvl1pPr algn="l">
              <a:defRPr sz="1200">
                <a:latin typeface="Abadi" panose="020F050202020403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219FD9-AC10-77DB-A855-155BC1F360C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1797" tIns="45898" rIns="91797" bIns="45898" rtlCol="0"/>
          <a:lstStyle>
            <a:lvl1pPr algn="r">
              <a:defRPr sz="1200" smtClean="0">
                <a:latin typeface="Abadi" panose="020F0502020204030204" pitchFamily="34" charset="0"/>
              </a:defRPr>
            </a:lvl1pPr>
          </a:lstStyle>
          <a:p>
            <a:pPr>
              <a:defRPr/>
            </a:pPr>
            <a:fld id="{3D389D5D-D991-4E8F-BD05-0BB08B052A57}" type="datetimeFigureOut">
              <a:rPr lang="en-US"/>
              <a:pPr>
                <a:defRPr/>
              </a:pPr>
              <a:t>6/15/2026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17E3232-B3A9-7DB8-A9B0-20AC8851FE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797" tIns="45898" rIns="91797" bIns="4589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84DAC55-13C0-A35D-335A-D57CF89049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51388"/>
            <a:ext cx="5438775" cy="3887787"/>
          </a:xfrm>
          <a:prstGeom prst="rect">
            <a:avLst/>
          </a:prstGeom>
        </p:spPr>
        <p:txBody>
          <a:bodyPr vert="horz" lIns="91797" tIns="45898" rIns="91797" bIns="45898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9772B8-CD86-7C39-7FD7-3E8BC4D761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377363"/>
            <a:ext cx="2946400" cy="495300"/>
          </a:xfrm>
          <a:prstGeom prst="rect">
            <a:avLst/>
          </a:prstGeom>
        </p:spPr>
        <p:txBody>
          <a:bodyPr vert="horz" lIns="91797" tIns="45898" rIns="91797" bIns="45898" rtlCol="0" anchor="b"/>
          <a:lstStyle>
            <a:lvl1pPr algn="l">
              <a:defRPr sz="1200">
                <a:latin typeface="Abadi" panose="020F050202020403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7E994-57A3-D6F9-A4F7-0EE6507CCB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9688" y="9377363"/>
            <a:ext cx="2946400" cy="495300"/>
          </a:xfrm>
          <a:prstGeom prst="rect">
            <a:avLst/>
          </a:prstGeom>
        </p:spPr>
        <p:txBody>
          <a:bodyPr vert="horz" wrap="square" lIns="91797" tIns="45898" rIns="91797" bIns="45898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badi" panose="020F0502020204030204" pitchFamily="34" charset="0"/>
              </a:defRPr>
            </a:lvl1pPr>
          </a:lstStyle>
          <a:p>
            <a:pPr>
              <a:defRPr/>
            </a:pPr>
            <a:fld id="{A0F7A935-BDE8-4AB6-9DF6-D123158EF1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430887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chemeClr val="tx1"/>
                </a:solidFill>
                <a:latin typeface="Abadi" panose="020F0502020204030204" pitchFamily="34" charset="0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26F6BE17-5A61-C153-AD77-D6A54DBBA4E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vi-VN" altLang="vi-VN"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C49BCFFE-3A0D-99C0-7D74-CD7810E3323D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D535C1-6C7C-43A2-AF2F-FB60B521BDBC}" type="datetimeFigureOut">
              <a:rPr lang="en-US" altLang="vi-VN"/>
              <a:pPr>
                <a:defRPr/>
              </a:pPr>
              <a:t>6/15/2026</a:t>
            </a:fld>
            <a:endParaRPr lang="en-US" altLang="vi-VN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7C51C6D8-756E-4A7C-A613-EDF9ABF43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664A1E7-2EAD-44B6-A518-185C09B45E0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47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46175" y="871538"/>
            <a:ext cx="15995650" cy="430887"/>
          </a:xfrm>
        </p:spPr>
        <p:txBody>
          <a:bodyPr/>
          <a:lstStyle>
            <a:lvl1pPr>
              <a:defRPr sz="2800" b="1" i="0">
                <a:solidFill>
                  <a:schemeClr val="tx1"/>
                </a:solidFill>
                <a:latin typeface="Abadi" panose="020F0502020204030204" pitchFamily="34" charset="0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846E95EA-E79D-68DB-B1E5-7DE2C7C7A2C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vi-VN" altLang="vi-VN"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CC02EDA3-6424-B31C-562D-C094D8119B08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1450CE-5D5F-4870-977C-C7D0B3497238}" type="datetimeFigureOut">
              <a:rPr lang="en-US" altLang="vi-VN"/>
              <a:pPr>
                <a:defRPr/>
              </a:pPr>
              <a:t>6/15/2026</a:t>
            </a:fld>
            <a:endParaRPr lang="en-US" altLang="vi-VN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D1238032-BDED-138E-3099-532795DF2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7E52766-BB68-488B-8398-F7B0B389CE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5378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46175" y="871538"/>
            <a:ext cx="15995650" cy="430887"/>
          </a:xfrm>
        </p:spPr>
        <p:txBody>
          <a:bodyPr/>
          <a:lstStyle>
            <a:lvl1pPr>
              <a:defRPr sz="2800" b="1" i="0">
                <a:solidFill>
                  <a:schemeClr val="tx1"/>
                </a:solidFill>
                <a:latin typeface="Abadi" panose="020F0502020204030204" pitchFamily="34" charset="0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4">
            <a:extLst>
              <a:ext uri="{FF2B5EF4-FFF2-40B4-BE49-F238E27FC236}">
                <a16:creationId xmlns:a16="http://schemas.microsoft.com/office/drawing/2014/main" id="{A2EC83DF-4733-3A6B-B4FA-E2CDE19F3D8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vi-VN" altLang="vi-VN"/>
          </a:p>
        </p:txBody>
      </p:sp>
      <p:sp>
        <p:nvSpPr>
          <p:cNvPr id="6" name="Holder 5">
            <a:extLst>
              <a:ext uri="{FF2B5EF4-FFF2-40B4-BE49-F238E27FC236}">
                <a16:creationId xmlns:a16="http://schemas.microsoft.com/office/drawing/2014/main" id="{EDFEE505-0C49-F193-EF9D-2F354425F17B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1BD0C1-2D2D-499B-9255-22CEB11829F7}" type="datetimeFigureOut">
              <a:rPr lang="en-US" altLang="vi-VN"/>
              <a:pPr>
                <a:defRPr/>
              </a:pPr>
              <a:t>6/15/2026</a:t>
            </a:fld>
            <a:endParaRPr lang="en-US" altLang="vi-VN"/>
          </a:p>
        </p:txBody>
      </p:sp>
      <p:sp>
        <p:nvSpPr>
          <p:cNvPr id="7" name="Holder 6">
            <a:extLst>
              <a:ext uri="{FF2B5EF4-FFF2-40B4-BE49-F238E27FC236}">
                <a16:creationId xmlns:a16="http://schemas.microsoft.com/office/drawing/2014/main" id="{73DE84B2-9A40-D8D5-A450-FFEA0B6E6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AB4FF71-C6CF-442E-8F38-9E02FC2931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1441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46175" y="871538"/>
            <a:ext cx="15995650" cy="430887"/>
          </a:xfrm>
        </p:spPr>
        <p:txBody>
          <a:bodyPr/>
          <a:lstStyle>
            <a:lvl1pPr>
              <a:defRPr sz="2800" b="1" i="0">
                <a:solidFill>
                  <a:schemeClr val="tx1"/>
                </a:solidFill>
                <a:latin typeface="Abadi" panose="020F0502020204030204" pitchFamily="34" charset="0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4">
            <a:extLst>
              <a:ext uri="{FF2B5EF4-FFF2-40B4-BE49-F238E27FC236}">
                <a16:creationId xmlns:a16="http://schemas.microsoft.com/office/drawing/2014/main" id="{72D91CB0-A555-CFC7-5135-04EA6E39068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vi-VN" altLang="vi-VN"/>
          </a:p>
        </p:txBody>
      </p:sp>
      <p:sp>
        <p:nvSpPr>
          <p:cNvPr id="4" name="Holder 5">
            <a:extLst>
              <a:ext uri="{FF2B5EF4-FFF2-40B4-BE49-F238E27FC236}">
                <a16:creationId xmlns:a16="http://schemas.microsoft.com/office/drawing/2014/main" id="{1732E159-F6C5-CBF6-F769-D09082DCDC4A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448833-0A9F-4A9B-9093-B369B0AF4BA2}" type="datetimeFigureOut">
              <a:rPr lang="en-US" altLang="vi-VN"/>
              <a:pPr>
                <a:defRPr/>
              </a:pPr>
              <a:t>6/15/2026</a:t>
            </a:fld>
            <a:endParaRPr lang="en-US" altLang="vi-VN"/>
          </a:p>
        </p:txBody>
      </p:sp>
      <p:sp>
        <p:nvSpPr>
          <p:cNvPr id="5" name="Holder 6">
            <a:extLst>
              <a:ext uri="{FF2B5EF4-FFF2-40B4-BE49-F238E27FC236}">
                <a16:creationId xmlns:a16="http://schemas.microsoft.com/office/drawing/2014/main" id="{4FE2D367-4D70-32D3-B4B4-AC3C4F644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32A9847-E1FD-4536-A331-88EE51E64F6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3421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4">
            <a:extLst>
              <a:ext uri="{FF2B5EF4-FFF2-40B4-BE49-F238E27FC236}">
                <a16:creationId xmlns:a16="http://schemas.microsoft.com/office/drawing/2014/main" id="{27EA4F7B-CD6D-E2CB-A8A3-612BCD39F6B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vi-VN" altLang="vi-VN"/>
          </a:p>
        </p:txBody>
      </p:sp>
      <p:sp>
        <p:nvSpPr>
          <p:cNvPr id="3" name="Holder 5">
            <a:extLst>
              <a:ext uri="{FF2B5EF4-FFF2-40B4-BE49-F238E27FC236}">
                <a16:creationId xmlns:a16="http://schemas.microsoft.com/office/drawing/2014/main" id="{FF540EEB-6D51-F7CF-6EED-42BDE25E418D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FF52FE-8245-42DB-AE93-2A559BB37A95}" type="datetimeFigureOut">
              <a:rPr lang="en-US" altLang="vi-VN"/>
              <a:pPr>
                <a:defRPr/>
              </a:pPr>
              <a:t>6/15/2026</a:t>
            </a:fld>
            <a:endParaRPr lang="en-US" altLang="vi-VN"/>
          </a:p>
        </p:txBody>
      </p:sp>
      <p:sp>
        <p:nvSpPr>
          <p:cNvPr id="4" name="Holder 6">
            <a:extLst>
              <a:ext uri="{FF2B5EF4-FFF2-40B4-BE49-F238E27FC236}">
                <a16:creationId xmlns:a16="http://schemas.microsoft.com/office/drawing/2014/main" id="{B3E42292-F43E-6940-3F02-DE3D79B9F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D0F0234-0EED-4B15-A947-2A44D47180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18424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bg object 16">
            <a:extLst>
              <a:ext uri="{FF2B5EF4-FFF2-40B4-BE49-F238E27FC236}">
                <a16:creationId xmlns:a16="http://schemas.microsoft.com/office/drawing/2014/main" id="{FEE29E96-A779-0886-B6F0-9409F871C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Holder 2">
            <a:extLst>
              <a:ext uri="{FF2B5EF4-FFF2-40B4-BE49-F238E27FC236}">
                <a16:creationId xmlns:a16="http://schemas.microsoft.com/office/drawing/2014/main" id="{8D6AB472-C51E-9763-6236-7C35616501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46175" y="871538"/>
            <a:ext cx="15995650" cy="125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vi-VN" altLang="vi-VN"/>
          </a:p>
        </p:txBody>
      </p:sp>
      <p:sp>
        <p:nvSpPr>
          <p:cNvPr id="1028" name="Holder 3">
            <a:extLst>
              <a:ext uri="{FF2B5EF4-FFF2-40B4-BE49-F238E27FC236}">
                <a16:creationId xmlns:a16="http://schemas.microsoft.com/office/drawing/2014/main" id="{BB159E60-9EEB-D957-CBFC-E122ADFAF4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05900" y="2760663"/>
            <a:ext cx="84502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vi-VN" altLang="vi-VN"/>
          </a:p>
        </p:txBody>
      </p:sp>
      <p:sp>
        <p:nvSpPr>
          <p:cNvPr id="1029" name="Holder 4">
            <a:extLst>
              <a:ext uri="{FF2B5EF4-FFF2-40B4-BE49-F238E27FC236}">
                <a16:creationId xmlns:a16="http://schemas.microsoft.com/office/drawing/2014/main" id="{1CF9E429-52BF-9F8F-1820-C39E1F288A71}"/>
              </a:ext>
            </a:extLst>
          </p:cNvPr>
          <p:cNvSpPr>
            <a:spLocks noGrp="1" noChangeArrowheads="1"/>
          </p:cNvSpPr>
          <p:nvPr>
            <p:ph type="ftr" sz="quarter" idx="5"/>
          </p:nvPr>
        </p:nvSpPr>
        <p:spPr bwMode="auto">
          <a:xfrm>
            <a:off x="6218238" y="9566275"/>
            <a:ext cx="5851525" cy="27622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1" hangingPunct="1">
              <a:defRPr>
                <a:solidFill>
                  <a:srgbClr val="898989"/>
                </a:solidFill>
                <a:latin typeface="Abadi" panose="020F0502020204030204" pitchFamily="34" charset="0"/>
              </a:defRPr>
            </a:lvl1pPr>
          </a:lstStyle>
          <a:p>
            <a:pPr>
              <a:defRPr/>
            </a:pPr>
            <a:endParaRPr lang="vi-VN" altLang="vi-VN"/>
          </a:p>
        </p:txBody>
      </p:sp>
      <p:sp>
        <p:nvSpPr>
          <p:cNvPr id="1030" name="Holder 5">
            <a:extLst>
              <a:ext uri="{FF2B5EF4-FFF2-40B4-BE49-F238E27FC236}">
                <a16:creationId xmlns:a16="http://schemas.microsoft.com/office/drawing/2014/main" id="{B3C7BA13-E7BE-CB77-3B0C-393C2F230000}"/>
              </a:ext>
            </a:extLst>
          </p:cNvPr>
          <p:cNvSpPr>
            <a:spLocks noGrp="1" noChangeArrowheads="1"/>
          </p:cNvSpPr>
          <p:nvPr>
            <p:ph type="dt" sz="half" idx="6"/>
          </p:nvPr>
        </p:nvSpPr>
        <p:spPr bwMode="auto">
          <a:xfrm>
            <a:off x="914400" y="9566275"/>
            <a:ext cx="4206875" cy="27622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1" hangingPunct="1">
              <a:defRPr smtClean="0">
                <a:solidFill>
                  <a:srgbClr val="898989"/>
                </a:solidFill>
                <a:latin typeface="Abadi" panose="020F0502020204030204" pitchFamily="34" charset="0"/>
              </a:defRPr>
            </a:lvl1pPr>
          </a:lstStyle>
          <a:p>
            <a:pPr>
              <a:defRPr/>
            </a:pPr>
            <a:fld id="{83419310-44D0-4731-AED4-DDD7919A01F5}" type="datetimeFigureOut">
              <a:rPr lang="en-US" altLang="vi-VN"/>
              <a:pPr>
                <a:defRPr/>
              </a:pPr>
              <a:t>6/15/2026</a:t>
            </a:fld>
            <a:endParaRPr lang="en-US" altLang="vi-VN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8EA5E189-9077-2ED1-C5D9-85B5CC01C9C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7083088" y="9571038"/>
            <a:ext cx="342900" cy="269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8100" eaLnBrk="1" hangingPunct="1">
              <a:lnSpc>
                <a:spcPts val="2088"/>
              </a:lnSpc>
              <a:defRPr smtClean="0">
                <a:solidFill>
                  <a:srgbClr val="888888"/>
                </a:solidFill>
                <a:latin typeface="Abad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E1515F2-5AB6-432B-BE37-DA3012BCF6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Abadi" panose="020F0502020204030204" pitchFamily="34" charset="0"/>
          <a:ea typeface="+mn-ea"/>
          <a:cs typeface="+mn-cs"/>
        </a:defRPr>
      </a:lvl1pPr>
      <a:lvl2pPr marL="4572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hape 0">
            <a:extLst>
              <a:ext uri="{FF2B5EF4-FFF2-40B4-BE49-F238E27FC236}">
                <a16:creationId xmlns:a16="http://schemas.microsoft.com/office/drawing/2014/main" id="{50B97350-3342-327D-2267-4FF513FED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71500"/>
            <a:ext cx="6858000" cy="90678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8195" name="Text 1">
            <a:extLst>
              <a:ext uri="{FF2B5EF4-FFF2-40B4-BE49-F238E27FC236}">
                <a16:creationId xmlns:a16="http://schemas.microsoft.com/office/drawing/2014/main" id="{0D0703C8-76B8-F6E6-306A-4C0F8503F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731838"/>
            <a:ext cx="585152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olidFill>
                  <a:srgbClr val="FFFFFF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AN PHƯỚC GROUP</a:t>
            </a:r>
            <a:endParaRPr lang="en-US" altLang="en-US" sz="1400">
              <a:latin typeface="Abadi" panose="020B0604020104020204" pitchFamily="34" charset="0"/>
            </a:endParaRPr>
          </a:p>
        </p:txBody>
      </p:sp>
      <p:sp>
        <p:nvSpPr>
          <p:cNvPr id="8196" name="Shape 2">
            <a:extLst>
              <a:ext uri="{FF2B5EF4-FFF2-40B4-BE49-F238E27FC236}">
                <a16:creationId xmlns:a16="http://schemas.microsoft.com/office/drawing/2014/main" id="{0E64D777-2B00-7C04-FE7E-2942F28F3E8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275" y="1828800"/>
            <a:ext cx="5851525" cy="0"/>
          </a:xfrm>
          <a:prstGeom prst="line">
            <a:avLst/>
          </a:prstGeom>
          <a:noFill/>
          <a:ln w="12700">
            <a:solidFill>
              <a:srgbClr val="FF99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Text 3">
            <a:extLst>
              <a:ext uri="{FF2B5EF4-FFF2-40B4-BE49-F238E27FC236}">
                <a16:creationId xmlns:a16="http://schemas.microsoft.com/office/drawing/2014/main" id="{12B4FD26-4740-2C88-9DE0-2A2537972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2193925"/>
            <a:ext cx="5851525" cy="256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t>BÁO CÁO KIỂM TRA</a:t>
            </a:r>
          </a:p>
          <a:p>
            <a:r>
              <a:t>CỤM CỬA HÀNG</a:t>
            </a:r>
          </a:p>
        </p:txBody>
      </p:sp>
      <p:sp>
        <p:nvSpPr>
          <p:cNvPr id="8198" name="Text 4">
            <a:extLst>
              <a:ext uri="{FF2B5EF4-FFF2-40B4-BE49-F238E27FC236}">
                <a16:creationId xmlns:a16="http://schemas.microsoft.com/office/drawing/2014/main" id="{71FBF86D-9A1A-B92E-9765-9BDECDA56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5303838"/>
            <a:ext cx="27432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t>Cụm cửa hàng:</a:t>
            </a:r>
          </a:p>
        </p:txBody>
      </p:sp>
      <p:sp>
        <p:nvSpPr>
          <p:cNvPr id="8199" name="TXT_CLUSTER_NAME">
            <a:extLst>
              <a:ext uri="{FF2B5EF4-FFF2-40B4-BE49-F238E27FC236}">
                <a16:creationId xmlns:a16="http://schemas.microsoft.com/office/drawing/2014/main" id="{560DB2D4-4C87-6363-FE80-2B5C395AD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2963" y="5303838"/>
            <a:ext cx="329247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/>
        </p:txBody>
      </p:sp>
      <p:sp>
        <p:nvSpPr>
          <p:cNvPr id="8200" name="Text 6">
            <a:extLst>
              <a:ext uri="{FF2B5EF4-FFF2-40B4-BE49-F238E27FC236}">
                <a16:creationId xmlns:a16="http://schemas.microsoft.com/office/drawing/2014/main" id="{62CD5900-4AA6-994B-BF73-A60F2230E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6254750"/>
            <a:ext cx="27432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200" b="1">
                <a:solidFill>
                  <a:srgbClr val="FFCCCC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Ngày kiểm tra: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8201" name="TXT_REPORT_DATE">
            <a:extLst>
              <a:ext uri="{FF2B5EF4-FFF2-40B4-BE49-F238E27FC236}">
                <a16:creationId xmlns:a16="http://schemas.microsoft.com/office/drawing/2014/main" id="{0E611CC5-B0FD-932D-A107-AB97A0832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2963" y="6254750"/>
            <a:ext cx="329247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/>
        </p:txBody>
      </p:sp>
      <p:sp>
        <p:nvSpPr>
          <p:cNvPr id="8202" name="Text 8">
            <a:extLst>
              <a:ext uri="{FF2B5EF4-FFF2-40B4-BE49-F238E27FC236}">
                <a16:creationId xmlns:a16="http://schemas.microsoft.com/office/drawing/2014/main" id="{275D4F5B-778B-C2D3-657E-9C4D26785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7205663"/>
            <a:ext cx="27432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200" b="1">
                <a:solidFill>
                  <a:srgbClr val="FFCCCC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QLKD: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8203" name="TXT_ASM_NAME">
            <a:extLst>
              <a:ext uri="{FF2B5EF4-FFF2-40B4-BE49-F238E27FC236}">
                <a16:creationId xmlns:a16="http://schemas.microsoft.com/office/drawing/2014/main" id="{A5C69694-E3D5-8378-1353-043983204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2963" y="7205663"/>
            <a:ext cx="329247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/>
        </p:txBody>
      </p:sp>
      <p:sp>
        <p:nvSpPr>
          <p:cNvPr id="8204" name="Text 10">
            <a:extLst>
              <a:ext uri="{FF2B5EF4-FFF2-40B4-BE49-F238E27FC236}">
                <a16:creationId xmlns:a16="http://schemas.microsoft.com/office/drawing/2014/main" id="{38C091FC-CE60-2DD4-C2CB-DA4CCDF3B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8156575"/>
            <a:ext cx="27432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200" b="1">
                <a:solidFill>
                  <a:srgbClr val="FFCCCC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CHT: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8205" name="TXT_CHT_NAME">
            <a:extLst>
              <a:ext uri="{FF2B5EF4-FFF2-40B4-BE49-F238E27FC236}">
                <a16:creationId xmlns:a16="http://schemas.microsoft.com/office/drawing/2014/main" id="{B972CE31-CB68-49F2-04C4-8B9040611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2963" y="8156575"/>
            <a:ext cx="329247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/>
        </p:txBody>
      </p:sp>
      <p:sp>
        <p:nvSpPr>
          <p:cNvPr id="8206" name="Text 13">
            <a:extLst>
              <a:ext uri="{FF2B5EF4-FFF2-40B4-BE49-F238E27FC236}">
                <a16:creationId xmlns:a16="http://schemas.microsoft.com/office/drawing/2014/main" id="{834DAF8A-FE23-D25A-2708-AC0B19BBF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325" y="1257300"/>
            <a:ext cx="100584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t>BÁO CÁO KIỂM TRA</a:t>
            </a:r>
          </a:p>
          <a:p>
            <a:r>
              <a:t>CỤM CỬA HÀNG</a:t>
            </a:r>
          </a:p>
        </p:txBody>
      </p:sp>
      <p:sp>
        <p:nvSpPr>
          <p:cNvPr id="8207" name="Shape 14">
            <a:extLst>
              <a:ext uri="{FF2B5EF4-FFF2-40B4-BE49-F238E27FC236}">
                <a16:creationId xmlns:a16="http://schemas.microsoft.com/office/drawing/2014/main" id="{2643C41D-0A6B-7DEA-3CC7-6A4057EC7DB2}"/>
              </a:ext>
            </a:extLst>
          </p:cNvPr>
          <p:cNvSpPr>
            <a:spLocks noChangeShapeType="1"/>
          </p:cNvSpPr>
          <p:nvPr/>
        </p:nvSpPr>
        <p:spPr bwMode="auto">
          <a:xfrm>
            <a:off x="7680325" y="3924300"/>
            <a:ext cx="10058400" cy="0"/>
          </a:xfrm>
          <a:prstGeom prst="line">
            <a:avLst/>
          </a:prstGeom>
          <a:noFill/>
          <a:ln w="19050">
            <a:solidFill>
              <a:srgbClr val="FF99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208" name="Text 15">
            <a:extLst>
              <a:ext uri="{FF2B5EF4-FFF2-40B4-BE49-F238E27FC236}">
                <a16:creationId xmlns:a16="http://schemas.microsoft.com/office/drawing/2014/main" id="{8AAD777C-1D44-F0ED-8FDB-50AEE46E9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4076700"/>
            <a:ext cx="100584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600" i="1">
                <a:solidFill>
                  <a:srgbClr val="EE0000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Dành cho QLKD – Báo cáo chi tiết hiện trạng cửa hàng</a:t>
            </a:r>
            <a:endParaRPr lang="en-US" altLang="en-US" sz="1300">
              <a:solidFill>
                <a:srgbClr val="EE0000"/>
              </a:solidFill>
              <a:latin typeface="Abadi" panose="020B0604020104020204" pitchFamily="34" charset="0"/>
            </a:endParaRPr>
          </a:p>
          <a:p>
            <a:r>
              <a:rPr lang="en-US" altLang="en-US" sz="2600" i="1">
                <a:solidFill>
                  <a:srgbClr val="EE0000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bao gồm trưng bày, hàng hóa, nhân sự, CSVC và doanh thu.</a:t>
            </a:r>
            <a:endParaRPr lang="en-US" altLang="en-US" sz="1300">
              <a:solidFill>
                <a:srgbClr val="EE0000"/>
              </a:solidFill>
              <a:latin typeface="Abadi" panose="020B0604020104020204" pitchFamily="34" charset="0"/>
            </a:endParaRPr>
          </a:p>
        </p:txBody>
      </p:sp>
      <p:sp>
        <p:nvSpPr>
          <p:cNvPr id="8209" name="Text 16">
            <a:extLst>
              <a:ext uri="{FF2B5EF4-FFF2-40B4-BE49-F238E27FC236}">
                <a16:creationId xmlns:a16="http://schemas.microsoft.com/office/drawing/2014/main" id="{021ABACD-8C4E-8788-A54A-CD8946E6B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325" y="5640388"/>
            <a:ext cx="100584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t>Phần 1: Báo cáo tổng hợp cụm</a:t>
            </a:r>
          </a:p>
        </p:txBody>
      </p:sp>
      <p:sp>
        <p:nvSpPr>
          <p:cNvPr id="8210" name="Text 17">
            <a:extLst>
              <a:ext uri="{FF2B5EF4-FFF2-40B4-BE49-F238E27FC236}">
                <a16:creationId xmlns:a16="http://schemas.microsoft.com/office/drawing/2014/main" id="{4F21968B-1732-E4C8-93BE-AD4B5478F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325" y="6211888"/>
            <a:ext cx="10058400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t>Phần 2: Báo cáo chi tiết các cửa hàng</a:t>
            </a:r>
          </a:p>
        </p:txBody>
      </p:sp>
      <p:sp>
        <p:nvSpPr>
          <p:cNvPr id="8211" name="Text 18">
            <a:extLst>
              <a:ext uri="{FF2B5EF4-FFF2-40B4-BE49-F238E27FC236}">
                <a16:creationId xmlns:a16="http://schemas.microsoft.com/office/drawing/2014/main" id="{64E8A692-159D-BFEE-5F9C-875C80065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325" y="6783388"/>
            <a:ext cx="100584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/>
        </p:txBody>
      </p:sp>
      <p:sp>
        <p:nvSpPr>
          <p:cNvPr id="8212" name="Text 19">
            <a:extLst>
              <a:ext uri="{FF2B5EF4-FFF2-40B4-BE49-F238E27FC236}">
                <a16:creationId xmlns:a16="http://schemas.microsoft.com/office/drawing/2014/main" id="{4815A071-D5A9-2DC1-AF17-4DBF6124B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325" y="7354888"/>
            <a:ext cx="100584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/>
        </p:txBody>
      </p:sp>
      <p:sp>
        <p:nvSpPr>
          <p:cNvPr id="8213" name="META_SLIDE_ID"/>
          <p:cNvSpPr txBox="1"/>
          <p:nvPr/>
        </p:nvSpPr>
        <p:spPr>
          <a:xfrm>
            <a:off x="-9144000" y="-9144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CLUSTER_COVER</a:t>
            </a:r>
          </a:p>
        </p:txBody>
      </p:sp>
      <p:sp>
        <p:nvSpPr>
          <p:cNvPr id="8214" name="META_TEMPLATE_VERSION"/>
          <p:cNvSpPr txBox="1"/>
          <p:nvPr/>
        </p:nvSpPr>
        <p:spPr>
          <a:xfrm>
            <a:off x="-9144000" y="-7772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>
            <a:extLst>
              <a:ext uri="{FF2B5EF4-FFF2-40B4-BE49-F238E27FC236}">
                <a16:creationId xmlns:a16="http://schemas.microsoft.com/office/drawing/2014/main" id="{3F19BFF9-394D-39B3-65D1-8DB769E17BED}"/>
              </a:ext>
            </a:extLst>
          </p:cNvPr>
          <p:cNvSpPr/>
          <p:nvPr/>
        </p:nvSpPr>
        <p:spPr>
          <a:xfrm>
            <a:off x="762000" y="1778000"/>
            <a:ext cx="7847013" cy="6992938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F0502020204030204" pitchFamily="34" charset="0"/>
            </a:endParaRPr>
          </a:p>
        </p:txBody>
      </p:sp>
      <p:sp>
        <p:nvSpPr>
          <p:cNvPr id="9219" name="Shape 6">
            <a:extLst>
              <a:ext uri="{FF2B5EF4-FFF2-40B4-BE49-F238E27FC236}">
                <a16:creationId xmlns:a16="http://schemas.microsoft.com/office/drawing/2014/main" id="{A1689C06-9B2D-5EE5-C19E-9D1F5CE98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778000"/>
            <a:ext cx="7847013" cy="573088"/>
          </a:xfrm>
          <a:prstGeom prst="rect">
            <a:avLst/>
          </a:prstGeom>
          <a:solidFill>
            <a:srgbClr val="FDEAEA"/>
          </a:solidFill>
          <a:ln w="12700">
            <a:solidFill>
              <a:srgbClr val="CC1A1A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9220" name="Text 7">
            <a:extLst>
              <a:ext uri="{FF2B5EF4-FFF2-40B4-BE49-F238E27FC236}">
                <a16:creationId xmlns:a16="http://schemas.microsoft.com/office/drawing/2014/main" id="{6ADACB33-AB66-FF70-1AB2-DA35C4720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1778000"/>
            <a:ext cx="7578725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t>BÁO CÁO TỔNG HỢP DOANH THU CỤM</a:t>
            </a: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AE0CD857-AB64-D119-8EBF-D9C4C294B316}"/>
              </a:ext>
            </a:extLst>
          </p:cNvPr>
          <p:cNvSpPr/>
          <p:nvPr/>
        </p:nvSpPr>
        <p:spPr>
          <a:xfrm>
            <a:off x="8966200" y="1778000"/>
            <a:ext cx="8559800" cy="6992938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F0502020204030204" pitchFamily="34" charset="0"/>
            </a:endParaRPr>
          </a:p>
        </p:txBody>
      </p:sp>
      <p:sp>
        <p:nvSpPr>
          <p:cNvPr id="9246" name="Shape 33">
            <a:extLst>
              <a:ext uri="{FF2B5EF4-FFF2-40B4-BE49-F238E27FC236}">
                <a16:creationId xmlns:a16="http://schemas.microsoft.com/office/drawing/2014/main" id="{48CCFA11-0FF8-533E-4948-0722B71F1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6200" y="1778000"/>
            <a:ext cx="8559800" cy="573088"/>
          </a:xfrm>
          <a:prstGeom prst="rect">
            <a:avLst/>
          </a:prstGeom>
          <a:solidFill>
            <a:srgbClr val="FDEAEA"/>
          </a:solidFill>
          <a:ln w="12700">
            <a:solidFill>
              <a:srgbClr val="CC1A1A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9247" name="Text 34">
            <a:extLst>
              <a:ext uri="{FF2B5EF4-FFF2-40B4-BE49-F238E27FC236}">
                <a16:creationId xmlns:a16="http://schemas.microsoft.com/office/drawing/2014/main" id="{56EEC96F-95D6-D91C-FA75-79324662F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80513" y="1778000"/>
            <a:ext cx="8293100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300" b="1">
                <a:solidFill>
                  <a:srgbClr val="CC1A1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THÀNH PHẦN THAM GIA</a:t>
            </a:r>
            <a:endParaRPr lang="en-US" altLang="en-US" sz="1200">
              <a:latin typeface="Abadi" panose="020B0604020104020204" pitchFamily="34" charset="0"/>
            </a:endParaRPr>
          </a:p>
        </p:txBody>
      </p:sp>
      <p:sp>
        <p:nvSpPr>
          <p:cNvPr id="9264" name="TextBox 52">
            <a:extLst>
              <a:ext uri="{FF2B5EF4-FFF2-40B4-BE49-F238E27FC236}">
                <a16:creationId xmlns:a16="http://schemas.microsoft.com/office/drawing/2014/main" id="{E2681344-33A2-BF72-FA77-19B12AA20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723900"/>
            <a:ext cx="82042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t>Báo cáo cụm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0D03C31-21BC-BC38-C2D2-A49DCFBCD642}"/>
              </a:ext>
            </a:extLst>
          </p:cNvPr>
          <p:cNvSpPr/>
          <p:nvPr/>
        </p:nvSpPr>
        <p:spPr>
          <a:xfrm>
            <a:off x="762000" y="1397000"/>
            <a:ext cx="16764000" cy="38100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9265" name="META_SLIDE_ID"/>
          <p:cNvSpPr txBox="1"/>
          <p:nvPr/>
        </p:nvSpPr>
        <p:spPr>
          <a:xfrm>
            <a:off x="-9144000" y="-9144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CLUSTER_SUMMARY</a:t>
            </a:r>
          </a:p>
        </p:txBody>
      </p:sp>
      <p:sp>
        <p:nvSpPr>
          <p:cNvPr id="9266" name="META_TEMPLATE_VERSION"/>
          <p:cNvSpPr txBox="1"/>
          <p:nvPr/>
        </p:nvSpPr>
        <p:spPr>
          <a:xfrm>
            <a:off x="-9144000" y="-7772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1.0.0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4352</TotalTime>
  <Words>2589</Words>
  <Application>Microsoft Office PowerPoint</Application>
  <PresentationFormat>Custom</PresentationFormat>
  <Paragraphs>395</Paragraphs>
  <Slides>19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Times New Roman</vt:lpstr>
      <vt:lpstr>Abadi</vt:lpstr>
      <vt:lpstr>Wingdings</vt:lpstr>
      <vt:lpstr>Calibri</vt:lpstr>
      <vt:lpstr>Office Theme</vt:lpstr>
      <vt:lpstr>Microsoft Excel 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Company Profile Business Presentation in Red Maroon White Geometric Style</dc:title>
  <dc:creator>Nguyễn Hoàng Minh Thông</dc:creator>
  <cp:keywords>DAFh2MPb4ho,BAFXUA1VM-g</cp:keywords>
  <cp:lastModifiedBy>Khôi Nguyễn</cp:lastModifiedBy>
  <cp:revision>240</cp:revision>
  <cp:lastPrinted>2026-03-30T04:23:59Z</cp:lastPrinted>
  <dcterms:created xsi:type="dcterms:W3CDTF">2025-04-14T00:38:03Z</dcterms:created>
  <dcterms:modified xsi:type="dcterms:W3CDTF">2026-06-15T02:07:06Z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2025-04-11T00:00:00Z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2025-04-14T00:00:00Z</vt:filetime>
  </property>
  <property fmtid="{D5CDD505-2E9C-101B-9397-08002B2CF9AE}" pid="5" name="Producer">
    <vt:lpwstr>3-Heights(TM) PDF Security Shell 4.8.25.2 (http://www.pdf-tools.com)</vt:lpwstr>
  </property>
</Properties>
</file>