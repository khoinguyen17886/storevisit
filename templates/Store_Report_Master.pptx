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7" r:id="rId12"/>
    <p:sldId id="266" r:id="rId13"/>
    <p:sldId id="281" r:id="rId14"/>
    <p:sldId id="280" r:id="rId15"/>
    <p:sldId id="267" r:id="rId16"/>
    <p:sldId id="268" r:id="rId17"/>
    <p:sldId id="274" r:id="rId18"/>
    <p:sldId id="275" r:id="rId19"/>
    <p:sldId id="278" r:id="rId20"/>
  </p:sldIdLst>
  <p:sldSz cx="18288000" cy="10287000"/>
  <p:notesSz cx="6797675" cy="9872663"/>
  <p:defaultTextStyle>
    <a:defPPr>
      <a:defRPr lang="vi-V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94660"/>
  </p:normalViewPr>
  <p:slideViewPr>
    <p:cSldViewPr>
      <p:cViewPr varScale="1">
        <p:scale>
          <a:sx n="52" d="100"/>
          <a:sy n="52" d="100"/>
        </p:scale>
        <p:origin x="878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5141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941E36-A285-701A-6ECA-C080523F1A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797" tIns="45898" rIns="91797" bIns="45898" rtlCol="0"/>
          <a:lstStyle>
            <a:lvl1pPr algn="l">
              <a:defRPr sz="1200">
                <a:latin typeface="Abadi" panose="020F05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219FD9-AC10-77DB-A855-155BC1F360C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797" tIns="45898" rIns="91797" bIns="45898" rtlCol="0"/>
          <a:lstStyle>
            <a:lvl1pPr algn="r">
              <a:defRPr sz="1200" smtClean="0">
                <a:latin typeface="Abadi" panose="020F0502020204030204" pitchFamily="34" charset="0"/>
              </a:defRPr>
            </a:lvl1pPr>
          </a:lstStyle>
          <a:p>
            <a:pPr>
              <a:defRPr/>
            </a:pPr>
            <a:fld id="{3D389D5D-D991-4E8F-BD05-0BB08B052A57}" type="datetimeFigureOut">
              <a:rPr lang="en-US"/>
              <a:pPr>
                <a:defRPr/>
              </a:pPr>
              <a:t>6/15/2026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17E3232-B3A9-7DB8-A9B0-20AC8851FE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3488"/>
            <a:ext cx="5921375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797" tIns="45898" rIns="91797" bIns="4589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84DAC55-13C0-A35D-335A-D57CF89049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51388"/>
            <a:ext cx="5438775" cy="3887787"/>
          </a:xfrm>
          <a:prstGeom prst="rect">
            <a:avLst/>
          </a:prstGeom>
        </p:spPr>
        <p:txBody>
          <a:bodyPr vert="horz" lIns="91797" tIns="45898" rIns="91797" bIns="45898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9772B8-CD86-7C39-7FD7-3E8BC4D761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377363"/>
            <a:ext cx="2946400" cy="495300"/>
          </a:xfrm>
          <a:prstGeom prst="rect">
            <a:avLst/>
          </a:prstGeom>
        </p:spPr>
        <p:txBody>
          <a:bodyPr vert="horz" lIns="91797" tIns="45898" rIns="91797" bIns="45898" rtlCol="0" anchor="b"/>
          <a:lstStyle>
            <a:lvl1pPr algn="l">
              <a:defRPr sz="1200">
                <a:latin typeface="Abadi" panose="020F05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7E994-57A3-D6F9-A4F7-0EE6507CC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377363"/>
            <a:ext cx="2946400" cy="495300"/>
          </a:xfrm>
          <a:prstGeom prst="rect">
            <a:avLst/>
          </a:prstGeom>
        </p:spPr>
        <p:txBody>
          <a:bodyPr vert="horz" wrap="square" lIns="91797" tIns="45898" rIns="91797" bIns="45898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badi" panose="020F0502020204030204" pitchFamily="34" charset="0"/>
              </a:defRPr>
            </a:lvl1pPr>
          </a:lstStyle>
          <a:p>
            <a:pPr>
              <a:defRPr/>
            </a:pPr>
            <a:fld id="{A0F7A935-BDE8-4AB6-9DF6-D123158EF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:a16="http://schemas.microsoft.com/office/drawing/2014/main" id="{B680D93C-0568-97FF-EBC3-19D28754B8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:a16="http://schemas.microsoft.com/office/drawing/2014/main" id="{94BFEEE4-A388-9A33-208B-F03DD91A62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3316" name="Slide Number Placeholder 3">
            <a:extLst>
              <a:ext uri="{FF2B5EF4-FFF2-40B4-BE49-F238E27FC236}">
                <a16:creationId xmlns:a16="http://schemas.microsoft.com/office/drawing/2014/main" id="{421F7AD8-D206-0CED-1F8D-3C5BF892CE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648D000-FC37-4454-8FFC-37D1D6E98ECB}" type="slidenum">
              <a:rPr lang="en-US" altLang="en-US">
                <a:latin typeface="Abadi" panose="020B0604020104020204" pitchFamily="34" charset="0"/>
              </a:rPr>
              <a:pPr/>
              <a:t>5</a:t>
            </a:fld>
            <a:endParaRPr lang="en-US" altLang="en-US">
              <a:latin typeface="Abadi" panose="020B0604020104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4E26FB18-E6D3-77B9-503B-8E808CB72E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59BE11BE-0922-1363-FED8-1CE3B0055D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838FA6C2-1420-5D78-C339-00FC7AA038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2D442F-E89C-4249-9046-6CA1FDCEB579}" type="slidenum">
              <a:rPr lang="en-US" altLang="en-US">
                <a:latin typeface="Abadi" panose="020B0604020104020204" pitchFamily="34" charset="0"/>
              </a:rPr>
              <a:pPr/>
              <a:t>7</a:t>
            </a:fld>
            <a:endParaRPr lang="en-US" altLang="en-US">
              <a:latin typeface="Abadi" panose="020B0604020104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AC0D5F6F-E844-F1C1-275E-D280141FAB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C61D7B17-9AC7-5066-77A5-5F7A207BE3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BF196A39-7BC1-4CBA-2E6E-1B78FB4A6A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C7D5775-637E-4587-BBFD-EFE222D53821}" type="slidenum">
              <a:rPr lang="en-US" altLang="en-US">
                <a:latin typeface="Abadi" panose="020B0604020104020204" pitchFamily="34" charset="0"/>
              </a:rPr>
              <a:pPr/>
              <a:t>10</a:t>
            </a:fld>
            <a:endParaRPr lang="en-US" altLang="en-US">
              <a:latin typeface="Abadi" panose="020B0604020104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430887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chemeClr val="tx1"/>
                </a:solidFill>
                <a:latin typeface="Abadi" panose="020F0502020204030204" pitchFamily="34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26F6BE17-5A61-C153-AD77-D6A54DBBA4E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vi-VN" altLang="vi-VN"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C49BCFFE-3A0D-99C0-7D74-CD7810E3323D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D535C1-6C7C-43A2-AF2F-FB60B521BDBC}" type="datetimeFigureOut">
              <a:rPr lang="en-US" altLang="vi-VN"/>
              <a:pPr>
                <a:defRPr/>
              </a:pPr>
              <a:t>6/15/2026</a:t>
            </a:fld>
            <a:endParaRPr lang="en-US" altLang="vi-V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7C51C6D8-756E-4A7C-A613-EDF9ABF4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664A1E7-2EAD-44B6-A518-185C09B45E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47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6175" y="871538"/>
            <a:ext cx="15995650" cy="430887"/>
          </a:xfrm>
        </p:spPr>
        <p:txBody>
          <a:bodyPr/>
          <a:lstStyle>
            <a:lvl1pPr>
              <a:defRPr sz="2800" b="1" i="0">
                <a:solidFill>
                  <a:schemeClr val="tx1"/>
                </a:solidFill>
                <a:latin typeface="Abadi" panose="020F0502020204030204" pitchFamily="34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846E95EA-E79D-68DB-B1E5-7DE2C7C7A2C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vi-VN" altLang="vi-VN"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CC02EDA3-6424-B31C-562D-C094D8119B08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1450CE-5D5F-4870-977C-C7D0B3497238}" type="datetimeFigureOut">
              <a:rPr lang="en-US" altLang="vi-VN"/>
              <a:pPr>
                <a:defRPr/>
              </a:pPr>
              <a:t>6/15/2026</a:t>
            </a:fld>
            <a:endParaRPr lang="en-US" altLang="vi-V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D1238032-BDED-138E-3099-532795DF2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7E52766-BB68-488B-8398-F7B0B389CE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5378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6175" y="871538"/>
            <a:ext cx="15995650" cy="430887"/>
          </a:xfrm>
        </p:spPr>
        <p:txBody>
          <a:bodyPr/>
          <a:lstStyle>
            <a:lvl1pPr>
              <a:defRPr sz="2800" b="1" i="0">
                <a:solidFill>
                  <a:schemeClr val="tx1"/>
                </a:solidFill>
                <a:latin typeface="Abadi" panose="020F0502020204030204" pitchFamily="34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4">
            <a:extLst>
              <a:ext uri="{FF2B5EF4-FFF2-40B4-BE49-F238E27FC236}">
                <a16:creationId xmlns:a16="http://schemas.microsoft.com/office/drawing/2014/main" id="{A2EC83DF-4733-3A6B-B4FA-E2CDE19F3D8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vi-VN" altLang="vi-VN"/>
          </a:p>
        </p:txBody>
      </p:sp>
      <p:sp>
        <p:nvSpPr>
          <p:cNvPr id="6" name="Holder 5">
            <a:extLst>
              <a:ext uri="{FF2B5EF4-FFF2-40B4-BE49-F238E27FC236}">
                <a16:creationId xmlns:a16="http://schemas.microsoft.com/office/drawing/2014/main" id="{EDFEE505-0C49-F193-EF9D-2F354425F17B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1BD0C1-2D2D-499B-9255-22CEB11829F7}" type="datetimeFigureOut">
              <a:rPr lang="en-US" altLang="vi-VN"/>
              <a:pPr>
                <a:defRPr/>
              </a:pPr>
              <a:t>6/15/2026</a:t>
            </a:fld>
            <a:endParaRPr lang="en-US" altLang="vi-VN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73DE84B2-9A40-D8D5-A450-FFEA0B6E6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AB4FF71-C6CF-442E-8F38-9E02FC2931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1441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6175" y="871538"/>
            <a:ext cx="15995650" cy="430887"/>
          </a:xfrm>
        </p:spPr>
        <p:txBody>
          <a:bodyPr/>
          <a:lstStyle>
            <a:lvl1pPr>
              <a:defRPr sz="2800" b="1" i="0">
                <a:solidFill>
                  <a:schemeClr val="tx1"/>
                </a:solidFill>
                <a:latin typeface="Abadi" panose="020F0502020204030204" pitchFamily="34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4">
            <a:extLst>
              <a:ext uri="{FF2B5EF4-FFF2-40B4-BE49-F238E27FC236}">
                <a16:creationId xmlns:a16="http://schemas.microsoft.com/office/drawing/2014/main" id="{72D91CB0-A555-CFC7-5135-04EA6E39068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vi-VN" altLang="vi-VN"/>
          </a:p>
        </p:txBody>
      </p:sp>
      <p:sp>
        <p:nvSpPr>
          <p:cNvPr id="4" name="Holder 5">
            <a:extLst>
              <a:ext uri="{FF2B5EF4-FFF2-40B4-BE49-F238E27FC236}">
                <a16:creationId xmlns:a16="http://schemas.microsoft.com/office/drawing/2014/main" id="{1732E159-F6C5-CBF6-F769-D09082DCDC4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448833-0A9F-4A9B-9093-B369B0AF4BA2}" type="datetimeFigureOut">
              <a:rPr lang="en-US" altLang="vi-VN"/>
              <a:pPr>
                <a:defRPr/>
              </a:pPr>
              <a:t>6/15/2026</a:t>
            </a:fld>
            <a:endParaRPr lang="en-US" altLang="vi-VN"/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id="{4FE2D367-4D70-32D3-B4B4-AC3C4F644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2A9847-E1FD-4536-A331-88EE51E64F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3421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>
            <a:extLst>
              <a:ext uri="{FF2B5EF4-FFF2-40B4-BE49-F238E27FC236}">
                <a16:creationId xmlns:a16="http://schemas.microsoft.com/office/drawing/2014/main" id="{27EA4F7B-CD6D-E2CB-A8A3-612BCD39F6B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vi-VN" altLang="vi-VN"/>
          </a:p>
        </p:txBody>
      </p:sp>
      <p:sp>
        <p:nvSpPr>
          <p:cNvPr id="3" name="Holder 5">
            <a:extLst>
              <a:ext uri="{FF2B5EF4-FFF2-40B4-BE49-F238E27FC236}">
                <a16:creationId xmlns:a16="http://schemas.microsoft.com/office/drawing/2014/main" id="{FF540EEB-6D51-F7CF-6EED-42BDE25E418D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FF52FE-8245-42DB-AE93-2A559BB37A95}" type="datetimeFigureOut">
              <a:rPr lang="en-US" altLang="vi-VN"/>
              <a:pPr>
                <a:defRPr/>
              </a:pPr>
              <a:t>6/15/2026</a:t>
            </a:fld>
            <a:endParaRPr lang="en-US" altLang="vi-VN"/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B3E42292-F43E-6940-3F02-DE3D79B9F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D0F0234-0EED-4B15-A947-2A44D47180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18424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bg object 16">
            <a:extLst>
              <a:ext uri="{FF2B5EF4-FFF2-40B4-BE49-F238E27FC236}">
                <a16:creationId xmlns:a16="http://schemas.microsoft.com/office/drawing/2014/main" id="{FEE29E96-A779-0886-B6F0-9409F871C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Holder 2">
            <a:extLst>
              <a:ext uri="{FF2B5EF4-FFF2-40B4-BE49-F238E27FC236}">
                <a16:creationId xmlns:a16="http://schemas.microsoft.com/office/drawing/2014/main" id="{8D6AB472-C51E-9763-6236-7C35616501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46175" y="871538"/>
            <a:ext cx="15995650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vi-VN" altLang="vi-VN"/>
          </a:p>
        </p:txBody>
      </p:sp>
      <p:sp>
        <p:nvSpPr>
          <p:cNvPr id="1028" name="Holder 3">
            <a:extLst>
              <a:ext uri="{FF2B5EF4-FFF2-40B4-BE49-F238E27FC236}">
                <a16:creationId xmlns:a16="http://schemas.microsoft.com/office/drawing/2014/main" id="{BB159E60-9EEB-D957-CBFC-E122ADFAF4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05900" y="2760663"/>
            <a:ext cx="84502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vi-VN" altLang="vi-VN"/>
          </a:p>
        </p:txBody>
      </p:sp>
      <p:sp>
        <p:nvSpPr>
          <p:cNvPr id="1029" name="Holder 4">
            <a:extLst>
              <a:ext uri="{FF2B5EF4-FFF2-40B4-BE49-F238E27FC236}">
                <a16:creationId xmlns:a16="http://schemas.microsoft.com/office/drawing/2014/main" id="{1CF9E429-52BF-9F8F-1820-C39E1F288A71}"/>
              </a:ext>
            </a:extLst>
          </p:cNvPr>
          <p:cNvSpPr>
            <a:spLocks noGrp="1" noChangeArrowheads="1"/>
          </p:cNvSpPr>
          <p:nvPr>
            <p:ph type="ftr" sz="quarter" idx="5"/>
          </p:nvPr>
        </p:nvSpPr>
        <p:spPr bwMode="auto">
          <a:xfrm>
            <a:off x="6218238" y="9566275"/>
            <a:ext cx="5851525" cy="2762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1" hangingPunct="1">
              <a:defRPr>
                <a:solidFill>
                  <a:srgbClr val="898989"/>
                </a:solidFill>
                <a:latin typeface="Abadi" panose="020F0502020204030204" pitchFamily="34" charset="0"/>
              </a:defRPr>
            </a:lvl1pPr>
          </a:lstStyle>
          <a:p>
            <a:pPr>
              <a:defRPr/>
            </a:pPr>
            <a:endParaRPr lang="vi-VN" altLang="vi-VN"/>
          </a:p>
        </p:txBody>
      </p:sp>
      <p:sp>
        <p:nvSpPr>
          <p:cNvPr id="1030" name="Holder 5">
            <a:extLst>
              <a:ext uri="{FF2B5EF4-FFF2-40B4-BE49-F238E27FC236}">
                <a16:creationId xmlns:a16="http://schemas.microsoft.com/office/drawing/2014/main" id="{B3C7BA13-E7BE-CB77-3B0C-393C2F230000}"/>
              </a:ext>
            </a:extLst>
          </p:cNvPr>
          <p:cNvSpPr>
            <a:spLocks noGrp="1" noChangeArrowheads="1"/>
          </p:cNvSpPr>
          <p:nvPr>
            <p:ph type="dt" sz="half" idx="6"/>
          </p:nvPr>
        </p:nvSpPr>
        <p:spPr bwMode="auto">
          <a:xfrm>
            <a:off x="914400" y="9566275"/>
            <a:ext cx="4206875" cy="2762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1" hangingPunct="1">
              <a:defRPr smtClean="0">
                <a:solidFill>
                  <a:srgbClr val="898989"/>
                </a:solidFill>
                <a:latin typeface="Abadi" panose="020F0502020204030204" pitchFamily="34" charset="0"/>
              </a:defRPr>
            </a:lvl1pPr>
          </a:lstStyle>
          <a:p>
            <a:pPr>
              <a:defRPr/>
            </a:pPr>
            <a:fld id="{83419310-44D0-4731-AED4-DDD7919A01F5}" type="datetimeFigureOut">
              <a:rPr lang="en-US" altLang="vi-VN"/>
              <a:pPr>
                <a:defRPr/>
              </a:pPr>
              <a:t>6/15/2026</a:t>
            </a:fld>
            <a:endParaRPr lang="en-US" altLang="vi-VN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8EA5E189-9077-2ED1-C5D9-85B5CC01C9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7083088" y="9571038"/>
            <a:ext cx="342900" cy="26987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8100" eaLnBrk="1" hangingPunct="1">
              <a:lnSpc>
                <a:spcPts val="2088"/>
              </a:lnSpc>
              <a:defRPr smtClean="0">
                <a:solidFill>
                  <a:srgbClr val="888888"/>
                </a:solidFill>
                <a:latin typeface="Abadi" panose="020F0502020204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E1515F2-5AB6-432B-BE37-DA3012BCF6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Abadi" panose="020F0502020204030204" pitchFamily="34" charset="0"/>
          <a:ea typeface="+mn-ea"/>
          <a:cs typeface="+mn-cs"/>
        </a:defRPr>
      </a:lvl1pPr>
      <a:lvl2pPr marL="4572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hape 0">
            <a:extLst>
              <a:ext uri="{FF2B5EF4-FFF2-40B4-BE49-F238E27FC236}">
                <a16:creationId xmlns:a16="http://schemas.microsoft.com/office/drawing/2014/main" id="{50B97350-3342-327D-2267-4FF513FED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71500"/>
            <a:ext cx="6858000" cy="90678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8195" name="Text 1">
            <a:extLst>
              <a:ext uri="{FF2B5EF4-FFF2-40B4-BE49-F238E27FC236}">
                <a16:creationId xmlns:a16="http://schemas.microsoft.com/office/drawing/2014/main" id="{0D0703C8-76B8-F6E6-306A-4C0F8503F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731838"/>
            <a:ext cx="585152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olidFill>
                  <a:srgbClr val="FFFFFF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AN PHƯỚC GROUP</a:t>
            </a:r>
            <a:endParaRPr lang="en-US" altLang="en-US" sz="1400">
              <a:latin typeface="Abadi" panose="020B0604020104020204" pitchFamily="34" charset="0"/>
            </a:endParaRPr>
          </a:p>
        </p:txBody>
      </p:sp>
      <p:sp>
        <p:nvSpPr>
          <p:cNvPr id="8196" name="Shape 2">
            <a:extLst>
              <a:ext uri="{FF2B5EF4-FFF2-40B4-BE49-F238E27FC236}">
                <a16:creationId xmlns:a16="http://schemas.microsoft.com/office/drawing/2014/main" id="{0E64D777-2B00-7C04-FE7E-2942F28F3E8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275" y="1828800"/>
            <a:ext cx="5851525" cy="0"/>
          </a:xfrm>
          <a:prstGeom prst="line">
            <a:avLst/>
          </a:prstGeom>
          <a:noFill/>
          <a:ln w="12700">
            <a:solidFill>
              <a:srgbClr val="FF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Text 3">
            <a:extLst>
              <a:ext uri="{FF2B5EF4-FFF2-40B4-BE49-F238E27FC236}">
                <a16:creationId xmlns:a16="http://schemas.microsoft.com/office/drawing/2014/main" id="{12B4FD26-4740-2C88-9DE0-2A2537972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2193925"/>
            <a:ext cx="5851525" cy="256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4000" b="1">
                <a:solidFill>
                  <a:srgbClr val="FFFFFF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BÁO CÁO KIỂM TRA</a:t>
            </a:r>
            <a:endParaRPr lang="en-US" altLang="en-US" sz="2000">
              <a:latin typeface="Abadi" panose="020B0604020104020204" pitchFamily="34" charset="0"/>
            </a:endParaRPr>
          </a:p>
          <a:p>
            <a:r>
              <a:rPr lang="en-US" altLang="en-US" sz="4000" b="1">
                <a:solidFill>
                  <a:srgbClr val="FFFFFF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CỬA HÀNG</a:t>
            </a:r>
            <a:endParaRPr lang="en-US" altLang="en-US" sz="2000">
              <a:latin typeface="Abadi" panose="020B0604020104020204" pitchFamily="34" charset="0"/>
            </a:endParaRPr>
          </a:p>
        </p:txBody>
      </p:sp>
      <p:sp>
        <p:nvSpPr>
          <p:cNvPr id="8198" name="Text 4">
            <a:extLst>
              <a:ext uri="{FF2B5EF4-FFF2-40B4-BE49-F238E27FC236}">
                <a16:creationId xmlns:a16="http://schemas.microsoft.com/office/drawing/2014/main" id="{71FBF86D-9A1A-B92E-9765-9BDECDA56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5303838"/>
            <a:ext cx="2743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200" b="1">
                <a:solidFill>
                  <a:srgbClr val="FFCCCC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Cửa hàng: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8199" name="TXT_STORE_NAME">
            <a:extLst>
              <a:ext uri="{FF2B5EF4-FFF2-40B4-BE49-F238E27FC236}">
                <a16:creationId xmlns:a16="http://schemas.microsoft.com/office/drawing/2014/main" id="{560DB2D4-4C87-6363-FE80-2B5C395AD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2963" y="5303838"/>
            <a:ext cx="32924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200" i="1">
                <a:solidFill>
                  <a:srgbClr val="FFFFFF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[Tên cửa hàng]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8200" name="Text 6">
            <a:extLst>
              <a:ext uri="{FF2B5EF4-FFF2-40B4-BE49-F238E27FC236}">
                <a16:creationId xmlns:a16="http://schemas.microsoft.com/office/drawing/2014/main" id="{62CD5900-4AA6-994B-BF73-A60F2230E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6254750"/>
            <a:ext cx="2743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200" b="1">
                <a:solidFill>
                  <a:srgbClr val="FFCCCC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Ngày kiểm tra: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8201" name="TXT_REPORT_DATE">
            <a:extLst>
              <a:ext uri="{FF2B5EF4-FFF2-40B4-BE49-F238E27FC236}">
                <a16:creationId xmlns:a16="http://schemas.microsoft.com/office/drawing/2014/main" id="{0E611CC5-B0FD-932D-A107-AB97A0832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2963" y="6254750"/>
            <a:ext cx="32924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200" i="1">
                <a:solidFill>
                  <a:srgbClr val="FFFFFF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[DD/MM/YYYY]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8202" name="Text 8">
            <a:extLst>
              <a:ext uri="{FF2B5EF4-FFF2-40B4-BE49-F238E27FC236}">
                <a16:creationId xmlns:a16="http://schemas.microsoft.com/office/drawing/2014/main" id="{275D4F5B-778B-C2D3-657E-9C4D26785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7205663"/>
            <a:ext cx="2743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200" b="1">
                <a:solidFill>
                  <a:srgbClr val="FFCCCC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QLKD: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8203" name="TXT_ASM_NAME">
            <a:extLst>
              <a:ext uri="{FF2B5EF4-FFF2-40B4-BE49-F238E27FC236}">
                <a16:creationId xmlns:a16="http://schemas.microsoft.com/office/drawing/2014/main" id="{A5C69694-E3D5-8378-1353-043983204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2963" y="7205663"/>
            <a:ext cx="32924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200" i="1">
                <a:solidFill>
                  <a:srgbClr val="FFFFFF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[Họ tên QLKD]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8204" name="Text 10">
            <a:extLst>
              <a:ext uri="{FF2B5EF4-FFF2-40B4-BE49-F238E27FC236}">
                <a16:creationId xmlns:a16="http://schemas.microsoft.com/office/drawing/2014/main" id="{38C091FC-CE60-2DD4-C2CB-DA4CCDF3B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8156575"/>
            <a:ext cx="2743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200" b="1">
                <a:solidFill>
                  <a:srgbClr val="FFCCCC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CHT: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8205" name="TXT_CHT_NAME">
            <a:extLst>
              <a:ext uri="{FF2B5EF4-FFF2-40B4-BE49-F238E27FC236}">
                <a16:creationId xmlns:a16="http://schemas.microsoft.com/office/drawing/2014/main" id="{B972CE31-CB68-49F2-04C4-8B9040611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2963" y="8156575"/>
            <a:ext cx="329247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200" i="1">
                <a:solidFill>
                  <a:srgbClr val="FFFFFF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[Họ tên CHT]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8206" name="Text 13">
            <a:extLst>
              <a:ext uri="{FF2B5EF4-FFF2-40B4-BE49-F238E27FC236}">
                <a16:creationId xmlns:a16="http://schemas.microsoft.com/office/drawing/2014/main" id="{834DAF8A-FE23-D25A-2708-AC0B19BBF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1257300"/>
            <a:ext cx="100584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7600" b="1">
                <a:solidFill>
                  <a:srgbClr val="EE000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BÁO CÁO KIỂM TRA
CỬA HÀNG</a:t>
            </a:r>
            <a:endParaRPr lang="en-US" altLang="en-US" sz="3800">
              <a:solidFill>
                <a:srgbClr val="EE0000"/>
              </a:solidFill>
              <a:latin typeface="Abadi" panose="020B0604020104020204" pitchFamily="34" charset="0"/>
            </a:endParaRPr>
          </a:p>
        </p:txBody>
      </p:sp>
      <p:sp>
        <p:nvSpPr>
          <p:cNvPr id="8207" name="Shape 14">
            <a:extLst>
              <a:ext uri="{FF2B5EF4-FFF2-40B4-BE49-F238E27FC236}">
                <a16:creationId xmlns:a16="http://schemas.microsoft.com/office/drawing/2014/main" id="{2643C41D-0A6B-7DEA-3CC7-6A4057EC7DB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0325" y="3924300"/>
            <a:ext cx="10058400" cy="0"/>
          </a:xfrm>
          <a:prstGeom prst="line">
            <a:avLst/>
          </a:prstGeom>
          <a:noFill/>
          <a:ln w="19050">
            <a:solidFill>
              <a:srgbClr val="FF99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208" name="Text 15">
            <a:extLst>
              <a:ext uri="{FF2B5EF4-FFF2-40B4-BE49-F238E27FC236}">
                <a16:creationId xmlns:a16="http://schemas.microsoft.com/office/drawing/2014/main" id="{8AAD777C-1D44-F0ED-8FDB-50AEE46E9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4076700"/>
            <a:ext cx="100584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600" i="1">
                <a:solidFill>
                  <a:srgbClr val="EE000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Dành cho QLKD – Báo cáo chi tiết hiện trạng cửa hàng</a:t>
            </a:r>
            <a:endParaRPr lang="en-US" altLang="en-US" sz="1300">
              <a:solidFill>
                <a:srgbClr val="EE0000"/>
              </a:solidFill>
              <a:latin typeface="Abadi" panose="020B0604020104020204" pitchFamily="34" charset="0"/>
            </a:endParaRPr>
          </a:p>
          <a:p>
            <a:r>
              <a:rPr lang="en-US" altLang="en-US" sz="2600" i="1">
                <a:solidFill>
                  <a:srgbClr val="EE000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bao gồm trưng bày, hàng hóa, nhân sự, CSVC và doanh thu.</a:t>
            </a:r>
            <a:endParaRPr lang="en-US" altLang="en-US" sz="1300">
              <a:solidFill>
                <a:srgbClr val="EE0000"/>
              </a:solidFill>
              <a:latin typeface="Abadi" panose="020B0604020104020204" pitchFamily="34" charset="0"/>
            </a:endParaRPr>
          </a:p>
        </p:txBody>
      </p:sp>
      <p:sp>
        <p:nvSpPr>
          <p:cNvPr id="8209" name="Text 16">
            <a:extLst>
              <a:ext uri="{FF2B5EF4-FFF2-40B4-BE49-F238E27FC236}">
                <a16:creationId xmlns:a16="http://schemas.microsoft.com/office/drawing/2014/main" id="{021ABACD-8C4E-8788-A54A-CD8946E6B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5640388"/>
            <a:ext cx="100584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lang="en-US" altLang="en-US" i="1" u="sng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Phần 1: Thông tin chung</a:t>
            </a:r>
            <a:endParaRPr lang="en-US" altLang="en-US" sz="900" i="1" u="sng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sp>
        <p:nvSpPr>
          <p:cNvPr id="8210" name="Text 17">
            <a:extLst>
              <a:ext uri="{FF2B5EF4-FFF2-40B4-BE49-F238E27FC236}">
                <a16:creationId xmlns:a16="http://schemas.microsoft.com/office/drawing/2014/main" id="{4F21968B-1732-E4C8-93BE-AD4B5478F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6211888"/>
            <a:ext cx="10058400" cy="30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lang="vi-VN" altLang="en-US" i="1" u="sng">
                <a:solidFill>
                  <a:srgbClr val="0070C0"/>
                </a:solidFill>
                <a:cs typeface="Arial" panose="020B0604020202020204" pitchFamily="34" charset="0"/>
              </a:rPr>
              <a:t>Phần 2: Hàng hóa &amp; Trưng bày</a:t>
            </a:r>
            <a:endParaRPr lang="en-US" altLang="en-US" sz="900" i="1" u="sng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sp>
        <p:nvSpPr>
          <p:cNvPr id="8211" name="Text 18">
            <a:extLst>
              <a:ext uri="{FF2B5EF4-FFF2-40B4-BE49-F238E27FC236}">
                <a16:creationId xmlns:a16="http://schemas.microsoft.com/office/drawing/2014/main" id="{64E8A692-159D-BFEE-5F9C-875C80065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6783388"/>
            <a:ext cx="100584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lang="en-US" altLang="en-US" i="1" u="sng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Phần 3: Doanh thu &amp; Tồn kho cửa hàng</a:t>
            </a:r>
            <a:endParaRPr lang="en-US" altLang="en-US" sz="900" i="1" u="sng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sp>
        <p:nvSpPr>
          <p:cNvPr id="8212" name="Text 19">
            <a:extLst>
              <a:ext uri="{FF2B5EF4-FFF2-40B4-BE49-F238E27FC236}">
                <a16:creationId xmlns:a16="http://schemas.microsoft.com/office/drawing/2014/main" id="{4815A071-D5A9-2DC1-AF17-4DBF6124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325" y="7354888"/>
            <a:ext cx="1005840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lang="en-US" altLang="en-US" i="1" u="sng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Phần 4: Vận hành &amp; Đề xuất khắc phục</a:t>
            </a:r>
            <a:endParaRPr lang="en-US" altLang="en-US" sz="900" i="1" u="sng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sp>
        <p:nvSpPr>
          <p:cNvPr id="8213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STORE_COVER</a:t>
            </a:r>
          </a:p>
        </p:txBody>
      </p:sp>
      <p:sp>
        <p:nvSpPr>
          <p:cNvPr id="8214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>
            <a:extLst>
              <a:ext uri="{FF2B5EF4-FFF2-40B4-BE49-F238E27FC236}">
                <a16:creationId xmlns:a16="http://schemas.microsoft.com/office/drawing/2014/main" id="{3F19BFF9-394D-39B3-65D1-8DB769E17BED}"/>
              </a:ext>
            </a:extLst>
          </p:cNvPr>
          <p:cNvSpPr/>
          <p:nvPr/>
        </p:nvSpPr>
        <p:spPr>
          <a:xfrm>
            <a:off x="762000" y="1778000"/>
            <a:ext cx="7847013" cy="6992938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F0502020204030204" pitchFamily="34" charset="0"/>
            </a:endParaRPr>
          </a:p>
        </p:txBody>
      </p:sp>
      <p:sp>
        <p:nvSpPr>
          <p:cNvPr id="9219" name="Shape 6">
            <a:extLst>
              <a:ext uri="{FF2B5EF4-FFF2-40B4-BE49-F238E27FC236}">
                <a16:creationId xmlns:a16="http://schemas.microsoft.com/office/drawing/2014/main" id="{A1689C06-9B2D-5EE5-C19E-9D1F5CE98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78000"/>
            <a:ext cx="7847013" cy="573088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9220" name="Text 7">
            <a:extLst>
              <a:ext uri="{FF2B5EF4-FFF2-40B4-BE49-F238E27FC236}">
                <a16:creationId xmlns:a16="http://schemas.microsoft.com/office/drawing/2014/main" id="{6ADACB33-AB66-FF70-1AB2-DA35C4720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1778000"/>
            <a:ext cx="7578725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300" b="1">
                <a:solidFill>
                  <a:srgbClr val="CC1A1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THÔNG TIN KIỂM TRA</a:t>
            </a:r>
            <a:endParaRPr lang="en-US" altLang="en-US" sz="1200">
              <a:latin typeface="Abadi" panose="020B0604020104020204" pitchFamily="34" charset="0"/>
            </a:endParaRPr>
          </a:p>
        </p:txBody>
      </p:sp>
      <p:sp>
        <p:nvSpPr>
          <p:cNvPr id="9221" name="Text 8">
            <a:extLst>
              <a:ext uri="{FF2B5EF4-FFF2-40B4-BE49-F238E27FC236}">
                <a16:creationId xmlns:a16="http://schemas.microsoft.com/office/drawing/2014/main" id="{7BF22144-ECB0-79DF-731A-166E36646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2495550"/>
            <a:ext cx="3922712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Tên cửa hàng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9222" name="Shape 9">
            <a:extLst>
              <a:ext uri="{FF2B5EF4-FFF2-40B4-BE49-F238E27FC236}">
                <a16:creationId xmlns:a16="http://schemas.microsoft.com/office/drawing/2014/main" id="{7DB6CF45-335C-1B67-9C3B-81B3DBE01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0800" y="2530475"/>
            <a:ext cx="3121025" cy="50323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9223" name="TXT_STORE_NAME">
            <a:extLst>
              <a:ext uri="{FF2B5EF4-FFF2-40B4-BE49-F238E27FC236}">
                <a16:creationId xmlns:a16="http://schemas.microsoft.com/office/drawing/2014/main" id="{E4C5E2B5-9527-B085-4563-BA17C2528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1288" y="2530475"/>
            <a:ext cx="2941637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[Nhập tên CH]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9224" name="Text 11">
            <a:extLst>
              <a:ext uri="{FF2B5EF4-FFF2-40B4-BE49-F238E27FC236}">
                <a16:creationId xmlns:a16="http://schemas.microsoft.com/office/drawing/2014/main" id="{95BFE811-BD34-9F2A-30F2-3732DA30F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3265488"/>
            <a:ext cx="3922712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Địa chỉ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9225" name="Shape 12">
            <a:extLst>
              <a:ext uri="{FF2B5EF4-FFF2-40B4-BE49-F238E27FC236}">
                <a16:creationId xmlns:a16="http://schemas.microsoft.com/office/drawing/2014/main" id="{504C770C-EAFA-F4C6-18B0-232B9A678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0800" y="3302000"/>
            <a:ext cx="3121025" cy="50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9226" name="TXT_STORE_ADDRESS">
            <a:extLst>
              <a:ext uri="{FF2B5EF4-FFF2-40B4-BE49-F238E27FC236}">
                <a16:creationId xmlns:a16="http://schemas.microsoft.com/office/drawing/2014/main" id="{4D94D9F2-92C6-4EC4-95D0-2B2AA15F9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1288" y="3302000"/>
            <a:ext cx="2941637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[Nhập địa chỉ]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9227" name="Text 14">
            <a:extLst>
              <a:ext uri="{FF2B5EF4-FFF2-40B4-BE49-F238E27FC236}">
                <a16:creationId xmlns:a16="http://schemas.microsoft.com/office/drawing/2014/main" id="{F65478B8-C0C0-EB86-FE8A-6D43C39E1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4037013"/>
            <a:ext cx="3922712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Ngày kiểm tra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9228" name="Shape 15">
            <a:extLst>
              <a:ext uri="{FF2B5EF4-FFF2-40B4-BE49-F238E27FC236}">
                <a16:creationId xmlns:a16="http://schemas.microsoft.com/office/drawing/2014/main" id="{9F516542-7029-FAC4-E402-BF46775EB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0800" y="4073525"/>
            <a:ext cx="3121025" cy="50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8" name="TXT_REPORT_DATE">
            <a:extLst>
              <a:ext uri="{FF2B5EF4-FFF2-40B4-BE49-F238E27FC236}">
                <a16:creationId xmlns:a16="http://schemas.microsoft.com/office/drawing/2014/main" id="{0D4CE87C-DD7D-CAF2-BF87-D2E79E70E53C}"/>
              </a:ext>
            </a:extLst>
          </p:cNvPr>
          <p:cNvSpPr/>
          <p:nvPr/>
        </p:nvSpPr>
        <p:spPr>
          <a:xfrm>
            <a:off x="5221288" y="4073525"/>
            <a:ext cx="2941637" cy="501650"/>
          </a:xfrm>
          <a:prstGeom prst="rect">
            <a:avLst/>
          </a:prstGeom>
          <a:noFill/>
          <a:ln/>
        </p:spPr>
        <p:txBody>
          <a:bodyPr lIns="25400" tIns="25400" rIns="25400" bIns="25400" anchor="ctr"/>
          <a:lstStyle/>
          <a:p>
            <a:pPr>
              <a:defRPr/>
            </a:pPr>
            <a:r>
              <a:rPr lang="en-US" sz="1950" i="1">
                <a:solidFill>
                  <a:srgbClr val="AAAAAA"/>
                </a:solidFill>
                <a:latin typeface="Abadi" panose="020F0502020204030204" pitchFamily="34" charset="0"/>
                <a:ea typeface="Arial" pitchFamily="34" charset="-122"/>
                <a:cs typeface="Arial" pitchFamily="34" charset="-120"/>
              </a:rPr>
              <a:t>[DD/MM/YYYY]</a:t>
            </a:r>
            <a:endParaRPr lang="en-US" sz="1000">
              <a:latin typeface="Abadi" panose="020F0502020204030204" pitchFamily="34" charset="0"/>
            </a:endParaRPr>
          </a:p>
        </p:txBody>
      </p:sp>
      <p:sp>
        <p:nvSpPr>
          <p:cNvPr id="9230" name="Text 17">
            <a:extLst>
              <a:ext uri="{FF2B5EF4-FFF2-40B4-BE49-F238E27FC236}">
                <a16:creationId xmlns:a16="http://schemas.microsoft.com/office/drawing/2014/main" id="{F316BC43-F809-338E-A20B-3F339C779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4808538"/>
            <a:ext cx="3922712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Thời gian bắt đầu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9231" name="Shape 18">
            <a:extLst>
              <a:ext uri="{FF2B5EF4-FFF2-40B4-BE49-F238E27FC236}">
                <a16:creationId xmlns:a16="http://schemas.microsoft.com/office/drawing/2014/main" id="{141C4246-2DC5-E553-DCC5-15ECEA88C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0800" y="4843463"/>
            <a:ext cx="3121025" cy="5032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21" name="TXT_TIME_START">
            <a:extLst>
              <a:ext uri="{FF2B5EF4-FFF2-40B4-BE49-F238E27FC236}">
                <a16:creationId xmlns:a16="http://schemas.microsoft.com/office/drawing/2014/main" id="{45F97411-EFD1-D5E8-B1AF-C3972DEF5EB9}"/>
              </a:ext>
            </a:extLst>
          </p:cNvPr>
          <p:cNvSpPr/>
          <p:nvPr/>
        </p:nvSpPr>
        <p:spPr>
          <a:xfrm>
            <a:off x="5221288" y="4843463"/>
            <a:ext cx="2941637" cy="503237"/>
          </a:xfrm>
          <a:prstGeom prst="rect">
            <a:avLst/>
          </a:prstGeom>
          <a:noFill/>
          <a:ln/>
        </p:spPr>
        <p:txBody>
          <a:bodyPr lIns="25400" tIns="25400" rIns="25400" bIns="25400" anchor="ctr"/>
          <a:lstStyle/>
          <a:p>
            <a:pPr>
              <a:defRPr/>
            </a:pPr>
            <a:r>
              <a:rPr lang="en-US" sz="1950" i="1">
                <a:solidFill>
                  <a:srgbClr val="AAAAAA"/>
                </a:solidFill>
                <a:latin typeface="Abadi" panose="020F0502020204030204" pitchFamily="34" charset="0"/>
                <a:ea typeface="Arial" pitchFamily="34" charset="-122"/>
                <a:cs typeface="Arial" pitchFamily="34" charset="-120"/>
              </a:rPr>
              <a:t>[HH:MM]</a:t>
            </a:r>
            <a:endParaRPr lang="en-US" sz="1000">
              <a:latin typeface="Abadi" panose="020F0502020204030204" pitchFamily="34" charset="0"/>
            </a:endParaRPr>
          </a:p>
        </p:txBody>
      </p:sp>
      <p:sp>
        <p:nvSpPr>
          <p:cNvPr id="9233" name="Text 20">
            <a:extLst>
              <a:ext uri="{FF2B5EF4-FFF2-40B4-BE49-F238E27FC236}">
                <a16:creationId xmlns:a16="http://schemas.microsoft.com/office/drawing/2014/main" id="{B15F54B5-5899-F5B7-3740-36FA414D7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5578475"/>
            <a:ext cx="3922712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Thời gian kết thúc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9234" name="Shape 21">
            <a:extLst>
              <a:ext uri="{FF2B5EF4-FFF2-40B4-BE49-F238E27FC236}">
                <a16:creationId xmlns:a16="http://schemas.microsoft.com/office/drawing/2014/main" id="{504EC974-5C84-B4C1-D989-1FDE997D3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0800" y="5614988"/>
            <a:ext cx="3121025" cy="50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24" name="TXT_TIME_END">
            <a:extLst>
              <a:ext uri="{FF2B5EF4-FFF2-40B4-BE49-F238E27FC236}">
                <a16:creationId xmlns:a16="http://schemas.microsoft.com/office/drawing/2014/main" id="{2E57D37D-E339-616C-791F-86D599BA42FF}"/>
              </a:ext>
            </a:extLst>
          </p:cNvPr>
          <p:cNvSpPr/>
          <p:nvPr/>
        </p:nvSpPr>
        <p:spPr>
          <a:xfrm>
            <a:off x="5221288" y="5614988"/>
            <a:ext cx="2941637" cy="501650"/>
          </a:xfrm>
          <a:prstGeom prst="rect">
            <a:avLst/>
          </a:prstGeom>
          <a:noFill/>
          <a:ln/>
        </p:spPr>
        <p:txBody>
          <a:bodyPr lIns="25400" tIns="25400" rIns="25400" bIns="25400" anchor="ctr"/>
          <a:lstStyle/>
          <a:p>
            <a:pPr>
              <a:defRPr/>
            </a:pPr>
            <a:r>
              <a:rPr lang="en-US" sz="1950" i="1">
                <a:solidFill>
                  <a:srgbClr val="AAAAAA"/>
                </a:solidFill>
                <a:latin typeface="Abadi" panose="020F0502020204030204" pitchFamily="34" charset="0"/>
                <a:ea typeface="Arial" pitchFamily="34" charset="-122"/>
                <a:cs typeface="Arial" pitchFamily="34" charset="-120"/>
              </a:rPr>
              <a:t>[HH:MM]</a:t>
            </a:r>
            <a:endParaRPr lang="en-US" sz="1000">
              <a:latin typeface="Abadi" panose="020F0502020204030204" pitchFamily="34" charset="0"/>
            </a:endParaRPr>
          </a:p>
        </p:txBody>
      </p:sp>
      <p:sp>
        <p:nvSpPr>
          <p:cNvPr id="9236" name="Text 23">
            <a:extLst>
              <a:ext uri="{FF2B5EF4-FFF2-40B4-BE49-F238E27FC236}">
                <a16:creationId xmlns:a16="http://schemas.microsoft.com/office/drawing/2014/main" id="{76DCB500-C307-2241-019A-CA3D64AEB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6350000"/>
            <a:ext cx="3922712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QLKD phụ trách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9237" name="Shape 24">
            <a:extLst>
              <a:ext uri="{FF2B5EF4-FFF2-40B4-BE49-F238E27FC236}">
                <a16:creationId xmlns:a16="http://schemas.microsoft.com/office/drawing/2014/main" id="{ACD11AFA-738E-EA5E-3752-06EA2398A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0800" y="6386513"/>
            <a:ext cx="3121025" cy="50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9238" name="TXT_ASM_NAME">
            <a:extLst>
              <a:ext uri="{FF2B5EF4-FFF2-40B4-BE49-F238E27FC236}">
                <a16:creationId xmlns:a16="http://schemas.microsoft.com/office/drawing/2014/main" id="{705C4DBC-5679-7ED9-AAA3-338DB93DA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1288" y="6386513"/>
            <a:ext cx="2941637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[Họ tên]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7D037BC-E928-F33B-947F-FFF39A0922AA}"/>
              </a:ext>
            </a:extLst>
          </p:cNvPr>
          <p:cNvSpPr/>
          <p:nvPr/>
        </p:nvSpPr>
        <p:spPr>
          <a:xfrm>
            <a:off x="1030288" y="7121525"/>
            <a:ext cx="3922712" cy="57308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2145" b="1">
                <a:solidFill>
                  <a:srgbClr val="1E293B"/>
                </a:solidFill>
                <a:latin typeface="Abadi" panose="020F0502020204030204" pitchFamily="34" charset="0"/>
                <a:ea typeface="Arial" pitchFamily="34" charset="-122"/>
                <a:cs typeface="Arial" pitchFamily="34" charset="-120"/>
              </a:rPr>
              <a:t>CHT</a:t>
            </a:r>
            <a:endParaRPr lang="en-US" sz="1100">
              <a:latin typeface="Abadi" panose="020F0502020204030204" pitchFamily="34" charset="0"/>
            </a:endParaRPr>
          </a:p>
        </p:txBody>
      </p:sp>
      <p:sp>
        <p:nvSpPr>
          <p:cNvPr id="9240" name="Shape 27">
            <a:extLst>
              <a:ext uri="{FF2B5EF4-FFF2-40B4-BE49-F238E27FC236}">
                <a16:creationId xmlns:a16="http://schemas.microsoft.com/office/drawing/2014/main" id="{4944A43B-7E6E-84DE-DE94-566434DDD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0800" y="7156450"/>
            <a:ext cx="3121025" cy="50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9241" name="TXT_CHT_NAME">
            <a:extLst>
              <a:ext uri="{FF2B5EF4-FFF2-40B4-BE49-F238E27FC236}">
                <a16:creationId xmlns:a16="http://schemas.microsoft.com/office/drawing/2014/main" id="{18264EF9-A30E-EADF-82C6-7CCEED9D1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1288" y="7156450"/>
            <a:ext cx="2941637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[Họ tên]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160F093-9F32-30D3-5230-DFEB96DA6A70}"/>
              </a:ext>
            </a:extLst>
          </p:cNvPr>
          <p:cNvSpPr/>
          <p:nvPr/>
        </p:nvSpPr>
        <p:spPr>
          <a:xfrm>
            <a:off x="1030288" y="7891463"/>
            <a:ext cx="3922712" cy="574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2145" b="1">
                <a:solidFill>
                  <a:srgbClr val="1E293B"/>
                </a:solidFill>
                <a:latin typeface="Abadi" panose="020F0502020204030204" pitchFamily="34" charset="0"/>
                <a:ea typeface="Arial" pitchFamily="34" charset="-122"/>
                <a:cs typeface="Arial" pitchFamily="34" charset="-120"/>
              </a:rPr>
              <a:t>CHP</a:t>
            </a:r>
            <a:endParaRPr lang="en-US" sz="1100">
              <a:latin typeface="Abadi" panose="020F0502020204030204" pitchFamily="34" charset="0"/>
            </a:endParaRPr>
          </a:p>
        </p:txBody>
      </p:sp>
      <p:sp>
        <p:nvSpPr>
          <p:cNvPr id="9243" name="Shape 30">
            <a:extLst>
              <a:ext uri="{FF2B5EF4-FFF2-40B4-BE49-F238E27FC236}">
                <a16:creationId xmlns:a16="http://schemas.microsoft.com/office/drawing/2014/main" id="{96E99DBC-1408-2CA4-2E8F-E92AE769B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0800" y="7927975"/>
            <a:ext cx="3121025" cy="50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9244" name="TXT_CHP_NAME">
            <a:extLst>
              <a:ext uri="{FF2B5EF4-FFF2-40B4-BE49-F238E27FC236}">
                <a16:creationId xmlns:a16="http://schemas.microsoft.com/office/drawing/2014/main" id="{BFA24A00-5287-B8A3-A3CE-989A38EEA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1288" y="7927975"/>
            <a:ext cx="2941637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[Họ tên]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E0CD857-AB64-D119-8EBF-D9C4C294B316}"/>
              </a:ext>
            </a:extLst>
          </p:cNvPr>
          <p:cNvSpPr/>
          <p:nvPr/>
        </p:nvSpPr>
        <p:spPr>
          <a:xfrm>
            <a:off x="8966200" y="1778000"/>
            <a:ext cx="8559800" cy="6992938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F0502020204030204" pitchFamily="34" charset="0"/>
            </a:endParaRPr>
          </a:p>
        </p:txBody>
      </p:sp>
      <p:sp>
        <p:nvSpPr>
          <p:cNvPr id="9246" name="Shape 33">
            <a:extLst>
              <a:ext uri="{FF2B5EF4-FFF2-40B4-BE49-F238E27FC236}">
                <a16:creationId xmlns:a16="http://schemas.microsoft.com/office/drawing/2014/main" id="{48CCFA11-0FF8-533E-4948-0722B71F1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6200" y="1778000"/>
            <a:ext cx="8559800" cy="573088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9247" name="Text 34">
            <a:extLst>
              <a:ext uri="{FF2B5EF4-FFF2-40B4-BE49-F238E27FC236}">
                <a16:creationId xmlns:a16="http://schemas.microsoft.com/office/drawing/2014/main" id="{56EEC96F-95D6-D91C-FA75-79324662F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0513" y="1778000"/>
            <a:ext cx="82931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300" b="1">
                <a:solidFill>
                  <a:srgbClr val="CC1A1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THÀNH PHẦN THAM GIA</a:t>
            </a:r>
            <a:endParaRPr lang="en-US" altLang="en-US" sz="1200">
              <a:latin typeface="Abadi" panose="020B0604020104020204" pitchFamily="34" charset="0"/>
            </a:endParaRPr>
          </a:p>
        </p:txBody>
      </p:sp>
      <p:sp>
        <p:nvSpPr>
          <p:cNvPr id="9248" name="Text 35">
            <a:extLst>
              <a:ext uri="{FF2B5EF4-FFF2-40B4-BE49-F238E27FC236}">
                <a16:creationId xmlns:a16="http://schemas.microsoft.com/office/drawing/2014/main" id="{37DCBD03-0327-618A-9CFC-4F8AA85AA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2900" y="2584450"/>
            <a:ext cx="8026400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 i="1">
                <a:solidFill>
                  <a:srgbClr val="475569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Danh sách nhân viên có mặt tại thời điểm kiểm tra: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FBC92002-FD87-DDCE-0E44-BA6EEF551F40}"/>
              </a:ext>
            </a:extLst>
          </p:cNvPr>
          <p:cNvSpPr/>
          <p:nvPr/>
        </p:nvSpPr>
        <p:spPr>
          <a:xfrm>
            <a:off x="9232900" y="3302000"/>
            <a:ext cx="2319338" cy="57308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2145" b="1">
                <a:solidFill>
                  <a:srgbClr val="1E293B"/>
                </a:solidFill>
                <a:latin typeface="Abadi" panose="020F0502020204030204" pitchFamily="34" charset="0"/>
                <a:ea typeface="Arial" pitchFamily="34" charset="-122"/>
                <a:cs typeface="Arial" pitchFamily="34" charset="-120"/>
              </a:rPr>
              <a:t>NVBH 1:</a:t>
            </a:r>
            <a:endParaRPr lang="en-US" sz="1100">
              <a:latin typeface="Abadi" panose="020F0502020204030204" pitchFamily="34" charset="0"/>
            </a:endParaRPr>
          </a:p>
        </p:txBody>
      </p:sp>
      <p:sp>
        <p:nvSpPr>
          <p:cNvPr id="9250" name="TXT_NV_1">
            <a:extLst>
              <a:ext uri="{FF2B5EF4-FFF2-40B4-BE49-F238E27FC236}">
                <a16:creationId xmlns:a16="http://schemas.microsoft.com/office/drawing/2014/main" id="{B2BE625B-279A-3C33-8A87-767AA21A7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1138" y="3338513"/>
            <a:ext cx="5529262" cy="50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103E14C3-1198-0F2F-049F-D1D171ACD5CD}"/>
              </a:ext>
            </a:extLst>
          </p:cNvPr>
          <p:cNvSpPr/>
          <p:nvPr/>
        </p:nvSpPr>
        <p:spPr>
          <a:xfrm>
            <a:off x="9232900" y="4054475"/>
            <a:ext cx="2319338" cy="574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2145" b="1">
                <a:solidFill>
                  <a:srgbClr val="1E293B"/>
                </a:solidFill>
                <a:latin typeface="Abadi" panose="020F0502020204030204" pitchFamily="34" charset="0"/>
                <a:ea typeface="Arial" pitchFamily="34" charset="-122"/>
                <a:cs typeface="Arial" pitchFamily="34" charset="-120"/>
              </a:rPr>
              <a:t>NVBH 2:</a:t>
            </a:r>
            <a:endParaRPr lang="en-US" sz="1100">
              <a:latin typeface="Abadi" panose="020F0502020204030204" pitchFamily="34" charset="0"/>
            </a:endParaRPr>
          </a:p>
        </p:txBody>
      </p:sp>
      <p:sp>
        <p:nvSpPr>
          <p:cNvPr id="9252" name="TXT_NV_2">
            <a:extLst>
              <a:ext uri="{FF2B5EF4-FFF2-40B4-BE49-F238E27FC236}">
                <a16:creationId xmlns:a16="http://schemas.microsoft.com/office/drawing/2014/main" id="{6E0DFE98-A725-60EE-0E98-E2742C060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1138" y="4090988"/>
            <a:ext cx="5529262" cy="50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0EDE79E6-0A0B-43E4-DD85-948D0C8E3C74}"/>
              </a:ext>
            </a:extLst>
          </p:cNvPr>
          <p:cNvSpPr/>
          <p:nvPr/>
        </p:nvSpPr>
        <p:spPr>
          <a:xfrm>
            <a:off x="9232900" y="4808538"/>
            <a:ext cx="2319338" cy="57308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2145" b="1">
                <a:solidFill>
                  <a:srgbClr val="1E293B"/>
                </a:solidFill>
                <a:latin typeface="Abadi" panose="020F0502020204030204" pitchFamily="34" charset="0"/>
                <a:ea typeface="Arial" pitchFamily="34" charset="-122"/>
                <a:cs typeface="Arial" pitchFamily="34" charset="-120"/>
              </a:rPr>
              <a:t>NVBH 3:</a:t>
            </a:r>
            <a:endParaRPr lang="en-US" sz="1100">
              <a:latin typeface="Abadi" panose="020F0502020204030204" pitchFamily="34" charset="0"/>
            </a:endParaRPr>
          </a:p>
        </p:txBody>
      </p:sp>
      <p:sp>
        <p:nvSpPr>
          <p:cNvPr id="9254" name="TXT_NV_3">
            <a:extLst>
              <a:ext uri="{FF2B5EF4-FFF2-40B4-BE49-F238E27FC236}">
                <a16:creationId xmlns:a16="http://schemas.microsoft.com/office/drawing/2014/main" id="{7EAD942C-231F-5B9C-6446-3B9F992B3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1138" y="4843463"/>
            <a:ext cx="5529262" cy="5032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51DE81BA-15A3-07E7-B781-596DE6BC217B}"/>
              </a:ext>
            </a:extLst>
          </p:cNvPr>
          <p:cNvSpPr/>
          <p:nvPr/>
        </p:nvSpPr>
        <p:spPr>
          <a:xfrm>
            <a:off x="9232900" y="5561013"/>
            <a:ext cx="2319338" cy="57308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2145" b="1">
                <a:solidFill>
                  <a:srgbClr val="1E293B"/>
                </a:solidFill>
                <a:latin typeface="Abadi" panose="020F0502020204030204" pitchFamily="34" charset="0"/>
                <a:ea typeface="Arial" pitchFamily="34" charset="-122"/>
                <a:cs typeface="Arial" pitchFamily="34" charset="-120"/>
              </a:rPr>
              <a:t>NVBH 4:</a:t>
            </a:r>
            <a:endParaRPr lang="en-US" sz="1100">
              <a:latin typeface="Abadi" panose="020F0502020204030204" pitchFamily="34" charset="0"/>
            </a:endParaRPr>
          </a:p>
        </p:txBody>
      </p:sp>
      <p:sp>
        <p:nvSpPr>
          <p:cNvPr id="9256" name="TXT_NV_4">
            <a:extLst>
              <a:ext uri="{FF2B5EF4-FFF2-40B4-BE49-F238E27FC236}">
                <a16:creationId xmlns:a16="http://schemas.microsoft.com/office/drawing/2014/main" id="{C0375CCE-937B-A39E-78C1-3DD3D9D19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1138" y="5597525"/>
            <a:ext cx="5529262" cy="50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2C313026-50C1-8D35-4E6C-1256B23653A7}"/>
              </a:ext>
            </a:extLst>
          </p:cNvPr>
          <p:cNvSpPr/>
          <p:nvPr/>
        </p:nvSpPr>
        <p:spPr>
          <a:xfrm>
            <a:off x="9232900" y="6313488"/>
            <a:ext cx="2319338" cy="574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2145" b="1">
                <a:solidFill>
                  <a:srgbClr val="1E293B"/>
                </a:solidFill>
                <a:latin typeface="Abadi" panose="020F0502020204030204" pitchFamily="34" charset="0"/>
                <a:ea typeface="Arial" pitchFamily="34" charset="-122"/>
                <a:cs typeface="Arial" pitchFamily="34" charset="-120"/>
              </a:rPr>
              <a:t>Bảo vệ 1:</a:t>
            </a:r>
            <a:endParaRPr lang="en-US" sz="1100">
              <a:latin typeface="Abadi" panose="020F0502020204030204" pitchFamily="34" charset="0"/>
            </a:endParaRPr>
          </a:p>
        </p:txBody>
      </p:sp>
      <p:sp>
        <p:nvSpPr>
          <p:cNvPr id="9258" name="TXT_BV_1">
            <a:extLst>
              <a:ext uri="{FF2B5EF4-FFF2-40B4-BE49-F238E27FC236}">
                <a16:creationId xmlns:a16="http://schemas.microsoft.com/office/drawing/2014/main" id="{D5793891-EC1E-4FDD-F79F-E191EC5E0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1138" y="6350000"/>
            <a:ext cx="5529262" cy="5016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763B9952-8B19-5BF3-CE41-CC706DC59208}"/>
              </a:ext>
            </a:extLst>
          </p:cNvPr>
          <p:cNvSpPr/>
          <p:nvPr/>
        </p:nvSpPr>
        <p:spPr>
          <a:xfrm>
            <a:off x="9232900" y="7067550"/>
            <a:ext cx="2319338" cy="57308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2145" b="1">
                <a:solidFill>
                  <a:srgbClr val="1E293B"/>
                </a:solidFill>
                <a:latin typeface="Abadi" panose="020F0502020204030204" pitchFamily="34" charset="0"/>
                <a:ea typeface="Arial" pitchFamily="34" charset="-122"/>
                <a:cs typeface="Arial" pitchFamily="34" charset="-120"/>
              </a:rPr>
              <a:t>Bảo vệ 2:</a:t>
            </a:r>
            <a:endParaRPr lang="en-US" sz="1100">
              <a:latin typeface="Abadi" panose="020F0502020204030204" pitchFamily="34" charset="0"/>
            </a:endParaRPr>
          </a:p>
        </p:txBody>
      </p:sp>
      <p:sp>
        <p:nvSpPr>
          <p:cNvPr id="9260" name="TXT_BV_2">
            <a:extLst>
              <a:ext uri="{FF2B5EF4-FFF2-40B4-BE49-F238E27FC236}">
                <a16:creationId xmlns:a16="http://schemas.microsoft.com/office/drawing/2014/main" id="{2239D54A-500C-371E-E922-5E9339E72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1138" y="7102475"/>
            <a:ext cx="5529262" cy="50323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9261" name="Text 48">
            <a:extLst>
              <a:ext uri="{FF2B5EF4-FFF2-40B4-BE49-F238E27FC236}">
                <a16:creationId xmlns:a16="http://schemas.microsoft.com/office/drawing/2014/main" id="{96F606F2-7C55-75B0-0030-131D43EF4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8950325"/>
            <a:ext cx="3567113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Ghi chú tổng quan: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9262" name="Shape 49">
            <a:extLst>
              <a:ext uri="{FF2B5EF4-FFF2-40B4-BE49-F238E27FC236}">
                <a16:creationId xmlns:a16="http://schemas.microsoft.com/office/drawing/2014/main" id="{45DA3BF7-D797-28DD-7B6E-A0F0D9072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8501063"/>
            <a:ext cx="16764000" cy="808037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9263" name="TXT_GENERAL_COMMENT">
            <a:extLst>
              <a:ext uri="{FF2B5EF4-FFF2-40B4-BE49-F238E27FC236}">
                <a16:creationId xmlns:a16="http://schemas.microsoft.com/office/drawing/2014/main" id="{7E5AD7E7-CDCE-E56D-5B29-F26E08F0D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8609013"/>
            <a:ext cx="164084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i="1">
                <a:solidFill>
                  <a:srgbClr val="BBBBB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Nhận xét tổng quan đầu buổi kiểm tra...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9264" name="TextBox 52">
            <a:extLst>
              <a:ext uri="{FF2B5EF4-FFF2-40B4-BE49-F238E27FC236}">
                <a16:creationId xmlns:a16="http://schemas.microsoft.com/office/drawing/2014/main" id="{E2681344-33A2-BF72-FA77-19B12AA20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723900"/>
            <a:ext cx="82042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olidFill>
                  <a:srgbClr val="800020"/>
                </a:solidFill>
                <a:latin typeface="Abadi" panose="020B0604020104020204" pitchFamily="34" charset="0"/>
              </a:rPr>
              <a:t>Phần 1. THÔNG TIN CHUNG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0D03C31-21BC-BC38-C2D2-A49DCFBCD642}"/>
              </a:ext>
            </a:extLst>
          </p:cNvPr>
          <p:cNvSpPr/>
          <p:nvPr/>
        </p:nvSpPr>
        <p:spPr>
          <a:xfrm>
            <a:off x="762000" y="1397000"/>
            <a:ext cx="16764000" cy="38100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9266" name="TextBox 55">
            <a:extLst>
              <a:ext uri="{FF2B5EF4-FFF2-40B4-BE49-F238E27FC236}">
                <a16:creationId xmlns:a16="http://schemas.microsoft.com/office/drawing/2014/main" id="{7D46255C-E994-702B-B14B-4679D886D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08563" y="9588500"/>
            <a:ext cx="71437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100">
                <a:solidFill>
                  <a:srgbClr val="646469"/>
                </a:solidFill>
                <a:latin typeface="Abadi" panose="020B0604020104020204" pitchFamily="34" charset="0"/>
              </a:rPr>
              <a:t>2</a:t>
            </a:r>
          </a:p>
        </p:txBody>
      </p:sp>
      <p:sp>
        <p:nvSpPr>
          <p:cNvPr id="9267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STORE_GENERAL_INFO</a:t>
            </a:r>
          </a:p>
        </p:txBody>
      </p:sp>
      <p:sp>
        <p:nvSpPr>
          <p:cNvPr id="9268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PIC_FRONTAGE_1">
            <a:extLst>
              <a:ext uri="{FF2B5EF4-FFF2-40B4-BE49-F238E27FC236}">
                <a16:creationId xmlns:a16="http://schemas.microsoft.com/office/drawing/2014/main" id="{AA888F4C-1859-7590-9D64-5ED1B6160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78000"/>
            <a:ext cx="5172075" cy="3765550"/>
          </a:xfrm>
          <a:prstGeom prst="roundRect">
            <a:avLst>
              <a:gd name="adj" fmla="val 3810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0243" name="TXT_FRONTAGE_IMAGE_PLACEHOLDER_1">
            <a:extLst>
              <a:ext uri="{FF2B5EF4-FFF2-40B4-BE49-F238E27FC236}">
                <a16:creationId xmlns:a16="http://schemas.microsoft.com/office/drawing/2014/main" id="{AA1D22E6-9F13-C91B-2766-DBBC519BA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302000"/>
            <a:ext cx="517207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1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📷 Chèn ảnh tại đây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0244" name="Text 7">
            <a:extLst>
              <a:ext uri="{FF2B5EF4-FFF2-40B4-BE49-F238E27FC236}">
                <a16:creationId xmlns:a16="http://schemas.microsoft.com/office/drawing/2014/main" id="{AE6E91F0-0103-092D-CE31-739B65E2F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534025"/>
            <a:ext cx="51720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 b="1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Mặt tiền chính diện</a:t>
            </a:r>
            <a:endParaRPr lang="en-US" altLang="en-US" sz="1000" b="1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sp>
        <p:nvSpPr>
          <p:cNvPr id="10245" name="PIC_FRONTAGE_2">
            <a:extLst>
              <a:ext uri="{FF2B5EF4-FFF2-40B4-BE49-F238E27FC236}">
                <a16:creationId xmlns:a16="http://schemas.microsoft.com/office/drawing/2014/main" id="{DC3FBE0D-E662-7547-A102-3FF4B00F9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75" y="1778000"/>
            <a:ext cx="5172075" cy="3765550"/>
          </a:xfrm>
          <a:prstGeom prst="roundRect">
            <a:avLst>
              <a:gd name="adj" fmla="val 3810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0246" name="TXT_FRONTAGE_IMAGE_PLACEHOLDER_2">
            <a:extLst>
              <a:ext uri="{FF2B5EF4-FFF2-40B4-BE49-F238E27FC236}">
                <a16:creationId xmlns:a16="http://schemas.microsoft.com/office/drawing/2014/main" id="{7DBA7848-337F-E87F-DBF1-B4165886C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75" y="3302000"/>
            <a:ext cx="517207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1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📷 Chèn ảnh tại đây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7DB5501-8383-AA8E-3956-22B13FC90287}"/>
              </a:ext>
            </a:extLst>
          </p:cNvPr>
          <p:cNvSpPr/>
          <p:nvPr/>
        </p:nvSpPr>
        <p:spPr>
          <a:xfrm>
            <a:off x="6200775" y="5524500"/>
            <a:ext cx="5172075" cy="447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950" b="1">
                <a:solidFill>
                  <a:srgbClr val="0070C0"/>
                </a:solidFill>
                <a:latin typeface="Abadi" panose="020F0502020204030204" pitchFamily="34" charset="0"/>
                <a:ea typeface="Arial" pitchFamily="34" charset="-122"/>
                <a:cs typeface="Arial" pitchFamily="34" charset="-120"/>
              </a:rPr>
              <a:t>Góc trái / bên hông trái</a:t>
            </a:r>
            <a:endParaRPr lang="en-US" sz="1000" b="1">
              <a:solidFill>
                <a:srgbClr val="0070C0"/>
              </a:solidFill>
              <a:latin typeface="Abadi" panose="020F0502020204030204" pitchFamily="34" charset="0"/>
            </a:endParaRPr>
          </a:p>
        </p:txBody>
      </p:sp>
      <p:sp>
        <p:nvSpPr>
          <p:cNvPr id="10248" name="PIC_FRONTAGE_3">
            <a:extLst>
              <a:ext uri="{FF2B5EF4-FFF2-40B4-BE49-F238E27FC236}">
                <a16:creationId xmlns:a16="http://schemas.microsoft.com/office/drawing/2014/main" id="{C2755921-1E70-162C-DFA8-9F0834F8C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1138" y="1778000"/>
            <a:ext cx="5884862" cy="3765550"/>
          </a:xfrm>
          <a:prstGeom prst="roundRect">
            <a:avLst>
              <a:gd name="adj" fmla="val 3810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0249" name="TXT_FRONTAGE_IMAGE_PLACEHOLDER_3">
            <a:extLst>
              <a:ext uri="{FF2B5EF4-FFF2-40B4-BE49-F238E27FC236}">
                <a16:creationId xmlns:a16="http://schemas.microsoft.com/office/drawing/2014/main" id="{9E9B1257-DB7B-DEFD-9B0F-20A67E0C8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1138" y="3302000"/>
            <a:ext cx="5884862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1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📷 Chèn ảnh tại đây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0250" name="Text 13">
            <a:extLst>
              <a:ext uri="{FF2B5EF4-FFF2-40B4-BE49-F238E27FC236}">
                <a16:creationId xmlns:a16="http://schemas.microsoft.com/office/drawing/2014/main" id="{176E2436-45A6-647F-7BF1-8AD27CA61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1138" y="5534025"/>
            <a:ext cx="5884862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 b="1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Góc phải / bên hông phải</a:t>
            </a:r>
            <a:endParaRPr lang="en-US" altLang="en-US" sz="1000" b="1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8BE479C-9893-0465-E32D-FFFDA7FE8E82}"/>
              </a:ext>
            </a:extLst>
          </p:cNvPr>
          <p:cNvSpPr/>
          <p:nvPr/>
        </p:nvSpPr>
        <p:spPr>
          <a:xfrm>
            <a:off x="762000" y="6080125"/>
            <a:ext cx="8204200" cy="3406775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F0502020204030204" pitchFamily="34" charset="0"/>
            </a:endParaRPr>
          </a:p>
        </p:txBody>
      </p:sp>
      <p:sp>
        <p:nvSpPr>
          <p:cNvPr id="10252" name="Shape 15">
            <a:extLst>
              <a:ext uri="{FF2B5EF4-FFF2-40B4-BE49-F238E27FC236}">
                <a16:creationId xmlns:a16="http://schemas.microsoft.com/office/drawing/2014/main" id="{3B507CAE-F3CB-7A7E-50D2-D2C5FDB66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942013"/>
            <a:ext cx="8204200" cy="573087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0253" name="Text 16">
            <a:extLst>
              <a:ext uri="{FF2B5EF4-FFF2-40B4-BE49-F238E27FC236}">
                <a16:creationId xmlns:a16="http://schemas.microsoft.com/office/drawing/2014/main" id="{24DE5D48-FC12-FA32-6245-BF6B131A4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5902325"/>
            <a:ext cx="7935912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300" b="1">
                <a:solidFill>
                  <a:srgbClr val="CC1A1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CHECKLIST MẶT TIỀN</a:t>
            </a:r>
            <a:endParaRPr lang="en-US" altLang="en-US" sz="1200">
              <a:latin typeface="Abadi" panose="020B0604020104020204" pitchFamily="34" charset="0"/>
            </a:endParaRPr>
          </a:p>
        </p:txBody>
      </p:sp>
      <p:sp>
        <p:nvSpPr>
          <p:cNvPr id="10254" name="Text 18">
            <a:extLst>
              <a:ext uri="{FF2B5EF4-FFF2-40B4-BE49-F238E27FC236}">
                <a16:creationId xmlns:a16="http://schemas.microsoft.com/office/drawing/2014/main" id="{5F1E87EC-D3C2-C4DF-69BA-07904839D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6654800"/>
            <a:ext cx="71342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Bảng hiệu, bảng tên chi nhánh, logo đúng chuẩn, không bị hư hỏng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0255" name="Text 20">
            <a:extLst>
              <a:ext uri="{FF2B5EF4-FFF2-40B4-BE49-F238E27FC236}">
                <a16:creationId xmlns:a16="http://schemas.microsoft.com/office/drawing/2014/main" id="{69711C37-4178-EA60-88BB-9C75973B4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7156450"/>
            <a:ext cx="71342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Đèn bảng hiệu hoạt động đầy đủ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0256" name="Text 22">
            <a:extLst>
              <a:ext uri="{FF2B5EF4-FFF2-40B4-BE49-F238E27FC236}">
                <a16:creationId xmlns:a16="http://schemas.microsoft.com/office/drawing/2014/main" id="{D767F2D3-7FB0-8195-0E1D-9C78D2CAB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7659688"/>
            <a:ext cx="7134225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Kính cửa sạch, không bám bụi / vết bẩn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0257" name="Text 24">
            <a:extLst>
              <a:ext uri="{FF2B5EF4-FFF2-40B4-BE49-F238E27FC236}">
                <a16:creationId xmlns:a16="http://schemas.microsoft.com/office/drawing/2014/main" id="{6FA80845-575E-100D-86FF-DDC09D559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816133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Khu vực vỉa hè / lối vào gọn gàng, sạch sẽ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0258" name="Text 26">
            <a:extLst>
              <a:ext uri="{FF2B5EF4-FFF2-40B4-BE49-F238E27FC236}">
                <a16:creationId xmlns:a16="http://schemas.microsoft.com/office/drawing/2014/main" id="{87E5A5CC-E090-5A6D-3F0B-D71C96999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866298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Poster / vật liệu truyền thông đúng chương trình hiện hành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8AFED6B-DD2C-180F-07AC-1E58E4B29C04}"/>
              </a:ext>
            </a:extLst>
          </p:cNvPr>
          <p:cNvSpPr/>
          <p:nvPr/>
        </p:nvSpPr>
        <p:spPr>
          <a:xfrm>
            <a:off x="9321800" y="6156325"/>
            <a:ext cx="8204200" cy="3406775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0260" name="Shape 28">
            <a:extLst>
              <a:ext uri="{FF2B5EF4-FFF2-40B4-BE49-F238E27FC236}">
                <a16:creationId xmlns:a16="http://schemas.microsoft.com/office/drawing/2014/main" id="{DE510BF9-98C1-FE2B-F1EA-CCC1FC4FF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1800" y="5942013"/>
            <a:ext cx="8204200" cy="573087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0261" name="Text 29">
            <a:extLst>
              <a:ext uri="{FF2B5EF4-FFF2-40B4-BE49-F238E27FC236}">
                <a16:creationId xmlns:a16="http://schemas.microsoft.com/office/drawing/2014/main" id="{0FC70A4C-28B3-4249-AE61-31A045654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6113" y="5902325"/>
            <a:ext cx="79375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300" b="1">
                <a:solidFill>
                  <a:srgbClr val="CC1A1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ĐÁNH GIÁ &amp; GHI CHÚ MẶT TIỀN</a:t>
            </a:r>
            <a:endParaRPr lang="en-US" altLang="en-US" sz="1200">
              <a:latin typeface="Abadi" panose="020B0604020104020204" pitchFamily="34" charset="0"/>
            </a:endParaRPr>
          </a:p>
        </p:txBody>
      </p:sp>
      <p:sp>
        <p:nvSpPr>
          <p:cNvPr id="10262" name="Text 30">
            <a:extLst>
              <a:ext uri="{FF2B5EF4-FFF2-40B4-BE49-F238E27FC236}">
                <a16:creationId xmlns:a16="http://schemas.microsoft.com/office/drawing/2014/main" id="{A958A513-F7CD-D8C0-1FA2-69C079317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0088" y="6654800"/>
            <a:ext cx="748982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Xếp loại tổng quan mặt tiền: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0263" name="SHP_RATING_TỐT">
            <a:extLst>
              <a:ext uri="{FF2B5EF4-FFF2-40B4-BE49-F238E27FC236}">
                <a16:creationId xmlns:a16="http://schemas.microsoft.com/office/drawing/2014/main" id="{50954EEA-2F87-55B9-22C1-01821D439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0088" y="7246938"/>
            <a:ext cx="2317750" cy="501650"/>
          </a:xfrm>
          <a:prstGeom prst="roundRect">
            <a:avLst>
              <a:gd name="adj" fmla="val 21431"/>
            </a:avLst>
          </a:prstGeom>
          <a:solidFill>
            <a:srgbClr val="FFFFFF"/>
          </a:solidFill>
          <a:ln w="12700">
            <a:solidFill>
              <a:srgbClr val="16A34A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0264" name="Text 32">
            <a:extLst>
              <a:ext uri="{FF2B5EF4-FFF2-40B4-BE49-F238E27FC236}">
                <a16:creationId xmlns:a16="http://schemas.microsoft.com/office/drawing/2014/main" id="{3DB77602-FD1E-F641-EDE6-594F99B96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0088" y="7246938"/>
            <a:ext cx="231775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 b="1">
                <a:solidFill>
                  <a:srgbClr val="16A34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Tốt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10265" name="SHP_RATING_ĐẠT">
            <a:extLst>
              <a:ext uri="{FF2B5EF4-FFF2-40B4-BE49-F238E27FC236}">
                <a16:creationId xmlns:a16="http://schemas.microsoft.com/office/drawing/2014/main" id="{3B1E69E0-4256-5252-2907-88A0DB083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6125" y="7246938"/>
            <a:ext cx="2317750" cy="501650"/>
          </a:xfrm>
          <a:prstGeom prst="roundRect">
            <a:avLst>
              <a:gd name="adj" fmla="val 21431"/>
            </a:avLst>
          </a:prstGeom>
          <a:solidFill>
            <a:srgbClr val="FFFFFF"/>
          </a:solidFill>
          <a:ln w="12700">
            <a:solidFill>
              <a:srgbClr val="1D4ED8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0266" name="Text 34">
            <a:extLst>
              <a:ext uri="{FF2B5EF4-FFF2-40B4-BE49-F238E27FC236}">
                <a16:creationId xmlns:a16="http://schemas.microsoft.com/office/drawing/2014/main" id="{F2184D62-42A6-CFE9-3DB7-3930FAA55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6125" y="7246938"/>
            <a:ext cx="231775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 b="1">
                <a:solidFill>
                  <a:srgbClr val="1D4ED8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Đạt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10267" name="SHP_RATING_CHƯAĐẠT">
            <a:extLst>
              <a:ext uri="{FF2B5EF4-FFF2-40B4-BE49-F238E27FC236}">
                <a16:creationId xmlns:a16="http://schemas.microsoft.com/office/drawing/2014/main" id="{204D3446-67A5-AEBD-ADD6-4C96B5EF3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2163" y="7246938"/>
            <a:ext cx="2317750" cy="501650"/>
          </a:xfrm>
          <a:prstGeom prst="roundRect">
            <a:avLst>
              <a:gd name="adj" fmla="val 21431"/>
            </a:avLst>
          </a:prstGeom>
          <a:solidFill>
            <a:srgbClr val="FFFFFF"/>
          </a:solidFill>
          <a:ln w="12700">
            <a:solidFill>
              <a:srgbClr val="EA580C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0268" name="Text 36">
            <a:extLst>
              <a:ext uri="{FF2B5EF4-FFF2-40B4-BE49-F238E27FC236}">
                <a16:creationId xmlns:a16="http://schemas.microsoft.com/office/drawing/2014/main" id="{743ADA5B-8007-F25F-2CD2-19E7F2622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2163" y="7246938"/>
            <a:ext cx="231775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 b="1">
                <a:solidFill>
                  <a:srgbClr val="EA580C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Chưa đạt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10269" name="Text 37">
            <a:extLst>
              <a:ext uri="{FF2B5EF4-FFF2-40B4-BE49-F238E27FC236}">
                <a16:creationId xmlns:a16="http://schemas.microsoft.com/office/drawing/2014/main" id="{1213385D-664E-4490-DD05-736BAEBD3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0088" y="7964488"/>
            <a:ext cx="748982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Ghi chú / vấn đề cần khắc phục: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0270" name="Shape 38">
            <a:extLst>
              <a:ext uri="{FF2B5EF4-FFF2-40B4-BE49-F238E27FC236}">
                <a16:creationId xmlns:a16="http://schemas.microsoft.com/office/drawing/2014/main" id="{7B630C66-9861-DC8D-AA38-690CA3E02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0088" y="8466138"/>
            <a:ext cx="7669212" cy="681037"/>
          </a:xfrm>
          <a:prstGeom prst="roundRect">
            <a:avLst>
              <a:gd name="adj" fmla="val 2105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0271" name="TXT_FRONTAGE_COMMENTS">
            <a:extLst>
              <a:ext uri="{FF2B5EF4-FFF2-40B4-BE49-F238E27FC236}">
                <a16:creationId xmlns:a16="http://schemas.microsoft.com/office/drawing/2014/main" id="{F1776619-4EF9-2F5E-E9EC-9F7802483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7888" y="8574088"/>
            <a:ext cx="731202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i="1">
                <a:solidFill>
                  <a:srgbClr val="BBBBB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Mô tả vấn đề và yêu cầu xử lý...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10272" name="TextBox 41">
            <a:extLst>
              <a:ext uri="{FF2B5EF4-FFF2-40B4-BE49-F238E27FC236}">
                <a16:creationId xmlns:a16="http://schemas.microsoft.com/office/drawing/2014/main" id="{4C5D5E5D-0BD7-A020-EED9-6FC97F274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254125"/>
            <a:ext cx="838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rgbClr val="0070C0"/>
                </a:solidFill>
                <a:latin typeface="Abadi" panose="020B0604020104020204" pitchFamily="34" charset="0"/>
              </a:rPr>
              <a:t>2.1. NGOẠI QUAN &amp; MẶT TIỀN CỬA HÀNG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7C1C486-1B67-4145-B25F-2CE20C9E7DDC}"/>
              </a:ext>
            </a:extLst>
          </p:cNvPr>
          <p:cNvSpPr/>
          <p:nvPr/>
        </p:nvSpPr>
        <p:spPr>
          <a:xfrm>
            <a:off x="762000" y="1638300"/>
            <a:ext cx="16764000" cy="38100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0274" name="TextBox 44">
            <a:extLst>
              <a:ext uri="{FF2B5EF4-FFF2-40B4-BE49-F238E27FC236}">
                <a16:creationId xmlns:a16="http://schemas.microsoft.com/office/drawing/2014/main" id="{11896268-858E-7511-CB71-866EAE2A8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94275" y="9588500"/>
            <a:ext cx="85725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100">
                <a:solidFill>
                  <a:srgbClr val="646469"/>
                </a:solidFill>
                <a:latin typeface="Abadi" panose="020B0604020104020204" pitchFamily="34" charset="0"/>
              </a:rPr>
              <a:t>3</a:t>
            </a:r>
          </a:p>
        </p:txBody>
      </p:sp>
      <p:sp>
        <p:nvSpPr>
          <p:cNvPr id="10275" name="TextBox 52">
            <a:extLst>
              <a:ext uri="{FF2B5EF4-FFF2-40B4-BE49-F238E27FC236}">
                <a16:creationId xmlns:a16="http://schemas.microsoft.com/office/drawing/2014/main" id="{2DFC9987-D6D4-1070-3988-102EBAB98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750888"/>
            <a:ext cx="89916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olidFill>
                  <a:srgbClr val="800020"/>
                </a:solidFill>
                <a:latin typeface="Abadi" panose="020B0604020104020204" pitchFamily="34" charset="0"/>
              </a:rPr>
              <a:t>Phần 2. NGOẠI QUAN, HÀNG HÓA VÀ TRƯNG BÀY</a:t>
            </a:r>
          </a:p>
        </p:txBody>
      </p:sp>
      <p:sp>
        <p:nvSpPr>
          <p:cNvPr id="10276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STORE_FRONTAGE_PHOTOS</a:t>
            </a:r>
          </a:p>
        </p:txBody>
      </p:sp>
      <p:sp>
        <p:nvSpPr>
          <p:cNvPr id="10277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PIC_INNER_1">
            <a:extLst>
              <a:ext uri="{FF2B5EF4-FFF2-40B4-BE49-F238E27FC236}">
                <a16:creationId xmlns:a16="http://schemas.microsoft.com/office/drawing/2014/main" id="{45DF00FE-10CE-D2C2-FD55-950EFA952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78000"/>
            <a:ext cx="5172075" cy="3765550"/>
          </a:xfrm>
          <a:prstGeom prst="roundRect">
            <a:avLst>
              <a:gd name="adj" fmla="val 3810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1267" name="TXT_INNER_IMAGE_PLACEHOLDER_1">
            <a:extLst>
              <a:ext uri="{FF2B5EF4-FFF2-40B4-BE49-F238E27FC236}">
                <a16:creationId xmlns:a16="http://schemas.microsoft.com/office/drawing/2014/main" id="{77B0EB85-59CA-498F-AE9E-A28CF5899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302000"/>
            <a:ext cx="517207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1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📷 Chèn ảnh tại đây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1268" name="Text 7">
            <a:extLst>
              <a:ext uri="{FF2B5EF4-FFF2-40B4-BE49-F238E27FC236}">
                <a16:creationId xmlns:a16="http://schemas.microsoft.com/office/drawing/2014/main" id="{471FAC64-7403-9AFD-B2D2-FF6E67D09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534025"/>
            <a:ext cx="51720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 b="1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1. Từ cửa chính nhìn vào trong</a:t>
            </a:r>
            <a:endParaRPr lang="en-US" altLang="en-US" sz="1000" b="1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sp>
        <p:nvSpPr>
          <p:cNvPr id="11269" name="PIC_INNER_2">
            <a:extLst>
              <a:ext uri="{FF2B5EF4-FFF2-40B4-BE49-F238E27FC236}">
                <a16:creationId xmlns:a16="http://schemas.microsoft.com/office/drawing/2014/main" id="{A45B7B54-9F35-BE5D-1107-171C40421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75" y="1778000"/>
            <a:ext cx="5172075" cy="3765550"/>
          </a:xfrm>
          <a:prstGeom prst="roundRect">
            <a:avLst>
              <a:gd name="adj" fmla="val 3810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1270" name="TXT_INNER_IMAGE_PLACEHOLDER_2">
            <a:extLst>
              <a:ext uri="{FF2B5EF4-FFF2-40B4-BE49-F238E27FC236}">
                <a16:creationId xmlns:a16="http://schemas.microsoft.com/office/drawing/2014/main" id="{EEEC78BE-BBBD-1336-60A3-D688AB5D7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75" y="3302000"/>
            <a:ext cx="517207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1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📷 Chèn ảnh tại đây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1271" name="Text 10">
            <a:extLst>
              <a:ext uri="{FF2B5EF4-FFF2-40B4-BE49-F238E27FC236}">
                <a16:creationId xmlns:a16="http://schemas.microsoft.com/office/drawing/2014/main" id="{EC119956-0A74-7161-2B65-DC9BC53FF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75" y="5534025"/>
            <a:ext cx="51720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 b="1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2. Tổng thể sảnh bên trái cửa hàng</a:t>
            </a:r>
            <a:endParaRPr lang="en-US" altLang="en-US" sz="1000" b="1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sp>
        <p:nvSpPr>
          <p:cNvPr id="11272" name="PIC_INNER_3">
            <a:extLst>
              <a:ext uri="{FF2B5EF4-FFF2-40B4-BE49-F238E27FC236}">
                <a16:creationId xmlns:a16="http://schemas.microsoft.com/office/drawing/2014/main" id="{7DA9360F-B4E9-2ACA-FCD6-1AFF0A150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1138" y="1778000"/>
            <a:ext cx="5884862" cy="3765550"/>
          </a:xfrm>
          <a:prstGeom prst="roundRect">
            <a:avLst>
              <a:gd name="adj" fmla="val 3810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1273" name="TXT_INNER_IMAGE_PLACEHOLDER_3">
            <a:extLst>
              <a:ext uri="{FF2B5EF4-FFF2-40B4-BE49-F238E27FC236}">
                <a16:creationId xmlns:a16="http://schemas.microsoft.com/office/drawing/2014/main" id="{E215608D-6C47-3FAA-DAFD-0A1B67086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1138" y="3302000"/>
            <a:ext cx="5884862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1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📷 Chèn ảnh tại đây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1274" name="Text 13">
            <a:extLst>
              <a:ext uri="{FF2B5EF4-FFF2-40B4-BE49-F238E27FC236}">
                <a16:creationId xmlns:a16="http://schemas.microsoft.com/office/drawing/2014/main" id="{6C1F5557-4608-F15E-D154-9536302F8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1138" y="5534025"/>
            <a:ext cx="5884862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 b="1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3. Tổng thể sảnh bên phải cửa hàng</a:t>
            </a:r>
            <a:endParaRPr lang="en-US" altLang="en-US" sz="1000" b="1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0D27C82-E7F6-C38C-9733-9A1C42298B04}"/>
              </a:ext>
            </a:extLst>
          </p:cNvPr>
          <p:cNvSpPr/>
          <p:nvPr/>
        </p:nvSpPr>
        <p:spPr>
          <a:xfrm>
            <a:off x="762000" y="6003925"/>
            <a:ext cx="8204200" cy="3406775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1276" name="Shape 15">
            <a:extLst>
              <a:ext uri="{FF2B5EF4-FFF2-40B4-BE49-F238E27FC236}">
                <a16:creationId xmlns:a16="http://schemas.microsoft.com/office/drawing/2014/main" id="{8330755F-0D75-24B2-DA0E-9778C57B2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003925"/>
            <a:ext cx="8204200" cy="574675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B1A5568-2B00-2803-35D5-E3D1152A0AA5}"/>
              </a:ext>
            </a:extLst>
          </p:cNvPr>
          <p:cNvSpPr/>
          <p:nvPr/>
        </p:nvSpPr>
        <p:spPr>
          <a:xfrm>
            <a:off x="976313" y="6003925"/>
            <a:ext cx="7935912" cy="574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2340" b="1">
                <a:solidFill>
                  <a:srgbClr val="CC1A1A"/>
                </a:solidFill>
                <a:latin typeface="Abadi" panose="020B0604020104020204" pitchFamily="34" charset="0"/>
                <a:ea typeface="Arial" pitchFamily="34" charset="-122"/>
                <a:cs typeface="Arial" pitchFamily="34" charset="-120"/>
              </a:rPr>
              <a:t>CHECKLIST KHÔNG GIAN BÊN TRONG</a:t>
            </a:r>
            <a:endParaRPr lang="en-US" sz="1200">
              <a:latin typeface="Abadi" panose="020B0604020104020204" pitchFamily="34" charset="0"/>
            </a:endParaRPr>
          </a:p>
        </p:txBody>
      </p:sp>
      <p:sp>
        <p:nvSpPr>
          <p:cNvPr id="11278" name="Text 18">
            <a:extLst>
              <a:ext uri="{FF2B5EF4-FFF2-40B4-BE49-F238E27FC236}">
                <a16:creationId xmlns:a16="http://schemas.microsoft.com/office/drawing/2014/main" id="{FCEC3744-D81B-938D-182D-307C3CE51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6654800"/>
            <a:ext cx="71342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Hệ thống đèn chiếu sáng hoạt động đầy đủ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1279" name="Text 20">
            <a:extLst>
              <a:ext uri="{FF2B5EF4-FFF2-40B4-BE49-F238E27FC236}">
                <a16:creationId xmlns:a16="http://schemas.microsoft.com/office/drawing/2014/main" id="{F48D5216-DE78-BFDE-BD80-76EC53EA8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7156450"/>
            <a:ext cx="71342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Nhiệt độ máy lạnh mát mẻ, dễ chịu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1280" name="Text 22">
            <a:extLst>
              <a:ext uri="{FF2B5EF4-FFF2-40B4-BE49-F238E27FC236}">
                <a16:creationId xmlns:a16="http://schemas.microsoft.com/office/drawing/2014/main" id="{CF3C4026-A71A-6737-83B6-6F56C8BAD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7659688"/>
            <a:ext cx="7134225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Âm thanh nhạc nền đúng âm lượng, nhẹ nhàng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1281" name="Text 24">
            <a:extLst>
              <a:ext uri="{FF2B5EF4-FFF2-40B4-BE49-F238E27FC236}">
                <a16:creationId xmlns:a16="http://schemas.microsoft.com/office/drawing/2014/main" id="{C0517B69-EC81-2E8B-C427-CEDE05082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816133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Sàn nhà, tủ kệ, gương kính sạch sẽ, không bám bụi/vệt nước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1282" name="Text 26">
            <a:extLst>
              <a:ext uri="{FF2B5EF4-FFF2-40B4-BE49-F238E27FC236}">
                <a16:creationId xmlns:a16="http://schemas.microsoft.com/office/drawing/2014/main" id="{AECEBDBF-D6B3-3798-25A1-AA9AE70B9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866298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Lối đi thông thoáng, không vướng thùng hàng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3CADD05-8B93-33AF-AE2A-AAE30B0D9E86}"/>
              </a:ext>
            </a:extLst>
          </p:cNvPr>
          <p:cNvSpPr/>
          <p:nvPr/>
        </p:nvSpPr>
        <p:spPr>
          <a:xfrm>
            <a:off x="9321800" y="6003925"/>
            <a:ext cx="8204200" cy="3406775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1284" name="Shape 28">
            <a:extLst>
              <a:ext uri="{FF2B5EF4-FFF2-40B4-BE49-F238E27FC236}">
                <a16:creationId xmlns:a16="http://schemas.microsoft.com/office/drawing/2014/main" id="{53990DEC-3FA2-1D28-4B07-D22804943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1800" y="6003925"/>
            <a:ext cx="8204200" cy="574675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1285" name="Text 29">
            <a:extLst>
              <a:ext uri="{FF2B5EF4-FFF2-40B4-BE49-F238E27FC236}">
                <a16:creationId xmlns:a16="http://schemas.microsoft.com/office/drawing/2014/main" id="{84CF938D-D911-1362-682C-5D6B69390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6113" y="6003925"/>
            <a:ext cx="79375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300" b="1">
                <a:solidFill>
                  <a:srgbClr val="CC1A1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ĐÁNH GIÁ &amp; GHI CHÚ TRONG CỬA HÀNG</a:t>
            </a:r>
            <a:endParaRPr lang="en-US" altLang="en-US" sz="1200">
              <a:latin typeface="Abadi" panose="020B0604020104020204" pitchFamily="34" charset="0"/>
            </a:endParaRPr>
          </a:p>
        </p:txBody>
      </p:sp>
      <p:sp>
        <p:nvSpPr>
          <p:cNvPr id="11286" name="Text 30">
            <a:extLst>
              <a:ext uri="{FF2B5EF4-FFF2-40B4-BE49-F238E27FC236}">
                <a16:creationId xmlns:a16="http://schemas.microsoft.com/office/drawing/2014/main" id="{254AECAC-D627-C993-6D8A-39A1C7335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0088" y="6654800"/>
            <a:ext cx="748982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Xếp loại tổng quan bên trong: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1287" name="SHP_RATING_TỐT">
            <a:extLst>
              <a:ext uri="{FF2B5EF4-FFF2-40B4-BE49-F238E27FC236}">
                <a16:creationId xmlns:a16="http://schemas.microsoft.com/office/drawing/2014/main" id="{21A9A61C-F4F2-E803-511C-A0FBF1843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0088" y="7246938"/>
            <a:ext cx="2317750" cy="501650"/>
          </a:xfrm>
          <a:prstGeom prst="roundRect">
            <a:avLst>
              <a:gd name="adj" fmla="val 21431"/>
            </a:avLst>
          </a:prstGeom>
          <a:solidFill>
            <a:srgbClr val="FFFFFF"/>
          </a:solidFill>
          <a:ln w="12700">
            <a:solidFill>
              <a:srgbClr val="16A34A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1288" name="Text 32">
            <a:extLst>
              <a:ext uri="{FF2B5EF4-FFF2-40B4-BE49-F238E27FC236}">
                <a16:creationId xmlns:a16="http://schemas.microsoft.com/office/drawing/2014/main" id="{743203FF-693A-8335-F056-A485EA713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0088" y="7246938"/>
            <a:ext cx="231775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 b="1">
                <a:solidFill>
                  <a:srgbClr val="16A34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Tốt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11289" name="SHP_RATING_ĐẠT">
            <a:extLst>
              <a:ext uri="{FF2B5EF4-FFF2-40B4-BE49-F238E27FC236}">
                <a16:creationId xmlns:a16="http://schemas.microsoft.com/office/drawing/2014/main" id="{6FEE3014-2EF5-C305-1BF3-17DC963CE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6125" y="7246938"/>
            <a:ext cx="2317750" cy="501650"/>
          </a:xfrm>
          <a:prstGeom prst="roundRect">
            <a:avLst>
              <a:gd name="adj" fmla="val 21431"/>
            </a:avLst>
          </a:prstGeom>
          <a:solidFill>
            <a:srgbClr val="FFFFFF"/>
          </a:solidFill>
          <a:ln w="12700">
            <a:solidFill>
              <a:srgbClr val="1D4ED8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1290" name="Text 34">
            <a:extLst>
              <a:ext uri="{FF2B5EF4-FFF2-40B4-BE49-F238E27FC236}">
                <a16:creationId xmlns:a16="http://schemas.microsoft.com/office/drawing/2014/main" id="{D7320CFC-2AAA-7599-1B52-EB723BB06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6125" y="7246938"/>
            <a:ext cx="231775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 b="1">
                <a:solidFill>
                  <a:srgbClr val="1D4ED8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Đạt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11291" name="SHP_RATING_CHƯAĐẠT">
            <a:extLst>
              <a:ext uri="{FF2B5EF4-FFF2-40B4-BE49-F238E27FC236}">
                <a16:creationId xmlns:a16="http://schemas.microsoft.com/office/drawing/2014/main" id="{09B80E95-1EAB-F6DD-84C3-BB8A12319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2163" y="7246938"/>
            <a:ext cx="2317750" cy="501650"/>
          </a:xfrm>
          <a:prstGeom prst="roundRect">
            <a:avLst>
              <a:gd name="adj" fmla="val 21431"/>
            </a:avLst>
          </a:prstGeom>
          <a:solidFill>
            <a:srgbClr val="FFFFFF"/>
          </a:solidFill>
          <a:ln w="12700">
            <a:solidFill>
              <a:srgbClr val="EA580C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1292" name="Text 36">
            <a:extLst>
              <a:ext uri="{FF2B5EF4-FFF2-40B4-BE49-F238E27FC236}">
                <a16:creationId xmlns:a16="http://schemas.microsoft.com/office/drawing/2014/main" id="{0DFB8F2D-746D-D46E-A501-43F3638DF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2163" y="7246938"/>
            <a:ext cx="231775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 b="1">
                <a:solidFill>
                  <a:srgbClr val="EA580C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Chưa đạt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11293" name="Text 37">
            <a:extLst>
              <a:ext uri="{FF2B5EF4-FFF2-40B4-BE49-F238E27FC236}">
                <a16:creationId xmlns:a16="http://schemas.microsoft.com/office/drawing/2014/main" id="{D9F17705-2161-A634-4B78-5EF03EB7F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0088" y="7964488"/>
            <a:ext cx="748982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Ghi chú / vấn đề cần khắc phục: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1294" name="Shape 38">
            <a:extLst>
              <a:ext uri="{FF2B5EF4-FFF2-40B4-BE49-F238E27FC236}">
                <a16:creationId xmlns:a16="http://schemas.microsoft.com/office/drawing/2014/main" id="{A44269FD-6F58-7B64-9EBD-A2F5DE207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0088" y="8466138"/>
            <a:ext cx="7669212" cy="681037"/>
          </a:xfrm>
          <a:prstGeom prst="roundRect">
            <a:avLst>
              <a:gd name="adj" fmla="val 2105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1295" name="TXT_INNER_COMMENTS">
            <a:extLst>
              <a:ext uri="{FF2B5EF4-FFF2-40B4-BE49-F238E27FC236}">
                <a16:creationId xmlns:a16="http://schemas.microsoft.com/office/drawing/2014/main" id="{F9CC2610-BDB9-DDBB-31C9-06A9EBFEB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7888" y="8574088"/>
            <a:ext cx="731202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i="1">
                <a:solidFill>
                  <a:srgbClr val="BBBBB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Mô tả vấn đề không gian bên trong cần khắc phục...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11296" name="TextBox 41">
            <a:extLst>
              <a:ext uri="{FF2B5EF4-FFF2-40B4-BE49-F238E27FC236}">
                <a16:creationId xmlns:a16="http://schemas.microsoft.com/office/drawing/2014/main" id="{B93BFE8B-371E-B0F7-D414-EF2963E93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73125"/>
            <a:ext cx="10744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rgbClr val="0070C0"/>
                </a:solidFill>
                <a:latin typeface="Abadi" panose="020B0604020104020204" pitchFamily="34" charset="0"/>
              </a:rPr>
              <a:t>2.2. KHÔNG GIAN BÊN TRONG CỬA HÀNG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057E231-34A3-107E-8DE2-3741ADBE2679}"/>
              </a:ext>
            </a:extLst>
          </p:cNvPr>
          <p:cNvSpPr/>
          <p:nvPr/>
        </p:nvSpPr>
        <p:spPr>
          <a:xfrm>
            <a:off x="762000" y="1397000"/>
            <a:ext cx="16764000" cy="38100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1298" name="TextBox 44">
            <a:extLst>
              <a:ext uri="{FF2B5EF4-FFF2-40B4-BE49-F238E27FC236}">
                <a16:creationId xmlns:a16="http://schemas.microsoft.com/office/drawing/2014/main" id="{49D2A6A4-0E75-F835-DA78-01DF99D07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94275" y="9588500"/>
            <a:ext cx="85725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100">
                <a:solidFill>
                  <a:srgbClr val="646469"/>
                </a:solidFill>
                <a:latin typeface="Abadi" panose="020B0604020104020204" pitchFamily="34" charset="0"/>
              </a:rPr>
              <a:t>4</a:t>
            </a:r>
          </a:p>
        </p:txBody>
      </p:sp>
      <p:sp>
        <p:nvSpPr>
          <p:cNvPr id="11299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STORE_INNER_PHOTOS</a:t>
            </a:r>
          </a:p>
        </p:txBody>
      </p:sp>
      <p:sp>
        <p:nvSpPr>
          <p:cNvPr id="11300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>
            <a:extLst>
              <a:ext uri="{FF2B5EF4-FFF2-40B4-BE49-F238E27FC236}">
                <a16:creationId xmlns:a16="http://schemas.microsoft.com/office/drawing/2014/main" id="{068B7098-7887-A7F3-ABCC-407AFEED5B40}"/>
              </a:ext>
            </a:extLst>
          </p:cNvPr>
          <p:cNvSpPr/>
          <p:nvPr/>
        </p:nvSpPr>
        <p:spPr>
          <a:xfrm>
            <a:off x="762000" y="1778000"/>
            <a:ext cx="5349875" cy="4660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2291" name="Text 6">
            <a:extLst>
              <a:ext uri="{FF2B5EF4-FFF2-40B4-BE49-F238E27FC236}">
                <a16:creationId xmlns:a16="http://schemas.microsoft.com/office/drawing/2014/main" id="{14010AC5-3580-0897-B748-C27044C03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78000"/>
            <a:ext cx="534987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 b="1">
                <a:solidFill>
                  <a:srgbClr val="CC1A1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ẢNH TRƯỚC KHI CHỈNH (LỖI VM PHÁT HIỆN)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12292" name="PIC_VM_BEFORE">
            <a:extLst>
              <a:ext uri="{FF2B5EF4-FFF2-40B4-BE49-F238E27FC236}">
                <a16:creationId xmlns:a16="http://schemas.microsoft.com/office/drawing/2014/main" id="{E0B16D41-C5DA-6FB4-FA1E-79589954E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" y="2370138"/>
            <a:ext cx="5172075" cy="3227387"/>
          </a:xfrm>
          <a:prstGeom prst="roundRect">
            <a:avLst>
              <a:gd name="adj" fmla="val 4444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0" name="TXT_VM_IMAGE_PLACEHOLDER_BEFORE">
            <a:extLst>
              <a:ext uri="{FF2B5EF4-FFF2-40B4-BE49-F238E27FC236}">
                <a16:creationId xmlns:a16="http://schemas.microsoft.com/office/drawing/2014/main" id="{21F7F945-C710-E736-5A02-B1E133EC3C02}"/>
              </a:ext>
            </a:extLst>
          </p:cNvPr>
          <p:cNvSpPr/>
          <p:nvPr/>
        </p:nvSpPr>
        <p:spPr>
          <a:xfrm>
            <a:off x="850900" y="3624263"/>
            <a:ext cx="5172075" cy="71755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📷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Ảnh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LỖI VM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phát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hiện</a:t>
            </a:r>
            <a:endParaRPr sz="1852">
              <a:solidFill>
                <a:srgbClr val="787878"/>
              </a:solidFill>
              <a:latin typeface="Abadi" panose="020B0604020104020204" pitchFamily="34" charset="0"/>
            </a:endParaRPr>
          </a:p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(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Trước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khi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chỉnh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sửa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)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56C0281-AF0E-B7B1-99BF-2E449FA36550}"/>
              </a:ext>
            </a:extLst>
          </p:cNvPr>
          <p:cNvSpPr/>
          <p:nvPr/>
        </p:nvSpPr>
        <p:spPr>
          <a:xfrm>
            <a:off x="6557963" y="1778000"/>
            <a:ext cx="5349875" cy="4660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2295" name="Text 10">
            <a:extLst>
              <a:ext uri="{FF2B5EF4-FFF2-40B4-BE49-F238E27FC236}">
                <a16:creationId xmlns:a16="http://schemas.microsoft.com/office/drawing/2014/main" id="{4F1A86F4-92C9-8D1B-04E4-F91181683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963" y="1778000"/>
            <a:ext cx="534987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 b="1">
                <a:solidFill>
                  <a:srgbClr val="16A34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ẢNH SAU KHI CHỈNH (ĐÃ KHẮC PHỤC)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12296" name="PIC_VM_AFTER">
            <a:extLst>
              <a:ext uri="{FF2B5EF4-FFF2-40B4-BE49-F238E27FC236}">
                <a16:creationId xmlns:a16="http://schemas.microsoft.com/office/drawing/2014/main" id="{D6E0FAF1-B773-1C48-4D05-66F8BF9EF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6863" y="2370138"/>
            <a:ext cx="5172075" cy="3227387"/>
          </a:xfrm>
          <a:prstGeom prst="roundRect">
            <a:avLst>
              <a:gd name="adj" fmla="val 4444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4" name="TXT_VM_IMAGE_PLACEHOLDER_AFTER">
            <a:extLst>
              <a:ext uri="{FF2B5EF4-FFF2-40B4-BE49-F238E27FC236}">
                <a16:creationId xmlns:a16="http://schemas.microsoft.com/office/drawing/2014/main" id="{2F728CCD-701A-3570-769D-A0B7ACB240BB}"/>
              </a:ext>
            </a:extLst>
          </p:cNvPr>
          <p:cNvSpPr/>
          <p:nvPr/>
        </p:nvSpPr>
        <p:spPr>
          <a:xfrm>
            <a:off x="6646863" y="3624263"/>
            <a:ext cx="5172075" cy="71755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📷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Ảnh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ĐÃ KHẮC PHỤC</a:t>
            </a:r>
          </a:p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(Sau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khi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chỉnh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sửa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)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88DE073-9E84-94D0-43F7-02BDEBC90E24}"/>
              </a:ext>
            </a:extLst>
          </p:cNvPr>
          <p:cNvSpPr/>
          <p:nvPr/>
        </p:nvSpPr>
        <p:spPr>
          <a:xfrm>
            <a:off x="12265025" y="1778000"/>
            <a:ext cx="5260975" cy="4660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2299" name="Text 14">
            <a:extLst>
              <a:ext uri="{FF2B5EF4-FFF2-40B4-BE49-F238E27FC236}">
                <a16:creationId xmlns:a16="http://schemas.microsoft.com/office/drawing/2014/main" id="{5A278397-547E-6CDB-3B5F-AAFB4D4DD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65025" y="1778000"/>
            <a:ext cx="526097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 b="1">
                <a:solidFill>
                  <a:srgbClr val="475569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HÌNH ẢNH CẬN CẢNH LỖI / CHI TIẾT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12300" name="PIC_VM_DETAIL">
            <a:extLst>
              <a:ext uri="{FF2B5EF4-FFF2-40B4-BE49-F238E27FC236}">
                <a16:creationId xmlns:a16="http://schemas.microsoft.com/office/drawing/2014/main" id="{5920197C-17AE-48DD-CB3E-24CB73202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53925" y="2370138"/>
            <a:ext cx="5083175" cy="3227387"/>
          </a:xfrm>
          <a:prstGeom prst="roundRect">
            <a:avLst>
              <a:gd name="adj" fmla="val 4444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8" name="TXT_VM_IMAGE_PLACEHOLDER_DETAIL">
            <a:extLst>
              <a:ext uri="{FF2B5EF4-FFF2-40B4-BE49-F238E27FC236}">
                <a16:creationId xmlns:a16="http://schemas.microsoft.com/office/drawing/2014/main" id="{30ED829E-7716-F6E2-43F2-0507298DF58C}"/>
              </a:ext>
            </a:extLst>
          </p:cNvPr>
          <p:cNvSpPr/>
          <p:nvPr/>
        </p:nvSpPr>
        <p:spPr>
          <a:xfrm>
            <a:off x="12353925" y="3624263"/>
            <a:ext cx="5083175" cy="71755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📷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Ảnh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cận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cảnh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lỗi</a:t>
            </a:r>
            <a:endParaRPr sz="1852">
              <a:solidFill>
                <a:srgbClr val="787878"/>
              </a:solidFill>
              <a:latin typeface="Abadi" panose="020B0604020104020204" pitchFamily="34" charset="0"/>
            </a:endParaRPr>
          </a:p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hoặc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hình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ảnh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chi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tiết</a:t>
            </a:r>
            <a:endParaRPr sz="1852">
              <a:solidFill>
                <a:srgbClr val="787878"/>
              </a:solidFill>
              <a:latin typeface="Abadi" panose="020B0604020104020204" pitchFamily="34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F36FFB0-667E-1F20-0FB0-E390E5E2FC13}"/>
              </a:ext>
            </a:extLst>
          </p:cNvPr>
          <p:cNvSpPr/>
          <p:nvPr/>
        </p:nvSpPr>
        <p:spPr>
          <a:xfrm>
            <a:off x="762000" y="6708775"/>
            <a:ext cx="10344150" cy="2689225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2303" name="Shape 18">
            <a:extLst>
              <a:ext uri="{FF2B5EF4-FFF2-40B4-BE49-F238E27FC236}">
                <a16:creationId xmlns:a16="http://schemas.microsoft.com/office/drawing/2014/main" id="{70F1E581-DE5F-7A88-B144-D9CF96609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708775"/>
            <a:ext cx="10344150" cy="573088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2304" name="Text 19">
            <a:extLst>
              <a:ext uri="{FF2B5EF4-FFF2-40B4-BE49-F238E27FC236}">
                <a16:creationId xmlns:a16="http://schemas.microsoft.com/office/drawing/2014/main" id="{0C40B559-5AA2-A543-53AD-F6AE2E9AB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6708775"/>
            <a:ext cx="10075862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300" b="1">
                <a:solidFill>
                  <a:srgbClr val="CC1A1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CHECKLIST KHU AN PHƯỚC (AP)</a:t>
            </a:r>
            <a:endParaRPr lang="en-US" altLang="en-US" sz="1200">
              <a:latin typeface="Abadi" panose="020B0604020104020204" pitchFamily="34" charset="0"/>
            </a:endParaRPr>
          </a:p>
        </p:txBody>
      </p:sp>
      <p:sp>
        <p:nvSpPr>
          <p:cNvPr id="12305" name="Text 21">
            <a:extLst>
              <a:ext uri="{FF2B5EF4-FFF2-40B4-BE49-F238E27FC236}">
                <a16:creationId xmlns:a16="http://schemas.microsoft.com/office/drawing/2014/main" id="{3B1AD881-6F00-A42B-7390-A6E8DF740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7353300"/>
            <a:ext cx="71342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Chạy màu từ sáng → tối đúng thứ tự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2306" name="Text 23">
            <a:extLst>
              <a:ext uri="{FF2B5EF4-FFF2-40B4-BE49-F238E27FC236}">
                <a16:creationId xmlns:a16="http://schemas.microsoft.com/office/drawing/2014/main" id="{2DE8B93D-8B74-B968-F643-4EE4F445B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7747000"/>
            <a:ext cx="71342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Thứ tự ưu tiên trưng bày đúng quy chuẩn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2307" name="Text 25">
            <a:extLst>
              <a:ext uri="{FF2B5EF4-FFF2-40B4-BE49-F238E27FC236}">
                <a16:creationId xmlns:a16="http://schemas.microsoft.com/office/drawing/2014/main" id="{F4BA7CCC-9911-285B-BCE9-A5B1A16A6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814228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Hàng hóa đầy đủ tag/mác, không lỗi dơ/sứt chỉ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2308" name="Text 27">
            <a:extLst>
              <a:ext uri="{FF2B5EF4-FFF2-40B4-BE49-F238E27FC236}">
                <a16:creationId xmlns:a16="http://schemas.microsoft.com/office/drawing/2014/main" id="{B19AF672-0728-71F8-2F4B-1634D9F9C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853598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Trưng bày đầy đủ mẫu &amp; size chủ lực bán chạy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2309" name="Text 29">
            <a:extLst>
              <a:ext uri="{FF2B5EF4-FFF2-40B4-BE49-F238E27FC236}">
                <a16:creationId xmlns:a16="http://schemas.microsoft.com/office/drawing/2014/main" id="{BFEA8265-CFEB-5388-4FA1-CC3CDD255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8931275"/>
            <a:ext cx="71342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Khu vực gọn gàng, không để thùng/bao bì lộ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0BA37BC-4FC9-5708-D287-3350C20181B1}"/>
              </a:ext>
            </a:extLst>
          </p:cNvPr>
          <p:cNvSpPr/>
          <p:nvPr/>
        </p:nvSpPr>
        <p:spPr>
          <a:xfrm>
            <a:off x="11463338" y="6708775"/>
            <a:ext cx="6062662" cy="268922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2311" name="Shape 31">
            <a:extLst>
              <a:ext uri="{FF2B5EF4-FFF2-40B4-BE49-F238E27FC236}">
                <a16:creationId xmlns:a16="http://schemas.microsoft.com/office/drawing/2014/main" id="{997BBF93-E976-E042-846B-CE1655082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3338" y="6708775"/>
            <a:ext cx="6062662" cy="573088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7C36BC3-EC02-DE6F-5950-F11CCC8945F3}"/>
              </a:ext>
            </a:extLst>
          </p:cNvPr>
          <p:cNvSpPr/>
          <p:nvPr/>
        </p:nvSpPr>
        <p:spPr>
          <a:xfrm>
            <a:off x="11676063" y="6708775"/>
            <a:ext cx="5797550" cy="57308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2340" b="1">
                <a:solidFill>
                  <a:srgbClr val="CC1A1A"/>
                </a:solidFill>
                <a:latin typeface="Abadi" panose="020B0604020104020204" pitchFamily="34" charset="0"/>
                <a:ea typeface="Arial" pitchFamily="34" charset="-122"/>
                <a:cs typeface="Arial" pitchFamily="34" charset="-120"/>
              </a:rPr>
              <a:t>ĐÁNH GIÁ</a:t>
            </a:r>
            <a:endParaRPr lang="en-US" sz="1200">
              <a:latin typeface="Abadi" panose="020B0604020104020204" pitchFamily="34" charset="0"/>
            </a:endParaRPr>
          </a:p>
        </p:txBody>
      </p:sp>
      <p:sp>
        <p:nvSpPr>
          <p:cNvPr id="12313" name="Text 33">
            <a:extLst>
              <a:ext uri="{FF2B5EF4-FFF2-40B4-BE49-F238E27FC236}">
                <a16:creationId xmlns:a16="http://schemas.microsoft.com/office/drawing/2014/main" id="{8A486A5F-AFA5-EEB3-FE10-CBA1FA317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0038" y="7461250"/>
            <a:ext cx="178435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Mức độ: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2314" name="SHP_RATING_TỐT">
            <a:extLst>
              <a:ext uri="{FF2B5EF4-FFF2-40B4-BE49-F238E27FC236}">
                <a16:creationId xmlns:a16="http://schemas.microsoft.com/office/drawing/2014/main" id="{1E0D345C-F6F9-7762-92B0-3FE86761D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0038" y="7999413"/>
            <a:ext cx="1641475" cy="447675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16A34A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2315" name="Text 35">
            <a:extLst>
              <a:ext uri="{FF2B5EF4-FFF2-40B4-BE49-F238E27FC236}">
                <a16:creationId xmlns:a16="http://schemas.microsoft.com/office/drawing/2014/main" id="{1BD739E9-776B-028A-C3CB-5A17D084F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0038" y="7999413"/>
            <a:ext cx="16414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700" b="1">
                <a:solidFill>
                  <a:srgbClr val="16A34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Tốt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2316" name="SHP_RATING_ĐẠT">
            <a:extLst>
              <a:ext uri="{FF2B5EF4-FFF2-40B4-BE49-F238E27FC236}">
                <a16:creationId xmlns:a16="http://schemas.microsoft.com/office/drawing/2014/main" id="{A7824B71-DD70-B5CF-D1F1-16F27304C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3288" y="7999413"/>
            <a:ext cx="1639887" cy="447675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1D4ED8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2317" name="Text 37">
            <a:extLst>
              <a:ext uri="{FF2B5EF4-FFF2-40B4-BE49-F238E27FC236}">
                <a16:creationId xmlns:a16="http://schemas.microsoft.com/office/drawing/2014/main" id="{E6917541-F9FE-F914-1FE7-B1C7EBF63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3288" y="7999413"/>
            <a:ext cx="1639887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700" b="1">
                <a:solidFill>
                  <a:srgbClr val="1D4ED8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Đạt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2318" name="SHP_RATING_CHƯAĐẠT">
            <a:extLst>
              <a:ext uri="{FF2B5EF4-FFF2-40B4-BE49-F238E27FC236}">
                <a16:creationId xmlns:a16="http://schemas.microsoft.com/office/drawing/2014/main" id="{23FE2DC3-E6A1-6DEF-C56A-C93C20307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4950" y="7999413"/>
            <a:ext cx="1641475" cy="447675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A580C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2319" name="Text 39">
            <a:extLst>
              <a:ext uri="{FF2B5EF4-FFF2-40B4-BE49-F238E27FC236}">
                <a16:creationId xmlns:a16="http://schemas.microsoft.com/office/drawing/2014/main" id="{93D4B717-2417-6D3F-B789-A3AB28348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4950" y="7999413"/>
            <a:ext cx="16414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700" b="1">
                <a:solidFill>
                  <a:srgbClr val="EA580C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Chưa đạt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2320" name="Shape 40">
            <a:extLst>
              <a:ext uri="{FF2B5EF4-FFF2-40B4-BE49-F238E27FC236}">
                <a16:creationId xmlns:a16="http://schemas.microsoft.com/office/drawing/2014/main" id="{8BF3F013-CF37-598D-2337-3F35C6882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0038" y="8555038"/>
            <a:ext cx="5529262" cy="628650"/>
          </a:xfrm>
          <a:prstGeom prst="roundRect">
            <a:avLst>
              <a:gd name="adj" fmla="val 2285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2321" name="TXT_VM_ERROR_COMMENT">
            <a:extLst>
              <a:ext uri="{FF2B5EF4-FFF2-40B4-BE49-F238E27FC236}">
                <a16:creationId xmlns:a16="http://schemas.microsoft.com/office/drawing/2014/main" id="{CD6ED051-48C0-68EC-20DE-7B885E70A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7838" y="8662988"/>
            <a:ext cx="51720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i="1">
                <a:solidFill>
                  <a:srgbClr val="BBBBB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Lỗi phát hiện: [Nêu rõ lỗi trưng bày tại đây]
-&gt; Hướng khắc phục: [Nêu cách xử lý đã thực hiện]</a:t>
            </a:r>
            <a:endParaRPr lang="en-US" altLang="en-US" sz="700">
              <a:latin typeface="Abadi" panose="020B0604020104020204" pitchFamily="34" charset="0"/>
            </a:endParaRPr>
          </a:p>
        </p:txBody>
      </p:sp>
      <p:sp>
        <p:nvSpPr>
          <p:cNvPr id="12322" name="TextBox 43">
            <a:extLst>
              <a:ext uri="{FF2B5EF4-FFF2-40B4-BE49-F238E27FC236}">
                <a16:creationId xmlns:a16="http://schemas.microsoft.com/office/drawing/2014/main" id="{65A4F9F7-3F60-7DC8-516E-43AE2B904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73125"/>
            <a:ext cx="16764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vi-VN" altLang="en-US" sz="2000" b="1">
                <a:solidFill>
                  <a:srgbClr val="0070C0"/>
                </a:solidFill>
              </a:rPr>
              <a:t>2.3. TRƯNG BÀY – KHU AN PHƯỚC (AP)</a:t>
            </a:r>
            <a:endParaRPr lang="en-US" altLang="en-US" sz="2000" b="1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D956750-7625-AF6D-A7FB-3821103867EC}"/>
              </a:ext>
            </a:extLst>
          </p:cNvPr>
          <p:cNvSpPr/>
          <p:nvPr/>
        </p:nvSpPr>
        <p:spPr>
          <a:xfrm>
            <a:off x="762000" y="1397000"/>
            <a:ext cx="16764000" cy="38100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2324" name="TextBox 46">
            <a:extLst>
              <a:ext uri="{FF2B5EF4-FFF2-40B4-BE49-F238E27FC236}">
                <a16:creationId xmlns:a16="http://schemas.microsoft.com/office/drawing/2014/main" id="{3E4F4CD9-B6C1-F2C7-C91A-C77C0F049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94275" y="9588500"/>
            <a:ext cx="85725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100">
                <a:solidFill>
                  <a:srgbClr val="646469"/>
                </a:solidFill>
                <a:latin typeface="Abadi" panose="020B0604020104020204" pitchFamily="34" charset="0"/>
              </a:rPr>
              <a:t>5</a:t>
            </a:r>
          </a:p>
        </p:txBody>
      </p:sp>
      <p:sp>
        <p:nvSpPr>
          <p:cNvPr id="12325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STORE_VM_ERROR_1</a:t>
            </a:r>
          </a:p>
        </p:txBody>
      </p:sp>
      <p:sp>
        <p:nvSpPr>
          <p:cNvPr id="12326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>
            <a:extLst>
              <a:ext uri="{FF2B5EF4-FFF2-40B4-BE49-F238E27FC236}">
                <a16:creationId xmlns:a16="http://schemas.microsoft.com/office/drawing/2014/main" id="{C6A321E8-451C-E9F8-B470-EAB8DCE79A48}"/>
              </a:ext>
            </a:extLst>
          </p:cNvPr>
          <p:cNvSpPr/>
          <p:nvPr/>
        </p:nvSpPr>
        <p:spPr>
          <a:xfrm>
            <a:off x="762000" y="1778000"/>
            <a:ext cx="5349875" cy="4660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4339" name="Text 6">
            <a:extLst>
              <a:ext uri="{FF2B5EF4-FFF2-40B4-BE49-F238E27FC236}">
                <a16:creationId xmlns:a16="http://schemas.microsoft.com/office/drawing/2014/main" id="{D4995E84-12ED-958F-5661-4DE13A04E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78000"/>
            <a:ext cx="534987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rgbClr val="CC1A1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ẢNH TRƯỚC KHI CHỈNH (LỖI VM PHÁT HIỆN)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4340" name="PIC_VM_BEFORE">
            <a:extLst>
              <a:ext uri="{FF2B5EF4-FFF2-40B4-BE49-F238E27FC236}">
                <a16:creationId xmlns:a16="http://schemas.microsoft.com/office/drawing/2014/main" id="{6A19F966-DB26-1184-FA03-C4F4D2BFF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" y="2370138"/>
            <a:ext cx="5172075" cy="3227387"/>
          </a:xfrm>
          <a:prstGeom prst="roundRect">
            <a:avLst>
              <a:gd name="adj" fmla="val 4444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0" name="TXT_VM_IMAGE_PLACEHOLDER_BEFORE">
            <a:extLst>
              <a:ext uri="{FF2B5EF4-FFF2-40B4-BE49-F238E27FC236}">
                <a16:creationId xmlns:a16="http://schemas.microsoft.com/office/drawing/2014/main" id="{9CE85D44-11C1-107E-51B5-3CE103D70A3E}"/>
              </a:ext>
            </a:extLst>
          </p:cNvPr>
          <p:cNvSpPr/>
          <p:nvPr/>
        </p:nvSpPr>
        <p:spPr>
          <a:xfrm>
            <a:off x="850900" y="3624263"/>
            <a:ext cx="5172075" cy="71755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📷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Ảnh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LỖI VM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phát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hiện</a:t>
            </a:r>
            <a:endParaRPr sz="1852">
              <a:solidFill>
                <a:srgbClr val="787878"/>
              </a:solidFill>
              <a:latin typeface="Abadi" panose="020B0604020104020204" pitchFamily="34" charset="0"/>
            </a:endParaRPr>
          </a:p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(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Trước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khi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chỉnh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sửa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)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81D67C7-D98B-07C9-9E6E-2151328545F0}"/>
              </a:ext>
            </a:extLst>
          </p:cNvPr>
          <p:cNvSpPr/>
          <p:nvPr/>
        </p:nvSpPr>
        <p:spPr>
          <a:xfrm>
            <a:off x="6557963" y="1778000"/>
            <a:ext cx="5349875" cy="4660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4343" name="Text 10">
            <a:extLst>
              <a:ext uri="{FF2B5EF4-FFF2-40B4-BE49-F238E27FC236}">
                <a16:creationId xmlns:a16="http://schemas.microsoft.com/office/drawing/2014/main" id="{DEDA1BD6-4403-D683-0C86-C17E4A9BD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963" y="1778000"/>
            <a:ext cx="534987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rgbClr val="16A34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ẢNH SAU KHI CHỈNH (ĐÃ KHẮC PHỤC)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4344" name="PIC_VM_AFTER">
            <a:extLst>
              <a:ext uri="{FF2B5EF4-FFF2-40B4-BE49-F238E27FC236}">
                <a16:creationId xmlns:a16="http://schemas.microsoft.com/office/drawing/2014/main" id="{226318B0-A02C-881D-75C5-B997F7558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6863" y="2370138"/>
            <a:ext cx="5172075" cy="3227387"/>
          </a:xfrm>
          <a:prstGeom prst="roundRect">
            <a:avLst>
              <a:gd name="adj" fmla="val 4444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4" name="TXT_VM_IMAGE_PLACEHOLDER_AFTER">
            <a:extLst>
              <a:ext uri="{FF2B5EF4-FFF2-40B4-BE49-F238E27FC236}">
                <a16:creationId xmlns:a16="http://schemas.microsoft.com/office/drawing/2014/main" id="{422CE9EF-5F48-F6F6-5EFF-C9D6ED30A862}"/>
              </a:ext>
            </a:extLst>
          </p:cNvPr>
          <p:cNvSpPr/>
          <p:nvPr/>
        </p:nvSpPr>
        <p:spPr>
          <a:xfrm>
            <a:off x="6646863" y="3624263"/>
            <a:ext cx="5172075" cy="71755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📷 Ảnh ĐÃ KHẮC PHỤC</a:t>
            </a:r>
          </a:p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(Sau khi chỉnh sửa)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DB4D2C1-1D19-22AE-7F88-EA40D1A49B0A}"/>
              </a:ext>
            </a:extLst>
          </p:cNvPr>
          <p:cNvSpPr/>
          <p:nvPr/>
        </p:nvSpPr>
        <p:spPr>
          <a:xfrm>
            <a:off x="12265025" y="1778000"/>
            <a:ext cx="5260975" cy="4660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4347" name="Text 14">
            <a:extLst>
              <a:ext uri="{FF2B5EF4-FFF2-40B4-BE49-F238E27FC236}">
                <a16:creationId xmlns:a16="http://schemas.microsoft.com/office/drawing/2014/main" id="{89E6D4AD-E599-FD6E-98EE-1F2DD2BAB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65025" y="1778000"/>
            <a:ext cx="526097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rgbClr val="475569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HÌNH ẢNH CẬN CẢNH LỖI / CHI TIẾT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4348" name="PIC_VM_DETAIL">
            <a:extLst>
              <a:ext uri="{FF2B5EF4-FFF2-40B4-BE49-F238E27FC236}">
                <a16:creationId xmlns:a16="http://schemas.microsoft.com/office/drawing/2014/main" id="{4C23BD27-DF47-F181-CE3C-A51DC6F43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53925" y="2370138"/>
            <a:ext cx="5083175" cy="3227387"/>
          </a:xfrm>
          <a:prstGeom prst="roundRect">
            <a:avLst>
              <a:gd name="adj" fmla="val 4444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8" name="TXT_VM_IMAGE_PLACEHOLDER_DETAIL">
            <a:extLst>
              <a:ext uri="{FF2B5EF4-FFF2-40B4-BE49-F238E27FC236}">
                <a16:creationId xmlns:a16="http://schemas.microsoft.com/office/drawing/2014/main" id="{021776A9-E3F4-00C9-FF85-E30821209C54}"/>
              </a:ext>
            </a:extLst>
          </p:cNvPr>
          <p:cNvSpPr/>
          <p:nvPr/>
        </p:nvSpPr>
        <p:spPr>
          <a:xfrm>
            <a:off x="12353925" y="3624263"/>
            <a:ext cx="5083175" cy="71755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📷 Ảnh cận cảnh lỗi</a:t>
            </a:r>
          </a:p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hoặc hình ảnh chi tiết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EFD53B5-45AE-A9F8-7379-037BD8457488}"/>
              </a:ext>
            </a:extLst>
          </p:cNvPr>
          <p:cNvSpPr/>
          <p:nvPr/>
        </p:nvSpPr>
        <p:spPr>
          <a:xfrm>
            <a:off x="762000" y="6708775"/>
            <a:ext cx="10344150" cy="2689225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4351" name="Shape 18">
            <a:extLst>
              <a:ext uri="{FF2B5EF4-FFF2-40B4-BE49-F238E27FC236}">
                <a16:creationId xmlns:a16="http://schemas.microsoft.com/office/drawing/2014/main" id="{F7895BD9-4E17-E93D-9B94-61E2A6B4C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708775"/>
            <a:ext cx="10344150" cy="573088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A2D273C-9570-FBE7-AE10-4284BBB830AA}"/>
              </a:ext>
            </a:extLst>
          </p:cNvPr>
          <p:cNvSpPr/>
          <p:nvPr/>
        </p:nvSpPr>
        <p:spPr>
          <a:xfrm>
            <a:off x="976313" y="6708775"/>
            <a:ext cx="10075862" cy="57308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2340" b="1">
                <a:solidFill>
                  <a:srgbClr val="CC1A1A"/>
                </a:solidFill>
                <a:latin typeface="Abadi" panose="020B0604020104020204" pitchFamily="34" charset="0"/>
                <a:ea typeface="Arial" pitchFamily="34" charset="-122"/>
                <a:cs typeface="Arial" pitchFamily="34" charset="-120"/>
              </a:rPr>
              <a:t>CHECKLIST KHU PIERRE CARDIN (PIE)</a:t>
            </a:r>
            <a:endParaRPr lang="en-US" sz="1200">
              <a:latin typeface="Abadi" panose="020B0604020104020204" pitchFamily="34" charset="0"/>
            </a:endParaRPr>
          </a:p>
        </p:txBody>
      </p:sp>
      <p:sp>
        <p:nvSpPr>
          <p:cNvPr id="14353" name="Text 21">
            <a:extLst>
              <a:ext uri="{FF2B5EF4-FFF2-40B4-BE49-F238E27FC236}">
                <a16:creationId xmlns:a16="http://schemas.microsoft.com/office/drawing/2014/main" id="{752FB5AB-6BA7-00AD-39E2-D7AD5C3D6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7277100"/>
            <a:ext cx="71342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Chạy màu từ sáng → tối đúng thứ tự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4354" name="Text 23">
            <a:extLst>
              <a:ext uri="{FF2B5EF4-FFF2-40B4-BE49-F238E27FC236}">
                <a16:creationId xmlns:a16="http://schemas.microsoft.com/office/drawing/2014/main" id="{C8253E4A-F7E7-039C-44BA-334830EDE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7670800"/>
            <a:ext cx="71342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Thứ tự ưu tiên trưng bày đúng quy chuẩn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4355" name="Text 25">
            <a:extLst>
              <a:ext uri="{FF2B5EF4-FFF2-40B4-BE49-F238E27FC236}">
                <a16:creationId xmlns:a16="http://schemas.microsoft.com/office/drawing/2014/main" id="{AA57EFC8-8FB9-412E-744C-540B847E4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806608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Hàng hóa đầy đủ tag/mác, không lỗi dơ/sứt chỉ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4356" name="Text 27">
            <a:extLst>
              <a:ext uri="{FF2B5EF4-FFF2-40B4-BE49-F238E27FC236}">
                <a16:creationId xmlns:a16="http://schemas.microsoft.com/office/drawing/2014/main" id="{12F83F54-E1F5-6F02-A37E-C850F32B6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845978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Trưng bày đầy đủ mẫu &amp; size chủ lực bán chạy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4357" name="Text 29">
            <a:extLst>
              <a:ext uri="{FF2B5EF4-FFF2-40B4-BE49-F238E27FC236}">
                <a16:creationId xmlns:a16="http://schemas.microsoft.com/office/drawing/2014/main" id="{50610E47-7999-8697-8355-2FFC63E98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8855075"/>
            <a:ext cx="71342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Khu vực gọn gàng, không để thùng/bao bì lộ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5EC4B56-A62A-71F7-F104-AE7D20199398}"/>
              </a:ext>
            </a:extLst>
          </p:cNvPr>
          <p:cNvSpPr/>
          <p:nvPr/>
        </p:nvSpPr>
        <p:spPr>
          <a:xfrm>
            <a:off x="11463338" y="6708775"/>
            <a:ext cx="6062662" cy="268922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4359" name="Shape 31">
            <a:extLst>
              <a:ext uri="{FF2B5EF4-FFF2-40B4-BE49-F238E27FC236}">
                <a16:creationId xmlns:a16="http://schemas.microsoft.com/office/drawing/2014/main" id="{455DB71D-295F-268A-8070-137EF4875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3338" y="6708775"/>
            <a:ext cx="6062662" cy="573088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A8281C2-DED0-259A-2283-288A9B6B99B7}"/>
              </a:ext>
            </a:extLst>
          </p:cNvPr>
          <p:cNvSpPr/>
          <p:nvPr/>
        </p:nvSpPr>
        <p:spPr>
          <a:xfrm>
            <a:off x="11676063" y="6708775"/>
            <a:ext cx="5797550" cy="57308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2340" b="1">
                <a:solidFill>
                  <a:srgbClr val="CC1A1A"/>
                </a:solidFill>
                <a:latin typeface="Abadi" panose="020B0604020104020204" pitchFamily="34" charset="0"/>
                <a:ea typeface="Arial" pitchFamily="34" charset="-122"/>
                <a:cs typeface="Arial" pitchFamily="34" charset="-120"/>
              </a:rPr>
              <a:t>ĐÁNH GIÁ</a:t>
            </a:r>
            <a:endParaRPr lang="en-US" sz="1200">
              <a:latin typeface="Abadi" panose="020B0604020104020204" pitchFamily="34" charset="0"/>
            </a:endParaRPr>
          </a:p>
        </p:txBody>
      </p:sp>
      <p:sp>
        <p:nvSpPr>
          <p:cNvPr id="14361" name="Text 33">
            <a:extLst>
              <a:ext uri="{FF2B5EF4-FFF2-40B4-BE49-F238E27FC236}">
                <a16:creationId xmlns:a16="http://schemas.microsoft.com/office/drawing/2014/main" id="{3877F173-4E25-BC45-9A73-DE4A37E1B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0038" y="7461250"/>
            <a:ext cx="178435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Mức độ: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4362" name="SHP_RATING_TỐT">
            <a:extLst>
              <a:ext uri="{FF2B5EF4-FFF2-40B4-BE49-F238E27FC236}">
                <a16:creationId xmlns:a16="http://schemas.microsoft.com/office/drawing/2014/main" id="{11C1141A-467F-CF11-BF8D-F9DC87756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0038" y="7999413"/>
            <a:ext cx="1641475" cy="447675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16A34A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4363" name="Text 35">
            <a:extLst>
              <a:ext uri="{FF2B5EF4-FFF2-40B4-BE49-F238E27FC236}">
                <a16:creationId xmlns:a16="http://schemas.microsoft.com/office/drawing/2014/main" id="{D3492EFA-CD80-30B1-2CDE-EAAB655B8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0038" y="7999413"/>
            <a:ext cx="16414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700" b="1">
                <a:solidFill>
                  <a:srgbClr val="16A34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Tốt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4364" name="SHP_RATING_ĐẠT">
            <a:extLst>
              <a:ext uri="{FF2B5EF4-FFF2-40B4-BE49-F238E27FC236}">
                <a16:creationId xmlns:a16="http://schemas.microsoft.com/office/drawing/2014/main" id="{B35C5F4A-C377-31C9-012C-8E5AFCCD6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3288" y="7999413"/>
            <a:ext cx="1639887" cy="447675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1D4ED8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4365" name="Text 37">
            <a:extLst>
              <a:ext uri="{FF2B5EF4-FFF2-40B4-BE49-F238E27FC236}">
                <a16:creationId xmlns:a16="http://schemas.microsoft.com/office/drawing/2014/main" id="{3319304A-4481-D632-8A66-D6E4B6EA9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3288" y="7999413"/>
            <a:ext cx="1639887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700" b="1">
                <a:solidFill>
                  <a:srgbClr val="1D4ED8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Đạt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4366" name="SHP_RATING_CHƯAĐẠT">
            <a:extLst>
              <a:ext uri="{FF2B5EF4-FFF2-40B4-BE49-F238E27FC236}">
                <a16:creationId xmlns:a16="http://schemas.microsoft.com/office/drawing/2014/main" id="{E9612AFD-F4EB-708E-9FFB-00068A7F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4950" y="7999413"/>
            <a:ext cx="1641475" cy="447675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A580C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4367" name="Text 39">
            <a:extLst>
              <a:ext uri="{FF2B5EF4-FFF2-40B4-BE49-F238E27FC236}">
                <a16:creationId xmlns:a16="http://schemas.microsoft.com/office/drawing/2014/main" id="{9BCFC9A6-BD4B-3F5D-8E4C-2BF32A0D2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4950" y="7999413"/>
            <a:ext cx="16414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700" b="1">
                <a:solidFill>
                  <a:srgbClr val="EA580C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Chưa đạt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4368" name="Shape 40">
            <a:extLst>
              <a:ext uri="{FF2B5EF4-FFF2-40B4-BE49-F238E27FC236}">
                <a16:creationId xmlns:a16="http://schemas.microsoft.com/office/drawing/2014/main" id="{5A56D386-E39F-C136-E7DD-60A269829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0038" y="8555038"/>
            <a:ext cx="5529262" cy="628650"/>
          </a:xfrm>
          <a:prstGeom prst="roundRect">
            <a:avLst>
              <a:gd name="adj" fmla="val 2285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4369" name="TXT_VM_ERROR_COMMENT">
            <a:extLst>
              <a:ext uri="{FF2B5EF4-FFF2-40B4-BE49-F238E27FC236}">
                <a16:creationId xmlns:a16="http://schemas.microsoft.com/office/drawing/2014/main" id="{44249A7A-F6E4-D477-609F-C265F9962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7838" y="8662988"/>
            <a:ext cx="51720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i="1">
                <a:solidFill>
                  <a:srgbClr val="BBBBB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Lỗi phát hiện: [Nêu rõ lỗi trưng bày tại đây]
-&gt; Hướng khắc phục: [Nêu cách xử lý đã thực hiện]</a:t>
            </a:r>
            <a:endParaRPr lang="en-US" altLang="en-US" sz="700">
              <a:latin typeface="Abadi" panose="020B0604020104020204" pitchFamily="34" charset="0"/>
            </a:endParaRPr>
          </a:p>
        </p:txBody>
      </p:sp>
      <p:sp>
        <p:nvSpPr>
          <p:cNvPr id="14370" name="TextBox 43">
            <a:extLst>
              <a:ext uri="{FF2B5EF4-FFF2-40B4-BE49-F238E27FC236}">
                <a16:creationId xmlns:a16="http://schemas.microsoft.com/office/drawing/2014/main" id="{253D8E17-5AC3-B35A-0AB0-DCB9BF185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73125"/>
            <a:ext cx="16764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vi-VN" altLang="en-US" sz="2000" b="1">
                <a:solidFill>
                  <a:srgbClr val="0070C0"/>
                </a:solidFill>
              </a:rPr>
              <a:t>2.4. TRƯNG BÀY – KHU PIERRE CARDIN (PIE)</a:t>
            </a:r>
            <a:endParaRPr lang="en-US" altLang="en-US" sz="2000" b="1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30E0DE2-263D-6EB8-5116-623A0E2C7574}"/>
              </a:ext>
            </a:extLst>
          </p:cNvPr>
          <p:cNvSpPr/>
          <p:nvPr/>
        </p:nvSpPr>
        <p:spPr>
          <a:xfrm>
            <a:off x="762000" y="1397000"/>
            <a:ext cx="16764000" cy="38100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4372" name="TextBox 46">
            <a:extLst>
              <a:ext uri="{FF2B5EF4-FFF2-40B4-BE49-F238E27FC236}">
                <a16:creationId xmlns:a16="http://schemas.microsoft.com/office/drawing/2014/main" id="{9387A281-DD72-16B2-1885-E9A3E6DDC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94275" y="9588500"/>
            <a:ext cx="85725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100">
                <a:solidFill>
                  <a:srgbClr val="646469"/>
                </a:solidFill>
                <a:latin typeface="Abadi" panose="020B0604020104020204" pitchFamily="34" charset="0"/>
              </a:rPr>
              <a:t>6</a:t>
            </a:r>
          </a:p>
        </p:txBody>
      </p:sp>
      <p:sp>
        <p:nvSpPr>
          <p:cNvPr id="14373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STORE_VM_ERROR_2</a:t>
            </a:r>
          </a:p>
        </p:txBody>
      </p:sp>
      <p:sp>
        <p:nvSpPr>
          <p:cNvPr id="14374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>
            <a:extLst>
              <a:ext uri="{FF2B5EF4-FFF2-40B4-BE49-F238E27FC236}">
                <a16:creationId xmlns:a16="http://schemas.microsoft.com/office/drawing/2014/main" id="{45712F04-6567-72A5-E3CD-8246C027110F}"/>
              </a:ext>
            </a:extLst>
          </p:cNvPr>
          <p:cNvSpPr/>
          <p:nvPr/>
        </p:nvSpPr>
        <p:spPr>
          <a:xfrm>
            <a:off x="762000" y="1778000"/>
            <a:ext cx="5349875" cy="4660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5363" name="Text 6">
            <a:extLst>
              <a:ext uri="{FF2B5EF4-FFF2-40B4-BE49-F238E27FC236}">
                <a16:creationId xmlns:a16="http://schemas.microsoft.com/office/drawing/2014/main" id="{C4A67F7D-740E-81A4-BED7-11E410980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78000"/>
            <a:ext cx="534987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rgbClr val="CC1A1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ẢNH TRƯỚC KHI CHỈNH (LỖI VM PHÁT HIỆN)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5364" name="PIC_VM_BEFORE">
            <a:extLst>
              <a:ext uri="{FF2B5EF4-FFF2-40B4-BE49-F238E27FC236}">
                <a16:creationId xmlns:a16="http://schemas.microsoft.com/office/drawing/2014/main" id="{A32D9A1B-32F3-69F8-60C2-76DD37BC8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" y="2370138"/>
            <a:ext cx="5172075" cy="3227387"/>
          </a:xfrm>
          <a:prstGeom prst="roundRect">
            <a:avLst>
              <a:gd name="adj" fmla="val 4444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0" name="TXT_VM_IMAGE_PLACEHOLDER_BEFORE">
            <a:extLst>
              <a:ext uri="{FF2B5EF4-FFF2-40B4-BE49-F238E27FC236}">
                <a16:creationId xmlns:a16="http://schemas.microsoft.com/office/drawing/2014/main" id="{E119F6BC-77E2-C7F4-99E4-FC1DB99E3C15}"/>
              </a:ext>
            </a:extLst>
          </p:cNvPr>
          <p:cNvSpPr/>
          <p:nvPr/>
        </p:nvSpPr>
        <p:spPr>
          <a:xfrm>
            <a:off x="850900" y="3624263"/>
            <a:ext cx="5172075" cy="71755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📷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Ảnh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LỖI VM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phát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hiện</a:t>
            </a:r>
            <a:endParaRPr sz="1852">
              <a:solidFill>
                <a:srgbClr val="787878"/>
              </a:solidFill>
              <a:latin typeface="Abadi" panose="020B0604020104020204" pitchFamily="34" charset="0"/>
            </a:endParaRPr>
          </a:p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(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Trước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khi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chỉnh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sửa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)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5904A88-17DF-A5DA-5922-B0F77039D5ED}"/>
              </a:ext>
            </a:extLst>
          </p:cNvPr>
          <p:cNvSpPr/>
          <p:nvPr/>
        </p:nvSpPr>
        <p:spPr>
          <a:xfrm>
            <a:off x="6557963" y="1778000"/>
            <a:ext cx="5349875" cy="4660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5367" name="Text 10">
            <a:extLst>
              <a:ext uri="{FF2B5EF4-FFF2-40B4-BE49-F238E27FC236}">
                <a16:creationId xmlns:a16="http://schemas.microsoft.com/office/drawing/2014/main" id="{0161B1AA-EF2F-F669-569D-6DF2358E8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963" y="1778000"/>
            <a:ext cx="534987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rgbClr val="16A34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ẢNH SAU KHI CHỈNH (ĐÃ KHẮC PHỤC)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5368" name="PIC_VM_AFTER">
            <a:extLst>
              <a:ext uri="{FF2B5EF4-FFF2-40B4-BE49-F238E27FC236}">
                <a16:creationId xmlns:a16="http://schemas.microsoft.com/office/drawing/2014/main" id="{5AFDCA44-91AD-F577-EED5-E389F9B3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6863" y="2370138"/>
            <a:ext cx="5172075" cy="3227387"/>
          </a:xfrm>
          <a:prstGeom prst="roundRect">
            <a:avLst>
              <a:gd name="adj" fmla="val 4444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4" name="TXT_VM_IMAGE_PLACEHOLDER_AFTER">
            <a:extLst>
              <a:ext uri="{FF2B5EF4-FFF2-40B4-BE49-F238E27FC236}">
                <a16:creationId xmlns:a16="http://schemas.microsoft.com/office/drawing/2014/main" id="{BE61BBAF-7711-961A-486C-E03483D55B50}"/>
              </a:ext>
            </a:extLst>
          </p:cNvPr>
          <p:cNvSpPr/>
          <p:nvPr/>
        </p:nvSpPr>
        <p:spPr>
          <a:xfrm>
            <a:off x="6646863" y="3624263"/>
            <a:ext cx="5172075" cy="71755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📷 Ảnh ĐÃ KHẮC PHỤC</a:t>
            </a:r>
          </a:p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(Sau khi chỉnh sửa)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169365F-3933-7A87-0DCD-4ED5F2B74E83}"/>
              </a:ext>
            </a:extLst>
          </p:cNvPr>
          <p:cNvSpPr/>
          <p:nvPr/>
        </p:nvSpPr>
        <p:spPr>
          <a:xfrm>
            <a:off x="12265025" y="1778000"/>
            <a:ext cx="5260975" cy="4660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5371" name="Text 14">
            <a:extLst>
              <a:ext uri="{FF2B5EF4-FFF2-40B4-BE49-F238E27FC236}">
                <a16:creationId xmlns:a16="http://schemas.microsoft.com/office/drawing/2014/main" id="{39837F65-6031-A8A1-32F0-115A3BBF1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65025" y="1778000"/>
            <a:ext cx="526097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rgbClr val="475569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HÌNH ẢNH CẬN CẢNH LỖI / CHI TIẾT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5372" name="PIC_VM_DETAIL">
            <a:extLst>
              <a:ext uri="{FF2B5EF4-FFF2-40B4-BE49-F238E27FC236}">
                <a16:creationId xmlns:a16="http://schemas.microsoft.com/office/drawing/2014/main" id="{CDE414C5-F740-6AA5-947F-EB6A8E61F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53925" y="2370138"/>
            <a:ext cx="5083175" cy="3227387"/>
          </a:xfrm>
          <a:prstGeom prst="roundRect">
            <a:avLst>
              <a:gd name="adj" fmla="val 4444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8" name="TXT_VM_IMAGE_PLACEHOLDER_DETAIL">
            <a:extLst>
              <a:ext uri="{FF2B5EF4-FFF2-40B4-BE49-F238E27FC236}">
                <a16:creationId xmlns:a16="http://schemas.microsoft.com/office/drawing/2014/main" id="{70890214-C08C-5DE1-932A-CDA545B95683}"/>
              </a:ext>
            </a:extLst>
          </p:cNvPr>
          <p:cNvSpPr/>
          <p:nvPr/>
        </p:nvSpPr>
        <p:spPr>
          <a:xfrm>
            <a:off x="12353925" y="3624263"/>
            <a:ext cx="5083175" cy="71755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📷 Ảnh cận cảnh lỗi</a:t>
            </a:r>
          </a:p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hoặc hình ảnh chi tiết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05DD14F-5895-04C1-D17B-7EA249EED11A}"/>
              </a:ext>
            </a:extLst>
          </p:cNvPr>
          <p:cNvSpPr/>
          <p:nvPr/>
        </p:nvSpPr>
        <p:spPr>
          <a:xfrm>
            <a:off x="762000" y="6708775"/>
            <a:ext cx="10344150" cy="2689225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5375" name="Shape 18">
            <a:extLst>
              <a:ext uri="{FF2B5EF4-FFF2-40B4-BE49-F238E27FC236}">
                <a16:creationId xmlns:a16="http://schemas.microsoft.com/office/drawing/2014/main" id="{C08AE6A1-FBF3-1E10-B022-494D40B22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708775"/>
            <a:ext cx="10344150" cy="573088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8DD90EE-FB6C-933A-977C-86C669CAB760}"/>
              </a:ext>
            </a:extLst>
          </p:cNvPr>
          <p:cNvSpPr/>
          <p:nvPr/>
        </p:nvSpPr>
        <p:spPr>
          <a:xfrm>
            <a:off x="976313" y="6708775"/>
            <a:ext cx="10075862" cy="57308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2340" b="1">
                <a:solidFill>
                  <a:srgbClr val="CC1A1A"/>
                </a:solidFill>
                <a:latin typeface="Abadi" panose="020B0604020104020204" pitchFamily="34" charset="0"/>
                <a:ea typeface="Arial" pitchFamily="34" charset="-122"/>
                <a:cs typeface="Arial" pitchFamily="34" charset="-120"/>
              </a:rPr>
              <a:t>CHECKLIST – ANAMAI &amp; BONJOUR</a:t>
            </a:r>
            <a:endParaRPr lang="en-US" sz="1200" dirty="0">
              <a:latin typeface="Abadi" panose="020B0604020104020204" pitchFamily="34" charset="0"/>
            </a:endParaRPr>
          </a:p>
        </p:txBody>
      </p:sp>
      <p:sp>
        <p:nvSpPr>
          <p:cNvPr id="15377" name="Shape 20">
            <a:extLst>
              <a:ext uri="{FF2B5EF4-FFF2-40B4-BE49-F238E27FC236}">
                <a16:creationId xmlns:a16="http://schemas.microsoft.com/office/drawing/2014/main" id="{DDCF7F06-EFF6-6B15-E78C-24AC86DEA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7348538"/>
            <a:ext cx="392112" cy="395287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5378" name="Text 21">
            <a:extLst>
              <a:ext uri="{FF2B5EF4-FFF2-40B4-BE49-F238E27FC236}">
                <a16:creationId xmlns:a16="http://schemas.microsoft.com/office/drawing/2014/main" id="{C0B80C2F-629D-9FBB-05C2-2DADEA842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7277100"/>
            <a:ext cx="71342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Chạy màu từ sáng → tối đúng thứ tự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5379" name="Shape 22">
            <a:extLst>
              <a:ext uri="{FF2B5EF4-FFF2-40B4-BE49-F238E27FC236}">
                <a16:creationId xmlns:a16="http://schemas.microsoft.com/office/drawing/2014/main" id="{6CA8F455-5876-B293-83ED-FBC2046DE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7743825"/>
            <a:ext cx="392112" cy="39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5380" name="Text 23">
            <a:extLst>
              <a:ext uri="{FF2B5EF4-FFF2-40B4-BE49-F238E27FC236}">
                <a16:creationId xmlns:a16="http://schemas.microsoft.com/office/drawing/2014/main" id="{8913D853-A850-1626-8AE0-02320B248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7670800"/>
            <a:ext cx="71342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Thứ tự ưu tiên trưng bày đúng quy chuẩn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5381" name="Shape 24">
            <a:extLst>
              <a:ext uri="{FF2B5EF4-FFF2-40B4-BE49-F238E27FC236}">
                <a16:creationId xmlns:a16="http://schemas.microsoft.com/office/drawing/2014/main" id="{E0A3E47C-B5B9-01A3-CD0C-7533587F8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8137525"/>
            <a:ext cx="392112" cy="395288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5382" name="Text 25">
            <a:extLst>
              <a:ext uri="{FF2B5EF4-FFF2-40B4-BE49-F238E27FC236}">
                <a16:creationId xmlns:a16="http://schemas.microsoft.com/office/drawing/2014/main" id="{7D36C2F5-1C82-5AE2-7F02-8B572B4BD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806608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Hàng hóa đầy đủ tag/mác, không lỗi dơ/sứt chỉ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5383" name="Shape 26">
            <a:extLst>
              <a:ext uri="{FF2B5EF4-FFF2-40B4-BE49-F238E27FC236}">
                <a16:creationId xmlns:a16="http://schemas.microsoft.com/office/drawing/2014/main" id="{DFE0100E-F56D-21DC-5BF3-EC9171085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8532813"/>
            <a:ext cx="392112" cy="39370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5384" name="Text 27">
            <a:extLst>
              <a:ext uri="{FF2B5EF4-FFF2-40B4-BE49-F238E27FC236}">
                <a16:creationId xmlns:a16="http://schemas.microsoft.com/office/drawing/2014/main" id="{ECA10287-BA8E-F699-7A84-8980D37CE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845978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Trưng bày đầy đủ mẫu &amp; size chủ lực bán chạy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5385" name="Shape 28">
            <a:extLst>
              <a:ext uri="{FF2B5EF4-FFF2-40B4-BE49-F238E27FC236}">
                <a16:creationId xmlns:a16="http://schemas.microsoft.com/office/drawing/2014/main" id="{2FA58A64-8194-3BE3-35A4-50C291B48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8926513"/>
            <a:ext cx="392112" cy="395287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5386" name="Text 29">
            <a:extLst>
              <a:ext uri="{FF2B5EF4-FFF2-40B4-BE49-F238E27FC236}">
                <a16:creationId xmlns:a16="http://schemas.microsoft.com/office/drawing/2014/main" id="{5DA3AA99-54E6-0DB0-F3BD-48684699C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8855075"/>
            <a:ext cx="71342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Khu vực gọn gàng, không để thùng/bao bì lộ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47AB1D10-703E-F212-F266-5F27D8059BD8}"/>
              </a:ext>
            </a:extLst>
          </p:cNvPr>
          <p:cNvSpPr/>
          <p:nvPr/>
        </p:nvSpPr>
        <p:spPr>
          <a:xfrm>
            <a:off x="11463338" y="6708775"/>
            <a:ext cx="6062662" cy="268922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5388" name="Shape 31">
            <a:extLst>
              <a:ext uri="{FF2B5EF4-FFF2-40B4-BE49-F238E27FC236}">
                <a16:creationId xmlns:a16="http://schemas.microsoft.com/office/drawing/2014/main" id="{5FD433E7-E2C3-6F0C-806F-BA4930870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3338" y="6708775"/>
            <a:ext cx="6062662" cy="573088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F5F74FE-1155-8D94-AB55-EF8FA720EC3D}"/>
              </a:ext>
            </a:extLst>
          </p:cNvPr>
          <p:cNvSpPr/>
          <p:nvPr/>
        </p:nvSpPr>
        <p:spPr>
          <a:xfrm>
            <a:off x="11676063" y="6708775"/>
            <a:ext cx="5797550" cy="57308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2340" b="1">
                <a:solidFill>
                  <a:srgbClr val="CC1A1A"/>
                </a:solidFill>
                <a:latin typeface="Abadi" panose="020B0604020104020204" pitchFamily="34" charset="0"/>
                <a:ea typeface="Arial" pitchFamily="34" charset="-122"/>
                <a:cs typeface="Arial" pitchFamily="34" charset="-120"/>
              </a:rPr>
              <a:t>ĐÁNH GIÁ</a:t>
            </a:r>
            <a:endParaRPr lang="en-US" sz="1200">
              <a:latin typeface="Abadi" panose="020B0604020104020204" pitchFamily="34" charset="0"/>
            </a:endParaRPr>
          </a:p>
        </p:txBody>
      </p:sp>
      <p:sp>
        <p:nvSpPr>
          <p:cNvPr id="15390" name="Text 33">
            <a:extLst>
              <a:ext uri="{FF2B5EF4-FFF2-40B4-BE49-F238E27FC236}">
                <a16:creationId xmlns:a16="http://schemas.microsoft.com/office/drawing/2014/main" id="{A2ACF5AF-9044-31B4-2125-FDCEDE342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0038" y="7461250"/>
            <a:ext cx="178435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Mức độ: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5391" name="SHP_RATING_TỐT">
            <a:extLst>
              <a:ext uri="{FF2B5EF4-FFF2-40B4-BE49-F238E27FC236}">
                <a16:creationId xmlns:a16="http://schemas.microsoft.com/office/drawing/2014/main" id="{AFB760A0-08E1-3A66-5076-D22100F08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0038" y="7999413"/>
            <a:ext cx="1641475" cy="447675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16A34A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5392" name="Text 35">
            <a:extLst>
              <a:ext uri="{FF2B5EF4-FFF2-40B4-BE49-F238E27FC236}">
                <a16:creationId xmlns:a16="http://schemas.microsoft.com/office/drawing/2014/main" id="{2C57B898-329F-31FF-01D5-EAF5A68A1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0038" y="7999413"/>
            <a:ext cx="16414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700" b="1">
                <a:solidFill>
                  <a:srgbClr val="16A34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Tốt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5393" name="SHP_RATING_ĐẠT">
            <a:extLst>
              <a:ext uri="{FF2B5EF4-FFF2-40B4-BE49-F238E27FC236}">
                <a16:creationId xmlns:a16="http://schemas.microsoft.com/office/drawing/2014/main" id="{0040C5B9-A665-41B0-8074-DA9FAB56C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3288" y="7999413"/>
            <a:ext cx="1639887" cy="447675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1D4ED8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5394" name="Text 37">
            <a:extLst>
              <a:ext uri="{FF2B5EF4-FFF2-40B4-BE49-F238E27FC236}">
                <a16:creationId xmlns:a16="http://schemas.microsoft.com/office/drawing/2014/main" id="{113764A9-786A-953F-A0D4-7182CB85B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3288" y="7999413"/>
            <a:ext cx="1639887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700" b="1">
                <a:solidFill>
                  <a:srgbClr val="1D4ED8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Đạt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5395" name="SHP_RATING_CHƯAĐẠT">
            <a:extLst>
              <a:ext uri="{FF2B5EF4-FFF2-40B4-BE49-F238E27FC236}">
                <a16:creationId xmlns:a16="http://schemas.microsoft.com/office/drawing/2014/main" id="{E7352060-FDD4-6C7A-BA09-4DE34C5F3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4950" y="7999413"/>
            <a:ext cx="1641475" cy="447675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A580C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5396" name="Text 39">
            <a:extLst>
              <a:ext uri="{FF2B5EF4-FFF2-40B4-BE49-F238E27FC236}">
                <a16:creationId xmlns:a16="http://schemas.microsoft.com/office/drawing/2014/main" id="{CE7E90E4-2D92-6A62-261C-78091A7FF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4950" y="7999413"/>
            <a:ext cx="16414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700" b="1">
                <a:solidFill>
                  <a:srgbClr val="EA580C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Chưa đạt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5397" name="Shape 40">
            <a:extLst>
              <a:ext uri="{FF2B5EF4-FFF2-40B4-BE49-F238E27FC236}">
                <a16:creationId xmlns:a16="http://schemas.microsoft.com/office/drawing/2014/main" id="{C87DC63A-FC86-BB66-E2AA-669DC8EFE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0038" y="8555038"/>
            <a:ext cx="5529262" cy="628650"/>
          </a:xfrm>
          <a:prstGeom prst="roundRect">
            <a:avLst>
              <a:gd name="adj" fmla="val 2285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5398" name="TXT_VM_ERROR_COMMENT">
            <a:extLst>
              <a:ext uri="{FF2B5EF4-FFF2-40B4-BE49-F238E27FC236}">
                <a16:creationId xmlns:a16="http://schemas.microsoft.com/office/drawing/2014/main" id="{67F1598F-B30F-1260-31E6-0F372E3AB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7838" y="8662988"/>
            <a:ext cx="51720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i="1">
                <a:solidFill>
                  <a:srgbClr val="BBBBB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Lỗi phát hiện: [Nêu rõ lỗi trưng bày tại đây]
-&gt; Hướng khắc phục: [Nêu cách xử lý đã thực hiện]</a:t>
            </a:r>
            <a:endParaRPr lang="en-US" altLang="en-US" sz="800">
              <a:latin typeface="Abadi" panose="020B0604020104020204" pitchFamily="34" charset="0"/>
            </a:endParaRPr>
          </a:p>
        </p:txBody>
      </p:sp>
      <p:sp>
        <p:nvSpPr>
          <p:cNvPr id="15399" name="TextBox 43">
            <a:extLst>
              <a:ext uri="{FF2B5EF4-FFF2-40B4-BE49-F238E27FC236}">
                <a16:creationId xmlns:a16="http://schemas.microsoft.com/office/drawing/2014/main" id="{7E4DBF9B-DF78-30E7-02A5-7496449A2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73125"/>
            <a:ext cx="16764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vi-VN" altLang="en-US" sz="2000" b="1">
                <a:solidFill>
                  <a:srgbClr val="0070C0"/>
                </a:solidFill>
              </a:rPr>
              <a:t>2.5. TRƯNG BÀY – ANAMAI &amp; BONJOUR</a:t>
            </a:r>
            <a:endParaRPr lang="en-US" altLang="en-US" sz="2000" b="1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7657844-FB62-C216-F212-3E0D48449BFB}"/>
              </a:ext>
            </a:extLst>
          </p:cNvPr>
          <p:cNvSpPr/>
          <p:nvPr/>
        </p:nvSpPr>
        <p:spPr>
          <a:xfrm>
            <a:off x="762000" y="1397000"/>
            <a:ext cx="16764000" cy="38100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5401" name="TextBox 46">
            <a:extLst>
              <a:ext uri="{FF2B5EF4-FFF2-40B4-BE49-F238E27FC236}">
                <a16:creationId xmlns:a16="http://schemas.microsoft.com/office/drawing/2014/main" id="{E1EF0D5F-C5FE-DC94-B8C2-B678F8F73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94275" y="9588500"/>
            <a:ext cx="85725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100">
                <a:solidFill>
                  <a:srgbClr val="646469"/>
                </a:solidFill>
                <a:latin typeface="Abadi" panose="020B0604020104020204" pitchFamily="34" charset="0"/>
              </a:rPr>
              <a:t>7</a:t>
            </a:r>
          </a:p>
        </p:txBody>
      </p:sp>
      <p:sp>
        <p:nvSpPr>
          <p:cNvPr id="15402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STORE_VM_ERROR_3</a:t>
            </a:r>
          </a:p>
        </p:txBody>
      </p:sp>
      <p:sp>
        <p:nvSpPr>
          <p:cNvPr id="15403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>
            <a:extLst>
              <a:ext uri="{FF2B5EF4-FFF2-40B4-BE49-F238E27FC236}">
                <a16:creationId xmlns:a16="http://schemas.microsoft.com/office/drawing/2014/main" id="{74FFAEA8-4F68-161A-0637-B5EB3CFF9CC7}"/>
              </a:ext>
            </a:extLst>
          </p:cNvPr>
          <p:cNvSpPr/>
          <p:nvPr/>
        </p:nvSpPr>
        <p:spPr>
          <a:xfrm>
            <a:off x="762000" y="1778000"/>
            <a:ext cx="5349875" cy="4660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7411" name="Text 6">
            <a:extLst>
              <a:ext uri="{FF2B5EF4-FFF2-40B4-BE49-F238E27FC236}">
                <a16:creationId xmlns:a16="http://schemas.microsoft.com/office/drawing/2014/main" id="{D32953E2-1933-2908-62B5-390E9A55B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78000"/>
            <a:ext cx="534987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rgbClr val="CC1A1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ẢNH TRƯỚC KHI CHỈNH (LỖI VM PHÁT HIỆN)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7412" name="PIC_VM_BEFORE">
            <a:extLst>
              <a:ext uri="{FF2B5EF4-FFF2-40B4-BE49-F238E27FC236}">
                <a16:creationId xmlns:a16="http://schemas.microsoft.com/office/drawing/2014/main" id="{FA4E446D-DCBF-C659-C5BE-688D647C5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" y="2370138"/>
            <a:ext cx="5172075" cy="3227387"/>
          </a:xfrm>
          <a:prstGeom prst="roundRect">
            <a:avLst>
              <a:gd name="adj" fmla="val 4444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0" name="TXT_VM_IMAGE_PLACEHOLDER_BEFORE">
            <a:extLst>
              <a:ext uri="{FF2B5EF4-FFF2-40B4-BE49-F238E27FC236}">
                <a16:creationId xmlns:a16="http://schemas.microsoft.com/office/drawing/2014/main" id="{81E3BD8A-28F8-DDC1-6743-86EF09FC6C13}"/>
              </a:ext>
            </a:extLst>
          </p:cNvPr>
          <p:cNvSpPr/>
          <p:nvPr/>
        </p:nvSpPr>
        <p:spPr>
          <a:xfrm>
            <a:off x="850900" y="3624263"/>
            <a:ext cx="5172075" cy="71755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📷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Ảnh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LỖI VM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phát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hiện</a:t>
            </a:r>
            <a:endParaRPr sz="1852">
              <a:solidFill>
                <a:srgbClr val="787878"/>
              </a:solidFill>
              <a:latin typeface="Abadi" panose="020B0604020104020204" pitchFamily="34" charset="0"/>
            </a:endParaRPr>
          </a:p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(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Trước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khi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chỉnh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 </a:t>
            </a:r>
            <a:r>
              <a:rPr sz="1852" err="1">
                <a:solidFill>
                  <a:srgbClr val="787878"/>
                </a:solidFill>
                <a:latin typeface="Abadi" panose="020B0604020104020204" pitchFamily="34" charset="0"/>
              </a:rPr>
              <a:t>sửa</a:t>
            </a: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)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B0E3BD2-3A24-E1B2-98C6-5675C8B19346}"/>
              </a:ext>
            </a:extLst>
          </p:cNvPr>
          <p:cNvSpPr/>
          <p:nvPr/>
        </p:nvSpPr>
        <p:spPr>
          <a:xfrm>
            <a:off x="6557963" y="1778000"/>
            <a:ext cx="5349875" cy="4660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7415" name="Text 10">
            <a:extLst>
              <a:ext uri="{FF2B5EF4-FFF2-40B4-BE49-F238E27FC236}">
                <a16:creationId xmlns:a16="http://schemas.microsoft.com/office/drawing/2014/main" id="{36E5BE60-48EA-F9E4-F5FD-D6E3A40D2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963" y="1778000"/>
            <a:ext cx="534987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rgbClr val="16A34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ẢNH SAU KHI CHỈNH (ĐÃ KHẮC PHỤC)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7416" name="PIC_VM_AFTER">
            <a:extLst>
              <a:ext uri="{FF2B5EF4-FFF2-40B4-BE49-F238E27FC236}">
                <a16:creationId xmlns:a16="http://schemas.microsoft.com/office/drawing/2014/main" id="{053C9094-802A-FC85-3CD9-8C32D3A04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6863" y="2370138"/>
            <a:ext cx="5172075" cy="3227387"/>
          </a:xfrm>
          <a:prstGeom prst="roundRect">
            <a:avLst>
              <a:gd name="adj" fmla="val 4444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4" name="TXT_VM_IMAGE_PLACEHOLDER_AFTER">
            <a:extLst>
              <a:ext uri="{FF2B5EF4-FFF2-40B4-BE49-F238E27FC236}">
                <a16:creationId xmlns:a16="http://schemas.microsoft.com/office/drawing/2014/main" id="{B9E50AA6-F6DD-DE9C-9977-61174CA22EEB}"/>
              </a:ext>
            </a:extLst>
          </p:cNvPr>
          <p:cNvSpPr/>
          <p:nvPr/>
        </p:nvSpPr>
        <p:spPr>
          <a:xfrm>
            <a:off x="6646863" y="3624263"/>
            <a:ext cx="5172075" cy="71755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📷 Ảnh ĐÃ KHẮC PHỤC</a:t>
            </a:r>
          </a:p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(Sau khi chỉnh sửa)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15B8E70-EC0F-6E60-9529-8D21F2B0AACC}"/>
              </a:ext>
            </a:extLst>
          </p:cNvPr>
          <p:cNvSpPr/>
          <p:nvPr/>
        </p:nvSpPr>
        <p:spPr>
          <a:xfrm>
            <a:off x="12265025" y="1778000"/>
            <a:ext cx="5260975" cy="4660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7419" name="Text 14">
            <a:extLst>
              <a:ext uri="{FF2B5EF4-FFF2-40B4-BE49-F238E27FC236}">
                <a16:creationId xmlns:a16="http://schemas.microsoft.com/office/drawing/2014/main" id="{EEA203CD-41FB-BA11-A4CE-9E71C0877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65025" y="1778000"/>
            <a:ext cx="526097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rgbClr val="475569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HÌNH ẢNH CẬN CẢNH LỖI / CHI TIẾT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7420" name="PIC_VM_DETAIL">
            <a:extLst>
              <a:ext uri="{FF2B5EF4-FFF2-40B4-BE49-F238E27FC236}">
                <a16:creationId xmlns:a16="http://schemas.microsoft.com/office/drawing/2014/main" id="{9E6428F1-3782-B29C-2F93-0038E663E9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53925" y="2370138"/>
            <a:ext cx="5083175" cy="3227387"/>
          </a:xfrm>
          <a:prstGeom prst="roundRect">
            <a:avLst>
              <a:gd name="adj" fmla="val 4444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8" name="TXT_VM_IMAGE_PLACEHOLDER_DETAIL">
            <a:extLst>
              <a:ext uri="{FF2B5EF4-FFF2-40B4-BE49-F238E27FC236}">
                <a16:creationId xmlns:a16="http://schemas.microsoft.com/office/drawing/2014/main" id="{1F4E3AD0-0E71-554B-734D-BA1AE0AE022B}"/>
              </a:ext>
            </a:extLst>
          </p:cNvPr>
          <p:cNvSpPr/>
          <p:nvPr/>
        </p:nvSpPr>
        <p:spPr>
          <a:xfrm>
            <a:off x="12353925" y="3624263"/>
            <a:ext cx="5083175" cy="71755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📷 Ảnh cận cảnh lỗi</a:t>
            </a:r>
          </a:p>
          <a:p>
            <a:pPr algn="ctr">
              <a:defRPr sz="1852">
                <a:solidFill>
                  <a:srgbClr val="787878"/>
                </a:solidFill>
                <a:latin typeface="Arial"/>
              </a:defRPr>
            </a:pPr>
            <a:r>
              <a:rPr sz="1852">
                <a:solidFill>
                  <a:srgbClr val="787878"/>
                </a:solidFill>
                <a:latin typeface="Abadi" panose="020B0604020104020204" pitchFamily="34" charset="0"/>
              </a:rPr>
              <a:t>hoặc hình ảnh chi tiết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D6DE660-29A4-4B3F-0EB2-4D7D56BE091C}"/>
              </a:ext>
            </a:extLst>
          </p:cNvPr>
          <p:cNvSpPr/>
          <p:nvPr/>
        </p:nvSpPr>
        <p:spPr>
          <a:xfrm>
            <a:off x="762000" y="6708775"/>
            <a:ext cx="10344150" cy="2689225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7423" name="Shape 18">
            <a:extLst>
              <a:ext uri="{FF2B5EF4-FFF2-40B4-BE49-F238E27FC236}">
                <a16:creationId xmlns:a16="http://schemas.microsoft.com/office/drawing/2014/main" id="{11634802-FC90-2587-FBFF-FBFDBF430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708775"/>
            <a:ext cx="10344150" cy="573088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7424" name="Text 19">
            <a:extLst>
              <a:ext uri="{FF2B5EF4-FFF2-40B4-BE49-F238E27FC236}">
                <a16:creationId xmlns:a16="http://schemas.microsoft.com/office/drawing/2014/main" id="{9E9B5170-DD40-ED9A-CDF8-C38C9B581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6708775"/>
            <a:ext cx="10075862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300" b="1">
                <a:solidFill>
                  <a:srgbClr val="CC1A1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CHECKLIST KHU PHỤ KIỆN</a:t>
            </a:r>
            <a:endParaRPr lang="en-US" altLang="en-US" sz="1200">
              <a:latin typeface="Abadi" panose="020B0604020104020204" pitchFamily="34" charset="0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16E74F8-B214-4A5F-108F-F33D54815505}"/>
              </a:ext>
            </a:extLst>
          </p:cNvPr>
          <p:cNvSpPr/>
          <p:nvPr/>
        </p:nvSpPr>
        <p:spPr>
          <a:xfrm>
            <a:off x="11463338" y="6708775"/>
            <a:ext cx="6062662" cy="268922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7426" name="Shape 31">
            <a:extLst>
              <a:ext uri="{FF2B5EF4-FFF2-40B4-BE49-F238E27FC236}">
                <a16:creationId xmlns:a16="http://schemas.microsoft.com/office/drawing/2014/main" id="{C922177D-2B55-6DBD-30C5-503CE8B52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3338" y="6708775"/>
            <a:ext cx="6062662" cy="573088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581DE82-591A-D5CA-1596-07E02CAE97C9}"/>
              </a:ext>
            </a:extLst>
          </p:cNvPr>
          <p:cNvSpPr/>
          <p:nvPr/>
        </p:nvSpPr>
        <p:spPr>
          <a:xfrm>
            <a:off x="11676063" y="6708775"/>
            <a:ext cx="5797550" cy="57308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2340" b="1">
                <a:solidFill>
                  <a:srgbClr val="CC1A1A"/>
                </a:solidFill>
                <a:latin typeface="Abadi" panose="020B0604020104020204" pitchFamily="34" charset="0"/>
                <a:ea typeface="Arial" pitchFamily="34" charset="-122"/>
                <a:cs typeface="Arial" pitchFamily="34" charset="-120"/>
              </a:rPr>
              <a:t>ĐÁNH GIÁ</a:t>
            </a:r>
            <a:endParaRPr lang="en-US" sz="1200">
              <a:latin typeface="Abadi" panose="020B0604020104020204" pitchFamily="34" charset="0"/>
            </a:endParaRPr>
          </a:p>
        </p:txBody>
      </p:sp>
      <p:sp>
        <p:nvSpPr>
          <p:cNvPr id="17428" name="Text 33">
            <a:extLst>
              <a:ext uri="{FF2B5EF4-FFF2-40B4-BE49-F238E27FC236}">
                <a16:creationId xmlns:a16="http://schemas.microsoft.com/office/drawing/2014/main" id="{1C583A13-9196-C854-7E1C-423A115B6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0038" y="7461250"/>
            <a:ext cx="1784350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Mức độ: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7429" name="SHP_RATING_TỐT">
            <a:extLst>
              <a:ext uri="{FF2B5EF4-FFF2-40B4-BE49-F238E27FC236}">
                <a16:creationId xmlns:a16="http://schemas.microsoft.com/office/drawing/2014/main" id="{65DAA038-05A2-D7BE-45D7-D654C1A96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0038" y="7999413"/>
            <a:ext cx="1641475" cy="447675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16A34A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7430" name="Text 35">
            <a:extLst>
              <a:ext uri="{FF2B5EF4-FFF2-40B4-BE49-F238E27FC236}">
                <a16:creationId xmlns:a16="http://schemas.microsoft.com/office/drawing/2014/main" id="{D25A6367-27FA-71CC-A191-ECB6963E1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0038" y="7999413"/>
            <a:ext cx="16414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700" b="1">
                <a:solidFill>
                  <a:srgbClr val="16A34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Tốt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7431" name="SHP_RATING_ĐẠT">
            <a:extLst>
              <a:ext uri="{FF2B5EF4-FFF2-40B4-BE49-F238E27FC236}">
                <a16:creationId xmlns:a16="http://schemas.microsoft.com/office/drawing/2014/main" id="{39767DB5-EEDD-7582-AF92-1034186BA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3288" y="7999413"/>
            <a:ext cx="1639887" cy="447675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1D4ED8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7432" name="Text 37">
            <a:extLst>
              <a:ext uri="{FF2B5EF4-FFF2-40B4-BE49-F238E27FC236}">
                <a16:creationId xmlns:a16="http://schemas.microsoft.com/office/drawing/2014/main" id="{764EB285-101E-28B6-6803-F3DB8698E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3288" y="7999413"/>
            <a:ext cx="1639887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700" b="1">
                <a:solidFill>
                  <a:srgbClr val="1D4ED8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Đạt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7433" name="SHP_RATING_CHƯAĐẠT">
            <a:extLst>
              <a:ext uri="{FF2B5EF4-FFF2-40B4-BE49-F238E27FC236}">
                <a16:creationId xmlns:a16="http://schemas.microsoft.com/office/drawing/2014/main" id="{2205BB70-6F24-38E3-7880-F85F6E8A1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4950" y="7999413"/>
            <a:ext cx="1641475" cy="447675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EA580C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7434" name="Text 39">
            <a:extLst>
              <a:ext uri="{FF2B5EF4-FFF2-40B4-BE49-F238E27FC236}">
                <a16:creationId xmlns:a16="http://schemas.microsoft.com/office/drawing/2014/main" id="{E724F176-7900-09C8-07D5-39454053E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4950" y="7999413"/>
            <a:ext cx="16414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700" b="1">
                <a:solidFill>
                  <a:srgbClr val="EA580C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Chưa đạt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17435" name="Shape 40">
            <a:extLst>
              <a:ext uri="{FF2B5EF4-FFF2-40B4-BE49-F238E27FC236}">
                <a16:creationId xmlns:a16="http://schemas.microsoft.com/office/drawing/2014/main" id="{BF7CD6D4-59BB-1A35-32CA-4943041E8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0038" y="8555038"/>
            <a:ext cx="5529262" cy="628650"/>
          </a:xfrm>
          <a:prstGeom prst="roundRect">
            <a:avLst>
              <a:gd name="adj" fmla="val 2285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7436" name="TXT_VM_ERROR_COMMENT">
            <a:extLst>
              <a:ext uri="{FF2B5EF4-FFF2-40B4-BE49-F238E27FC236}">
                <a16:creationId xmlns:a16="http://schemas.microsoft.com/office/drawing/2014/main" id="{25F0FEC5-92E9-6713-6916-ECA42AD05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7838" y="8662988"/>
            <a:ext cx="51720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i="1">
                <a:solidFill>
                  <a:srgbClr val="BBBBB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Lỗi phát hiện: [Nêu rõ lỗi trưng bày tại đây]
-&gt; Hướng khắc phục: [Nêu cách xử lý đã thực hiện]</a:t>
            </a:r>
            <a:endParaRPr lang="en-US" altLang="en-US" sz="800">
              <a:latin typeface="Abadi" panose="020B0604020104020204" pitchFamily="34" charset="0"/>
            </a:endParaRPr>
          </a:p>
        </p:txBody>
      </p:sp>
      <p:sp>
        <p:nvSpPr>
          <p:cNvPr id="17437" name="TextBox 43">
            <a:extLst>
              <a:ext uri="{FF2B5EF4-FFF2-40B4-BE49-F238E27FC236}">
                <a16:creationId xmlns:a16="http://schemas.microsoft.com/office/drawing/2014/main" id="{220A2AB4-76D0-4005-4BD5-2F42D3BC2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73125"/>
            <a:ext cx="16764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vi-VN" altLang="en-US" sz="2000" b="1">
                <a:solidFill>
                  <a:srgbClr val="0070C0"/>
                </a:solidFill>
              </a:rPr>
              <a:t>2.6. TRƯNG BÀY – KHU PHỤ KIỆN</a:t>
            </a:r>
            <a:endParaRPr lang="en-US" altLang="en-US" sz="2000" b="1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B527D72-51EB-8511-2C44-B50B743B18A6}"/>
              </a:ext>
            </a:extLst>
          </p:cNvPr>
          <p:cNvSpPr/>
          <p:nvPr/>
        </p:nvSpPr>
        <p:spPr>
          <a:xfrm>
            <a:off x="762000" y="1397000"/>
            <a:ext cx="16764000" cy="38100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7439" name="TextBox 46">
            <a:extLst>
              <a:ext uri="{FF2B5EF4-FFF2-40B4-BE49-F238E27FC236}">
                <a16:creationId xmlns:a16="http://schemas.microsoft.com/office/drawing/2014/main" id="{26E3EB1F-97B0-E3B5-5A0D-88F9C3804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94275" y="9588500"/>
            <a:ext cx="85725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100">
                <a:solidFill>
                  <a:srgbClr val="646469"/>
                </a:solidFill>
                <a:latin typeface="Abadi" panose="020B0604020104020204" pitchFamily="34" charset="0"/>
              </a:rPr>
              <a:t>8</a:t>
            </a:r>
          </a:p>
        </p:txBody>
      </p:sp>
      <p:sp>
        <p:nvSpPr>
          <p:cNvPr id="17440" name="Text 21">
            <a:extLst>
              <a:ext uri="{FF2B5EF4-FFF2-40B4-BE49-F238E27FC236}">
                <a16:creationId xmlns:a16="http://schemas.microsoft.com/office/drawing/2014/main" id="{F33E3295-FE54-0486-6448-3B76624CB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7294563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Chạy màu từ sáng → tối đúng thứ tự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7441" name="Text 23">
            <a:extLst>
              <a:ext uri="{FF2B5EF4-FFF2-40B4-BE49-F238E27FC236}">
                <a16:creationId xmlns:a16="http://schemas.microsoft.com/office/drawing/2014/main" id="{5FE0A335-A33F-2522-CF21-830EF613E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7689850"/>
            <a:ext cx="71342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Thứ tự ưu tiên trưng bày đúng quy chuẩn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7442" name="Text 25">
            <a:extLst>
              <a:ext uri="{FF2B5EF4-FFF2-40B4-BE49-F238E27FC236}">
                <a16:creationId xmlns:a16="http://schemas.microsoft.com/office/drawing/2014/main" id="{90729766-CB08-4349-E12F-5F8908B9F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8083550"/>
            <a:ext cx="71342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Hàng hóa đầy đủ tag/mác, không lỗi dơ/sứt chỉ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7443" name="Text 27">
            <a:extLst>
              <a:ext uri="{FF2B5EF4-FFF2-40B4-BE49-F238E27FC236}">
                <a16:creationId xmlns:a16="http://schemas.microsoft.com/office/drawing/2014/main" id="{7672A297-D6AF-DD8A-FC79-9C9815A64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847883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Trưng bày đầy đủ mẫu &amp; size chủ lực bán chạy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7444" name="Text 29">
            <a:extLst>
              <a:ext uri="{FF2B5EF4-FFF2-40B4-BE49-F238E27FC236}">
                <a16:creationId xmlns:a16="http://schemas.microsoft.com/office/drawing/2014/main" id="{0886F85F-78B1-043E-176E-A6CCC1DA0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887253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Khu vực gọn gàng, không để thùng/bao bì lộ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7445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STORE_VM_ERROR_4</a:t>
            </a:r>
          </a:p>
        </p:txBody>
      </p:sp>
      <p:sp>
        <p:nvSpPr>
          <p:cNvPr id="17446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>
            <a:extLst>
              <a:ext uri="{FF2B5EF4-FFF2-40B4-BE49-F238E27FC236}">
                <a16:creationId xmlns:a16="http://schemas.microsoft.com/office/drawing/2014/main" id="{59692532-04A8-2564-E368-C6DB70B0BE21}"/>
              </a:ext>
            </a:extLst>
          </p:cNvPr>
          <p:cNvSpPr/>
          <p:nvPr/>
        </p:nvSpPr>
        <p:spPr>
          <a:xfrm>
            <a:off x="762000" y="1778000"/>
            <a:ext cx="8024813" cy="75311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8435" name="Shape 6">
            <a:extLst>
              <a:ext uri="{FF2B5EF4-FFF2-40B4-BE49-F238E27FC236}">
                <a16:creationId xmlns:a16="http://schemas.microsoft.com/office/drawing/2014/main" id="{FD8A5FCE-3FEC-327A-BEBF-C550F00C5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778000"/>
            <a:ext cx="8024813" cy="573088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8436" name="Text 7">
            <a:extLst>
              <a:ext uri="{FF2B5EF4-FFF2-40B4-BE49-F238E27FC236}">
                <a16:creationId xmlns:a16="http://schemas.microsoft.com/office/drawing/2014/main" id="{4E7EFFB1-F8DB-77AB-27CF-643BFD7EE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1778000"/>
            <a:ext cx="7758112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300" b="1">
                <a:solidFill>
                  <a:srgbClr val="CC1A1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KHU VỰC KHO / PHÒNG THỬ</a:t>
            </a:r>
            <a:endParaRPr lang="en-US" altLang="en-US" sz="1200">
              <a:latin typeface="Abadi" panose="020B0604020104020204" pitchFamily="34" charset="0"/>
            </a:endParaRPr>
          </a:p>
        </p:txBody>
      </p:sp>
      <p:sp>
        <p:nvSpPr>
          <p:cNvPr id="18437" name="PIC_STOCKROOM">
            <a:extLst>
              <a:ext uri="{FF2B5EF4-FFF2-40B4-BE49-F238E27FC236}">
                <a16:creationId xmlns:a16="http://schemas.microsoft.com/office/drawing/2014/main" id="{D44454B5-F1CD-3860-62CE-5CC5AB0DA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2495550"/>
            <a:ext cx="3567113" cy="2689225"/>
          </a:xfrm>
          <a:prstGeom prst="roundRect">
            <a:avLst>
              <a:gd name="adj" fmla="val 5333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8438" name="TXT_STOCKROOM_IMAGE_PLACEHOLDER">
            <a:extLst>
              <a:ext uri="{FF2B5EF4-FFF2-40B4-BE49-F238E27FC236}">
                <a16:creationId xmlns:a16="http://schemas.microsoft.com/office/drawing/2014/main" id="{5A32614E-178E-FA13-0906-3C1ED3B71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3481388"/>
            <a:ext cx="3567113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1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📷 Chèn ảnh tại đây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8439" name="Text 10">
            <a:extLst>
              <a:ext uri="{FF2B5EF4-FFF2-40B4-BE49-F238E27FC236}">
                <a16:creationId xmlns:a16="http://schemas.microsoft.com/office/drawing/2014/main" id="{3DD8BF11-94F4-5A40-1424-44F43DBE5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5143500"/>
            <a:ext cx="3567113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Ảnh kho</a:t>
            </a:r>
            <a:endParaRPr lang="en-US" altLang="en-US" sz="1000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sp>
        <p:nvSpPr>
          <p:cNvPr id="18440" name="PIC_FITTING_ROOM">
            <a:extLst>
              <a:ext uri="{FF2B5EF4-FFF2-40B4-BE49-F238E27FC236}">
                <a16:creationId xmlns:a16="http://schemas.microsoft.com/office/drawing/2014/main" id="{6C417620-73E1-18EE-12BB-E294EEF28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5200" y="2495550"/>
            <a:ext cx="3744913" cy="2689225"/>
          </a:xfrm>
          <a:prstGeom prst="roundRect">
            <a:avLst>
              <a:gd name="adj" fmla="val 5333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8441" name="TXT_FITTING_ROOM_IMAGE_PLACEHOLDER">
            <a:extLst>
              <a:ext uri="{FF2B5EF4-FFF2-40B4-BE49-F238E27FC236}">
                <a16:creationId xmlns:a16="http://schemas.microsoft.com/office/drawing/2014/main" id="{104FFC70-7443-0583-2160-135041440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5200" y="3481388"/>
            <a:ext cx="3744913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1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📷 Chèn ảnh tại đây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8442" name="Text 13">
            <a:extLst>
              <a:ext uri="{FF2B5EF4-FFF2-40B4-BE49-F238E27FC236}">
                <a16:creationId xmlns:a16="http://schemas.microsoft.com/office/drawing/2014/main" id="{ED6F7F8C-F422-3013-98FF-9BE21B808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5200" y="5143500"/>
            <a:ext cx="3744913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Ảnh phòng thử</a:t>
            </a:r>
            <a:endParaRPr lang="en-US" altLang="en-US" sz="1000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sp>
        <p:nvSpPr>
          <p:cNvPr id="18443" name="Text 15">
            <a:extLst>
              <a:ext uri="{FF2B5EF4-FFF2-40B4-BE49-F238E27FC236}">
                <a16:creationId xmlns:a16="http://schemas.microsoft.com/office/drawing/2014/main" id="{C46214C4-8243-D3FC-57F1-3FA258DA5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5645150"/>
            <a:ext cx="71342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Hàng tồn sắp xếp theo danh mục, gọn gàng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8444" name="Text 17">
            <a:extLst>
              <a:ext uri="{FF2B5EF4-FFF2-40B4-BE49-F238E27FC236}">
                <a16:creationId xmlns:a16="http://schemas.microsoft.com/office/drawing/2014/main" id="{8DBB0C02-B6A8-C29E-F33E-99B67F100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6146800"/>
            <a:ext cx="71342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Thùng carton/bao bì xếp gọn, không để lộ ở lối đi/sàn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8445" name="Text 19">
            <a:extLst>
              <a:ext uri="{FF2B5EF4-FFF2-40B4-BE49-F238E27FC236}">
                <a16:creationId xmlns:a16="http://schemas.microsoft.com/office/drawing/2014/main" id="{1AD91D92-4941-2F0F-6211-944D1FBA6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665003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Phòng thử sạch sẽ, gương/vách không bám bụi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8446" name="Text 21">
            <a:extLst>
              <a:ext uri="{FF2B5EF4-FFF2-40B4-BE49-F238E27FC236}">
                <a16:creationId xmlns:a16="http://schemas.microsoft.com/office/drawing/2014/main" id="{B0BCE4C4-796E-2B1C-1CF5-9C713C1FD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715168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Nhà vệ sinh (Toilet) sạch sẽ, đầy đủ nước/giấy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8447" name="Text 23">
            <a:extLst>
              <a:ext uri="{FF2B5EF4-FFF2-40B4-BE49-F238E27FC236}">
                <a16:creationId xmlns:a16="http://schemas.microsoft.com/office/drawing/2014/main" id="{25896CDD-481E-D170-45C8-8BB775772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765333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Thiết bị PCCC đầy đủ, hạn dùng, lối thoát thông thoáng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8448" name="Shape 24">
            <a:extLst>
              <a:ext uri="{FF2B5EF4-FFF2-40B4-BE49-F238E27FC236}">
                <a16:creationId xmlns:a16="http://schemas.microsoft.com/office/drawing/2014/main" id="{6D5235F7-4EFE-3CF9-DEF5-AF2F02B53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8321675"/>
            <a:ext cx="7491413" cy="808038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8449" name="Text 25">
            <a:extLst>
              <a:ext uri="{FF2B5EF4-FFF2-40B4-BE49-F238E27FC236}">
                <a16:creationId xmlns:a16="http://schemas.microsoft.com/office/drawing/2014/main" id="{5B34D646-5167-2C9F-BE04-B18D05B74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188" y="8429625"/>
            <a:ext cx="7132637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i="1">
                <a:solidFill>
                  <a:srgbClr val="BBBBB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Lỗi khu vực kho phát hiện &amp; Hướng xử lý: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A7C071A-13E8-5D25-BB82-DAF04E4EE75E}"/>
              </a:ext>
            </a:extLst>
          </p:cNvPr>
          <p:cNvSpPr/>
          <p:nvPr/>
        </p:nvSpPr>
        <p:spPr>
          <a:xfrm>
            <a:off x="9144000" y="1778000"/>
            <a:ext cx="8382000" cy="75311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8451" name="Shape 27">
            <a:extLst>
              <a:ext uri="{FF2B5EF4-FFF2-40B4-BE49-F238E27FC236}">
                <a16:creationId xmlns:a16="http://schemas.microsoft.com/office/drawing/2014/main" id="{03B6B9A4-BFDB-9D0C-AAB6-84B3C13A5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1778000"/>
            <a:ext cx="8382000" cy="573088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8452" name="Text 28">
            <a:extLst>
              <a:ext uri="{FF2B5EF4-FFF2-40B4-BE49-F238E27FC236}">
                <a16:creationId xmlns:a16="http://schemas.microsoft.com/office/drawing/2014/main" id="{E1E40CAC-FD13-2204-E1A3-58AA3E379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8313" y="1778000"/>
            <a:ext cx="81153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300" b="1">
                <a:solidFill>
                  <a:srgbClr val="CC1A1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QUẦY THU NGÂN &amp; KHU VỰC BAO BÌ</a:t>
            </a:r>
            <a:endParaRPr lang="en-US" altLang="en-US" sz="1200">
              <a:latin typeface="Abadi" panose="020B0604020104020204" pitchFamily="34" charset="0"/>
            </a:endParaRPr>
          </a:p>
        </p:txBody>
      </p:sp>
      <p:sp>
        <p:nvSpPr>
          <p:cNvPr id="18453" name="PIC_CASHIER">
            <a:extLst>
              <a:ext uri="{FF2B5EF4-FFF2-40B4-BE49-F238E27FC236}">
                <a16:creationId xmlns:a16="http://schemas.microsoft.com/office/drawing/2014/main" id="{62182E94-00E7-DD47-A983-8BB1E6D45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1800" y="2495550"/>
            <a:ext cx="7848600" cy="2689225"/>
          </a:xfrm>
          <a:prstGeom prst="roundRect">
            <a:avLst>
              <a:gd name="adj" fmla="val 5333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8454" name="TXT_CASHIER_IMAGE_PLACEHOLDER">
            <a:extLst>
              <a:ext uri="{FF2B5EF4-FFF2-40B4-BE49-F238E27FC236}">
                <a16:creationId xmlns:a16="http://schemas.microsoft.com/office/drawing/2014/main" id="{128AAB5E-1879-0CBC-180D-8DEBA1C4B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1800" y="3481388"/>
            <a:ext cx="7848600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1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📷 Chèn ảnh tại đây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8455" name="Text 31">
            <a:extLst>
              <a:ext uri="{FF2B5EF4-FFF2-40B4-BE49-F238E27FC236}">
                <a16:creationId xmlns:a16="http://schemas.microsoft.com/office/drawing/2014/main" id="{6D9279CE-0F86-A01F-C880-A614EBA10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1800" y="5143500"/>
            <a:ext cx="78486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Ảnh quầy thu ngân</a:t>
            </a:r>
            <a:endParaRPr lang="en-US" altLang="en-US" sz="1000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sp>
        <p:nvSpPr>
          <p:cNvPr id="18456" name="Text 33">
            <a:extLst>
              <a:ext uri="{FF2B5EF4-FFF2-40B4-BE49-F238E27FC236}">
                <a16:creationId xmlns:a16="http://schemas.microsoft.com/office/drawing/2014/main" id="{1BE3A373-B33A-4DAF-A743-8C6CC4A39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0763" y="5645150"/>
            <a:ext cx="71342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Quầy thu ngân gọn gàng, tiền quỹ/chứng từ khớp POS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8457" name="Text 35">
            <a:extLst>
              <a:ext uri="{FF2B5EF4-FFF2-40B4-BE49-F238E27FC236}">
                <a16:creationId xmlns:a16="http://schemas.microsoft.com/office/drawing/2014/main" id="{A1FAF21C-76DA-676A-720B-B40689B35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0763" y="6146800"/>
            <a:ext cx="71342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Kệ xoay đầy đủ thông tin, catalog đúng quy chuẩn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8458" name="Text 37">
            <a:extLst>
              <a:ext uri="{FF2B5EF4-FFF2-40B4-BE49-F238E27FC236}">
                <a16:creationId xmlns:a16="http://schemas.microsoft.com/office/drawing/2014/main" id="{2BE0B919-B689-9789-A140-32ECE78CE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0763" y="665003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Bao bì, túi giấy, hộp áo gấp sẵn đúng vị trí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8459" name="Text 39">
            <a:extLst>
              <a:ext uri="{FF2B5EF4-FFF2-40B4-BE49-F238E27FC236}">
                <a16:creationId xmlns:a16="http://schemas.microsoft.com/office/drawing/2014/main" id="{8A3371AB-D98A-8B73-B4D4-54D4789E2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0763" y="715168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POSM, công cụ dụng cụ trưng bày đầy đủ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8460" name="Text 41">
            <a:extLst>
              <a:ext uri="{FF2B5EF4-FFF2-40B4-BE49-F238E27FC236}">
                <a16:creationId xmlns:a16="http://schemas.microsoft.com/office/drawing/2014/main" id="{DE691BDD-A6BD-C7E7-7528-7E421AC07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0763" y="765333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Camera hoạt động, khóa cửa, niêm phong an toàn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8461" name="Shape 42">
            <a:extLst>
              <a:ext uri="{FF2B5EF4-FFF2-40B4-BE49-F238E27FC236}">
                <a16:creationId xmlns:a16="http://schemas.microsoft.com/office/drawing/2014/main" id="{407BBEF0-23CD-344F-4685-CAF59A85B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1800" y="8321675"/>
            <a:ext cx="8026400" cy="808038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8462" name="Text 43">
            <a:extLst>
              <a:ext uri="{FF2B5EF4-FFF2-40B4-BE49-F238E27FC236}">
                <a16:creationId xmlns:a16="http://schemas.microsoft.com/office/drawing/2014/main" id="{82E9BEF8-7104-533F-69E9-4D4B2C76A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1188" y="8429625"/>
            <a:ext cx="7669212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i="1">
                <a:solidFill>
                  <a:srgbClr val="BBBBB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Lỗi quầy thu ngân phát hiện &amp; Hướng xử lý: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18463" name="TextBox 45">
            <a:extLst>
              <a:ext uri="{FF2B5EF4-FFF2-40B4-BE49-F238E27FC236}">
                <a16:creationId xmlns:a16="http://schemas.microsoft.com/office/drawing/2014/main" id="{7829D9B8-9D76-BF8A-855E-7C82C3D47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73125"/>
            <a:ext cx="16764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rgbClr val="0070C0"/>
                </a:solidFill>
                <a:latin typeface="Abadi" panose="020B0604020104020204" pitchFamily="34" charset="0"/>
              </a:rPr>
              <a:t>2.7. KHO &amp; QUẦY THU NGÂN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D776588-6C8F-5B2B-4186-092CE466EE8D}"/>
              </a:ext>
            </a:extLst>
          </p:cNvPr>
          <p:cNvSpPr/>
          <p:nvPr/>
        </p:nvSpPr>
        <p:spPr>
          <a:xfrm>
            <a:off x="762000" y="1397000"/>
            <a:ext cx="16764000" cy="38100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8465" name="TextBox 48">
            <a:extLst>
              <a:ext uri="{FF2B5EF4-FFF2-40B4-BE49-F238E27FC236}">
                <a16:creationId xmlns:a16="http://schemas.microsoft.com/office/drawing/2014/main" id="{231ABD9F-6571-0EFA-3914-B22E58F48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94275" y="9588500"/>
            <a:ext cx="85725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100">
                <a:solidFill>
                  <a:srgbClr val="646469"/>
                </a:solidFill>
                <a:latin typeface="Abadi" panose="020B0604020104020204" pitchFamily="34" charset="0"/>
              </a:rPr>
              <a:t>9</a:t>
            </a:r>
          </a:p>
        </p:txBody>
      </p:sp>
      <p:sp>
        <p:nvSpPr>
          <p:cNvPr id="18466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STORE_STOCKROOM_CASHIER</a:t>
            </a:r>
          </a:p>
        </p:txBody>
      </p:sp>
      <p:sp>
        <p:nvSpPr>
          <p:cNvPr id="18467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PIC_COMP_1">
            <a:extLst>
              <a:ext uri="{FF2B5EF4-FFF2-40B4-BE49-F238E27FC236}">
                <a16:creationId xmlns:a16="http://schemas.microsoft.com/office/drawing/2014/main" id="{5F56107C-54D8-243B-94DB-2BB785648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3" y="1778000"/>
            <a:ext cx="5172075" cy="3765550"/>
          </a:xfrm>
          <a:prstGeom prst="roundRect">
            <a:avLst>
              <a:gd name="adj" fmla="val 3810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9459" name="TXT_COMP_IMAGE_PLACEHOLDER_1">
            <a:extLst>
              <a:ext uri="{FF2B5EF4-FFF2-40B4-BE49-F238E27FC236}">
                <a16:creationId xmlns:a16="http://schemas.microsoft.com/office/drawing/2014/main" id="{2432C9EE-EA77-E561-87EF-E427D496C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302000"/>
            <a:ext cx="517207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1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📷 Chèn ảnh tại đây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9460" name="Text 7">
            <a:extLst>
              <a:ext uri="{FF2B5EF4-FFF2-40B4-BE49-F238E27FC236}">
                <a16:creationId xmlns:a16="http://schemas.microsoft.com/office/drawing/2014/main" id="{B9408090-5A6A-3E95-95CB-D3962B8B5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534025"/>
            <a:ext cx="51720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1. Ảnh cửa hàng đối thủ / Lân cận chính</a:t>
            </a:r>
            <a:endParaRPr lang="en-US" altLang="en-US" sz="1000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sp>
        <p:nvSpPr>
          <p:cNvPr id="19461" name="PIC_COMP_2">
            <a:extLst>
              <a:ext uri="{FF2B5EF4-FFF2-40B4-BE49-F238E27FC236}">
                <a16:creationId xmlns:a16="http://schemas.microsoft.com/office/drawing/2014/main" id="{496BA6C4-38C2-844C-18DE-2CE78DFBB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75" y="1778000"/>
            <a:ext cx="5172075" cy="3765550"/>
          </a:xfrm>
          <a:prstGeom prst="roundRect">
            <a:avLst>
              <a:gd name="adj" fmla="val 3810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9462" name="TXT_COMP_IMAGE_PLACEHOLDER_2">
            <a:extLst>
              <a:ext uri="{FF2B5EF4-FFF2-40B4-BE49-F238E27FC236}">
                <a16:creationId xmlns:a16="http://schemas.microsoft.com/office/drawing/2014/main" id="{60402422-A524-F7E3-5505-C28752D4B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75" y="3302000"/>
            <a:ext cx="517207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1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📷 Chèn ảnh tại đây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9463" name="Text 10">
            <a:extLst>
              <a:ext uri="{FF2B5EF4-FFF2-40B4-BE49-F238E27FC236}">
                <a16:creationId xmlns:a16="http://schemas.microsoft.com/office/drawing/2014/main" id="{3EFFF9F8-2155-62BD-9887-1D10F600B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75" y="5534025"/>
            <a:ext cx="51720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2. Ảnh hoạt động khuyến mãi của đối thủ</a:t>
            </a:r>
            <a:endParaRPr lang="en-US" altLang="en-US" sz="1000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sp>
        <p:nvSpPr>
          <p:cNvPr id="19464" name="PIC_COMP_3">
            <a:extLst>
              <a:ext uri="{FF2B5EF4-FFF2-40B4-BE49-F238E27FC236}">
                <a16:creationId xmlns:a16="http://schemas.microsoft.com/office/drawing/2014/main" id="{41872C66-8862-0F43-08E3-15EF33FFE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1138" y="1778000"/>
            <a:ext cx="5884862" cy="3765550"/>
          </a:xfrm>
          <a:prstGeom prst="roundRect">
            <a:avLst>
              <a:gd name="adj" fmla="val 3810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9465" name="TXT_COMP_IMAGE_PLACEHOLDER_3">
            <a:extLst>
              <a:ext uri="{FF2B5EF4-FFF2-40B4-BE49-F238E27FC236}">
                <a16:creationId xmlns:a16="http://schemas.microsoft.com/office/drawing/2014/main" id="{8DFD7E3C-E740-C96B-16F1-7919A174C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1138" y="3302000"/>
            <a:ext cx="5884862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1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📷 Chèn ảnh tại đây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9466" name="Text 13">
            <a:extLst>
              <a:ext uri="{FF2B5EF4-FFF2-40B4-BE49-F238E27FC236}">
                <a16:creationId xmlns:a16="http://schemas.microsoft.com/office/drawing/2014/main" id="{1AF640A9-F7C2-5879-F749-EEEB749B0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1138" y="5534025"/>
            <a:ext cx="5884862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3. Ảnh các gian hàng lân cận khác</a:t>
            </a:r>
            <a:endParaRPr lang="en-US" altLang="en-US" sz="1000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62F221B-DBE0-ED96-BEEB-B1021B34A5A7}"/>
              </a:ext>
            </a:extLst>
          </p:cNvPr>
          <p:cNvSpPr/>
          <p:nvPr/>
        </p:nvSpPr>
        <p:spPr>
          <a:xfrm>
            <a:off x="762000" y="6003925"/>
            <a:ext cx="8204200" cy="3406775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 dirty="0">
              <a:latin typeface="Abadi" panose="020B0604020104020204" pitchFamily="34" charset="0"/>
            </a:endParaRPr>
          </a:p>
        </p:txBody>
      </p:sp>
      <p:sp>
        <p:nvSpPr>
          <p:cNvPr id="19468" name="Shape 15">
            <a:extLst>
              <a:ext uri="{FF2B5EF4-FFF2-40B4-BE49-F238E27FC236}">
                <a16:creationId xmlns:a16="http://schemas.microsoft.com/office/drawing/2014/main" id="{D23AD61B-AFF8-3CF2-3CAF-4642CA666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018213"/>
            <a:ext cx="8204200" cy="573087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9469" name="Text 16">
            <a:extLst>
              <a:ext uri="{FF2B5EF4-FFF2-40B4-BE49-F238E27FC236}">
                <a16:creationId xmlns:a16="http://schemas.microsoft.com/office/drawing/2014/main" id="{74C45E9E-4C71-2682-7DF3-E7D25CE13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6018213"/>
            <a:ext cx="7935912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300" b="1">
                <a:solidFill>
                  <a:srgbClr val="CC1A1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TRAFFIC &amp; ĐÁNH GIÁ ĐỐI THỦ</a:t>
            </a:r>
            <a:endParaRPr lang="en-US" altLang="en-US" sz="1200">
              <a:latin typeface="Abadi" panose="020B0604020104020204" pitchFamily="34" charset="0"/>
            </a:endParaRPr>
          </a:p>
        </p:txBody>
      </p:sp>
      <p:sp>
        <p:nvSpPr>
          <p:cNvPr id="19470" name="TXT_COMP_TRAFFIC">
            <a:extLst>
              <a:ext uri="{FF2B5EF4-FFF2-40B4-BE49-F238E27FC236}">
                <a16:creationId xmlns:a16="http://schemas.microsoft.com/office/drawing/2014/main" id="{92D23406-42DD-652E-B197-9F24AD706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6591300"/>
            <a:ext cx="7134225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Lưu lượng khách đối thủ: [Đông / Trung bình / Vắng]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9471" name="TXT_COMP_COMPARISON">
            <a:extLst>
              <a:ext uri="{FF2B5EF4-FFF2-40B4-BE49-F238E27FC236}">
                <a16:creationId xmlns:a16="http://schemas.microsoft.com/office/drawing/2014/main" id="{97999E93-A226-C058-3479-95A7E6CDA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709453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So với cửa hàng mình: [Cao hơn / Tương đương / Thấp hơn]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9472" name="TXT_COMP_PEAK_TIME">
            <a:extLst>
              <a:ext uri="{FF2B5EF4-FFF2-40B4-BE49-F238E27FC236}">
                <a16:creationId xmlns:a16="http://schemas.microsoft.com/office/drawing/2014/main" id="{538B46F7-E82E-ED06-4A19-9BAB1A139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759618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Thời điểm đối thủ đông khách nhất trong ngày...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9473" name="TXT_COMP_ATTRACTION">
            <a:extLst>
              <a:ext uri="{FF2B5EF4-FFF2-40B4-BE49-F238E27FC236}">
                <a16:creationId xmlns:a16="http://schemas.microsoft.com/office/drawing/2014/main" id="{059E7AAF-A5EE-388B-7D8F-331C8CC47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809783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Đánh giá mức độ thu hút khách của đối thủ, CTKM, …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9474" name="TXT_COMP_SERVICE_APPEARANCE">
            <a:extLst>
              <a:ext uri="{FF2B5EF4-FFF2-40B4-BE49-F238E27FC236}">
                <a16:creationId xmlns:a16="http://schemas.microsoft.com/office/drawing/2014/main" id="{8DCA2FA5-57AF-8D0E-A97D-5CE6B472B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8763" y="8599488"/>
            <a:ext cx="7134225" cy="53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Đánh giá chất lượng phục vụ &amp; diện mạo của đối thủ...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99E91E4-424A-5796-04EF-24FC5C68EDCC}"/>
              </a:ext>
            </a:extLst>
          </p:cNvPr>
          <p:cNvSpPr/>
          <p:nvPr/>
        </p:nvSpPr>
        <p:spPr>
          <a:xfrm>
            <a:off x="9321800" y="6003925"/>
            <a:ext cx="8204200" cy="3406775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9476" name="Shape 28">
            <a:extLst>
              <a:ext uri="{FF2B5EF4-FFF2-40B4-BE49-F238E27FC236}">
                <a16:creationId xmlns:a16="http://schemas.microsoft.com/office/drawing/2014/main" id="{3AF04B13-886D-3905-49C3-DE86F3130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1800" y="6018213"/>
            <a:ext cx="8204200" cy="573087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9477" name="Text 29">
            <a:extLst>
              <a:ext uri="{FF2B5EF4-FFF2-40B4-BE49-F238E27FC236}">
                <a16:creationId xmlns:a16="http://schemas.microsoft.com/office/drawing/2014/main" id="{D93A7AFF-FAEC-EF4D-5D25-A8E328387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6113" y="6003925"/>
            <a:ext cx="79375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300" b="1">
                <a:solidFill>
                  <a:srgbClr val="CC1A1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PHÂN TÍCH TÌNH HÌNH CẠNH TRANH</a:t>
            </a:r>
            <a:endParaRPr lang="en-US" altLang="en-US" sz="1200">
              <a:latin typeface="Abadi" panose="020B0604020104020204" pitchFamily="34" charset="0"/>
            </a:endParaRPr>
          </a:p>
        </p:txBody>
      </p:sp>
      <p:sp>
        <p:nvSpPr>
          <p:cNvPr id="19478" name="Text 30">
            <a:extLst>
              <a:ext uri="{FF2B5EF4-FFF2-40B4-BE49-F238E27FC236}">
                <a16:creationId xmlns:a16="http://schemas.microsoft.com/office/drawing/2014/main" id="{D2F5905B-30D1-C6EE-9A88-66B7A0C70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0088" y="6756400"/>
            <a:ext cx="74898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Mức độ đe dọa của đối thủ: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9479" name="Shape 31">
            <a:extLst>
              <a:ext uri="{FF2B5EF4-FFF2-40B4-BE49-F238E27FC236}">
                <a16:creationId xmlns:a16="http://schemas.microsoft.com/office/drawing/2014/main" id="{BFF8790D-0C6E-20E4-9FD4-520040B1E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0088" y="7353300"/>
            <a:ext cx="2317750" cy="501650"/>
          </a:xfrm>
          <a:prstGeom prst="roundRect">
            <a:avLst>
              <a:gd name="adj" fmla="val 21431"/>
            </a:avLst>
          </a:prstGeom>
          <a:solidFill>
            <a:srgbClr val="FFFFFF"/>
          </a:solidFill>
          <a:ln w="12700">
            <a:solidFill>
              <a:srgbClr val="16A34A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D30237C-D667-3632-7AB2-B6E1F0DD943C}"/>
              </a:ext>
            </a:extLst>
          </p:cNvPr>
          <p:cNvSpPr/>
          <p:nvPr/>
        </p:nvSpPr>
        <p:spPr>
          <a:xfrm>
            <a:off x="9590088" y="7353300"/>
            <a:ext cx="2317750" cy="50165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 sz="1950" b="1">
                <a:latin typeface="Arial"/>
              </a:defRPr>
            </a:pPr>
            <a:r>
              <a:rPr sz="1950" b="1">
                <a:latin typeface="Abadi" panose="020B0604020104020204" pitchFamily="34" charset="0"/>
              </a:rPr>
              <a:t>Cao</a:t>
            </a:r>
            <a:endParaRPr lang="en-US" sz="1000" b="1">
              <a:latin typeface="Abadi" panose="020B0604020104020204" pitchFamily="34" charset="0"/>
            </a:endParaRPr>
          </a:p>
        </p:txBody>
      </p:sp>
      <p:sp>
        <p:nvSpPr>
          <p:cNvPr id="19481" name="Shape 33">
            <a:extLst>
              <a:ext uri="{FF2B5EF4-FFF2-40B4-BE49-F238E27FC236}">
                <a16:creationId xmlns:a16="http://schemas.microsoft.com/office/drawing/2014/main" id="{48C12F51-68C3-8A68-DBB0-CAE922709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6125" y="7358063"/>
            <a:ext cx="2317750" cy="503237"/>
          </a:xfrm>
          <a:prstGeom prst="roundRect">
            <a:avLst>
              <a:gd name="adj" fmla="val 21431"/>
            </a:avLst>
          </a:prstGeom>
          <a:solidFill>
            <a:srgbClr val="FFFFFF"/>
          </a:solidFill>
          <a:ln w="12700">
            <a:solidFill>
              <a:srgbClr val="1D4ED8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B8D3E4C6-FF2C-0BBE-598E-1AEC6743D85E}"/>
              </a:ext>
            </a:extLst>
          </p:cNvPr>
          <p:cNvSpPr/>
          <p:nvPr/>
        </p:nvSpPr>
        <p:spPr>
          <a:xfrm>
            <a:off x="12176125" y="7348538"/>
            <a:ext cx="2317750" cy="50165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 sz="1950" b="1">
                <a:latin typeface="Arial"/>
              </a:defRPr>
            </a:pPr>
            <a:r>
              <a:rPr sz="1950" b="1">
                <a:latin typeface="Abadi" panose="020B0604020104020204" pitchFamily="34" charset="0"/>
              </a:rPr>
              <a:t>Vừa</a:t>
            </a:r>
            <a:endParaRPr lang="en-US" sz="1000" b="1">
              <a:latin typeface="Abadi" panose="020B0604020104020204" pitchFamily="34" charset="0"/>
            </a:endParaRPr>
          </a:p>
        </p:txBody>
      </p:sp>
      <p:sp>
        <p:nvSpPr>
          <p:cNvPr id="19483" name="Shape 35">
            <a:extLst>
              <a:ext uri="{FF2B5EF4-FFF2-40B4-BE49-F238E27FC236}">
                <a16:creationId xmlns:a16="http://schemas.microsoft.com/office/drawing/2014/main" id="{3CEAA2DF-FEED-3A4F-36EA-1C7196693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2163" y="7348538"/>
            <a:ext cx="2317750" cy="501650"/>
          </a:xfrm>
          <a:prstGeom prst="roundRect">
            <a:avLst>
              <a:gd name="adj" fmla="val 21431"/>
            </a:avLst>
          </a:prstGeom>
          <a:solidFill>
            <a:srgbClr val="FFFFFF"/>
          </a:solidFill>
          <a:ln w="12700">
            <a:solidFill>
              <a:srgbClr val="EA580C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E6F6FAE1-B60A-139B-1A34-3367B82F4167}"/>
              </a:ext>
            </a:extLst>
          </p:cNvPr>
          <p:cNvSpPr/>
          <p:nvPr/>
        </p:nvSpPr>
        <p:spPr>
          <a:xfrm>
            <a:off x="14762163" y="7246938"/>
            <a:ext cx="2317750" cy="50165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 sz="1950" b="1">
                <a:latin typeface="Arial"/>
              </a:defRPr>
            </a:pPr>
            <a:r>
              <a:rPr sz="1950" b="1">
                <a:latin typeface="Abadi" panose="020B0604020104020204" pitchFamily="34" charset="0"/>
              </a:rPr>
              <a:t>Thấp</a:t>
            </a:r>
            <a:endParaRPr lang="en-US" sz="1000" b="1">
              <a:latin typeface="Abadi" panose="020B0604020104020204" pitchFamily="34" charset="0"/>
            </a:endParaRPr>
          </a:p>
        </p:txBody>
      </p:sp>
      <p:sp>
        <p:nvSpPr>
          <p:cNvPr id="19485" name="Text 37">
            <a:extLst>
              <a:ext uri="{FF2B5EF4-FFF2-40B4-BE49-F238E27FC236}">
                <a16:creationId xmlns:a16="http://schemas.microsoft.com/office/drawing/2014/main" id="{389CBD54-7866-A233-49C8-29A935816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0088" y="8066088"/>
            <a:ext cx="748982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Phân tích &amp; Giải pháp ứng phó: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19486" name="Shape 38">
            <a:extLst>
              <a:ext uri="{FF2B5EF4-FFF2-40B4-BE49-F238E27FC236}">
                <a16:creationId xmlns:a16="http://schemas.microsoft.com/office/drawing/2014/main" id="{62568D79-0E16-AA74-0D08-B3F4B5C6F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0088" y="8466138"/>
            <a:ext cx="7669212" cy="681037"/>
          </a:xfrm>
          <a:prstGeom prst="roundRect">
            <a:avLst>
              <a:gd name="adj" fmla="val 21051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9487" name="TXT_COMP_ANALYSIS_SOLUTION">
            <a:extLst>
              <a:ext uri="{FF2B5EF4-FFF2-40B4-BE49-F238E27FC236}">
                <a16:creationId xmlns:a16="http://schemas.microsoft.com/office/drawing/2014/main" id="{44CA9AAD-D2A3-8878-34CA-02D44A63C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7888" y="8675688"/>
            <a:ext cx="731202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i="1">
                <a:solidFill>
                  <a:srgbClr val="BBBBB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Điểm mạnh đối thủ: [Ghi nhận lỗi/thế mạnh của đối thủ]
-&gt; Giải pháp của QLKD: [Đề xuất trưng bày mặt tiền thu hút hơn, hoặc luân chuyển mã hàng đẹp ra...]</a:t>
            </a:r>
            <a:endParaRPr lang="en-US" altLang="en-US" sz="600">
              <a:latin typeface="Abadi" panose="020B0604020104020204" pitchFamily="34" charset="0"/>
            </a:endParaRPr>
          </a:p>
        </p:txBody>
      </p:sp>
      <p:sp>
        <p:nvSpPr>
          <p:cNvPr id="19488" name="TextBox 41">
            <a:extLst>
              <a:ext uri="{FF2B5EF4-FFF2-40B4-BE49-F238E27FC236}">
                <a16:creationId xmlns:a16="http://schemas.microsoft.com/office/drawing/2014/main" id="{D71AEF3E-2E70-7FB7-4D40-2F3C5E560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73125"/>
            <a:ext cx="16764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rgbClr val="0070C0"/>
                </a:solidFill>
                <a:latin typeface="Abadi" panose="020B0604020104020204" pitchFamily="34" charset="0"/>
              </a:rPr>
              <a:t>2.8. ĐỐI THỦ CẠNH TRANH &amp; CỬA HÀNG LÂN CẬN (nếu có)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4322541-0B59-E212-7C42-CCF25D0485AA}"/>
              </a:ext>
            </a:extLst>
          </p:cNvPr>
          <p:cNvSpPr/>
          <p:nvPr/>
        </p:nvSpPr>
        <p:spPr>
          <a:xfrm>
            <a:off x="762000" y="1397000"/>
            <a:ext cx="16764000" cy="38100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9490" name="TextBox 44">
            <a:extLst>
              <a:ext uri="{FF2B5EF4-FFF2-40B4-BE49-F238E27FC236}">
                <a16:creationId xmlns:a16="http://schemas.microsoft.com/office/drawing/2014/main" id="{082493FB-0093-BA27-ECDD-4D305848E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10138" y="9588500"/>
            <a:ext cx="169862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100">
                <a:solidFill>
                  <a:srgbClr val="646469"/>
                </a:solidFill>
                <a:latin typeface="Abadi" panose="020B0604020104020204" pitchFamily="34" charset="0"/>
              </a:rPr>
              <a:t>10</a:t>
            </a:r>
          </a:p>
        </p:txBody>
      </p:sp>
      <p:sp>
        <p:nvSpPr>
          <p:cNvPr id="19491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STORE_COMPETITOR</a:t>
            </a:r>
          </a:p>
        </p:txBody>
      </p:sp>
      <p:sp>
        <p:nvSpPr>
          <p:cNvPr id="19492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>
            <a:extLst>
              <a:ext uri="{FF2B5EF4-FFF2-40B4-BE49-F238E27FC236}">
                <a16:creationId xmlns:a16="http://schemas.microsoft.com/office/drawing/2014/main" id="{6EA29CF7-02C8-DAE7-9E91-811CEA1DC029}"/>
              </a:ext>
            </a:extLst>
          </p:cNvPr>
          <p:cNvSpPr/>
          <p:nvPr/>
        </p:nvSpPr>
        <p:spPr>
          <a:xfrm>
            <a:off x="762000" y="2159000"/>
            <a:ext cx="3121025" cy="16129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21507" name="Text 6">
            <a:extLst>
              <a:ext uri="{FF2B5EF4-FFF2-40B4-BE49-F238E27FC236}">
                <a16:creationId xmlns:a16="http://schemas.microsoft.com/office/drawing/2014/main" id="{638C6E0C-726D-1E03-D350-2AB2A2A71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" y="2212975"/>
            <a:ext cx="2943225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7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DT Bán lẻ Tháng hiện tại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21508" name="Shape 7">
            <a:extLst>
              <a:ext uri="{FF2B5EF4-FFF2-40B4-BE49-F238E27FC236}">
                <a16:creationId xmlns:a16="http://schemas.microsoft.com/office/drawing/2014/main" id="{EAF55DE1-F426-B223-8C0E-4DAF72CA5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2930525"/>
            <a:ext cx="2584450" cy="5365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0" name="KPI_REVENUE_ACTUAL">
            <a:extLst>
              <a:ext uri="{FF2B5EF4-FFF2-40B4-BE49-F238E27FC236}">
                <a16:creationId xmlns:a16="http://schemas.microsoft.com/office/drawing/2014/main" id="{DD4EE20C-485C-E4F9-90AE-6F8913C12D4F}"/>
              </a:ext>
            </a:extLst>
          </p:cNvPr>
          <p:cNvSpPr/>
          <p:nvPr/>
        </p:nvSpPr>
        <p:spPr>
          <a:xfrm>
            <a:off x="1082675" y="2930525"/>
            <a:ext cx="2532063" cy="5365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2145" i="1">
                <a:solidFill>
                  <a:srgbClr val="AAAAAA"/>
                </a:solidFill>
                <a:latin typeface="Abadi" panose="020B0604020104020204" pitchFamily="34" charset="0"/>
                <a:ea typeface="Arial" pitchFamily="34" charset="-122"/>
                <a:cs typeface="Arial" pitchFamily="34" charset="-120"/>
              </a:rPr>
              <a:t>[VNĐ]</a:t>
            </a:r>
            <a:endParaRPr lang="en-US" sz="1100">
              <a:latin typeface="Abadi" panose="020B0604020104020204" pitchFamily="34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2A28C8C-0D7E-5344-F804-AF8A6FC319E4}"/>
              </a:ext>
            </a:extLst>
          </p:cNvPr>
          <p:cNvSpPr/>
          <p:nvPr/>
        </p:nvSpPr>
        <p:spPr>
          <a:xfrm>
            <a:off x="4151313" y="2159000"/>
            <a:ext cx="3121025" cy="161290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21511" name="Text 10">
            <a:extLst>
              <a:ext uri="{FF2B5EF4-FFF2-40B4-BE49-F238E27FC236}">
                <a16:creationId xmlns:a16="http://schemas.microsoft.com/office/drawing/2014/main" id="{B7786D37-A10A-E9A3-1192-8B85F603E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0213" y="2212975"/>
            <a:ext cx="2941637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7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KH Bán lẻ Tháng (Target)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21512" name="Shape 11">
            <a:extLst>
              <a:ext uri="{FF2B5EF4-FFF2-40B4-BE49-F238E27FC236}">
                <a16:creationId xmlns:a16="http://schemas.microsoft.com/office/drawing/2014/main" id="{91BEE6CF-FD27-439D-E459-DE82ABC7B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013" y="2930525"/>
            <a:ext cx="2586037" cy="5365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4" name="KPI_REVENUE_TARGET">
            <a:extLst>
              <a:ext uri="{FF2B5EF4-FFF2-40B4-BE49-F238E27FC236}">
                <a16:creationId xmlns:a16="http://schemas.microsoft.com/office/drawing/2014/main" id="{D7F01B8C-C03C-0E86-DC7C-D27661A6A065}"/>
              </a:ext>
            </a:extLst>
          </p:cNvPr>
          <p:cNvSpPr/>
          <p:nvPr/>
        </p:nvSpPr>
        <p:spPr>
          <a:xfrm>
            <a:off x="4471988" y="2930525"/>
            <a:ext cx="2532062" cy="5365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2145" i="1">
                <a:solidFill>
                  <a:srgbClr val="AAAAAA"/>
                </a:solidFill>
                <a:latin typeface="Abadi" panose="020B0604020104020204" pitchFamily="34" charset="0"/>
                <a:ea typeface="Arial" pitchFamily="34" charset="-122"/>
                <a:cs typeface="Arial" pitchFamily="34" charset="-120"/>
              </a:rPr>
              <a:t>[VNĐ]</a:t>
            </a:r>
            <a:endParaRPr lang="en-US" sz="1100">
              <a:latin typeface="Abadi" panose="020B0604020104020204" pitchFamily="34" charset="0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F7A9C8D-3809-03C7-90C7-9A3251CA4B22}"/>
              </a:ext>
            </a:extLst>
          </p:cNvPr>
          <p:cNvSpPr/>
          <p:nvPr/>
        </p:nvSpPr>
        <p:spPr>
          <a:xfrm>
            <a:off x="7539038" y="2159000"/>
            <a:ext cx="3121025" cy="1612900"/>
          </a:xfrm>
          <a:prstGeom prst="roundRect">
            <a:avLst>
              <a:gd name="adj" fmla="val 11111"/>
            </a:avLst>
          </a:prstGeom>
          <a:solidFill>
            <a:srgbClr val="FFF0F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21515" name="Text 14">
            <a:extLst>
              <a:ext uri="{FF2B5EF4-FFF2-40B4-BE49-F238E27FC236}">
                <a16:creationId xmlns:a16="http://schemas.microsoft.com/office/drawing/2014/main" id="{FD5F8388-112F-3A08-CDD7-B09EF310F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7938" y="2212975"/>
            <a:ext cx="2943225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7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% Đạt KH Bán lẻ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21516" name="Shape 15">
            <a:extLst>
              <a:ext uri="{FF2B5EF4-FFF2-40B4-BE49-F238E27FC236}">
                <a16:creationId xmlns:a16="http://schemas.microsoft.com/office/drawing/2014/main" id="{C38D7F7F-89C6-7DD7-6D6D-2469D06C6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7325" y="2930525"/>
            <a:ext cx="2586038" cy="5365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18" name="KPI_REVENUE_ATTAINMENT">
            <a:extLst>
              <a:ext uri="{FF2B5EF4-FFF2-40B4-BE49-F238E27FC236}">
                <a16:creationId xmlns:a16="http://schemas.microsoft.com/office/drawing/2014/main" id="{C3C42A97-7714-5B36-F302-7D80A1926A8B}"/>
              </a:ext>
            </a:extLst>
          </p:cNvPr>
          <p:cNvSpPr/>
          <p:nvPr/>
        </p:nvSpPr>
        <p:spPr>
          <a:xfrm>
            <a:off x="7859713" y="2930525"/>
            <a:ext cx="2533650" cy="5365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2145" i="1">
                <a:solidFill>
                  <a:srgbClr val="AAAAAA"/>
                </a:solidFill>
                <a:latin typeface="Abadi" panose="020B0604020104020204" pitchFamily="34" charset="0"/>
                <a:ea typeface="Arial" pitchFamily="34" charset="-122"/>
                <a:cs typeface="Arial" pitchFamily="34" charset="-120"/>
              </a:rPr>
              <a:t>[%]</a:t>
            </a:r>
            <a:endParaRPr lang="en-US" sz="1100">
              <a:latin typeface="Abadi" panose="020B0604020104020204" pitchFamily="34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C8F4C48-B18A-C975-D474-30ED086F093E}"/>
              </a:ext>
            </a:extLst>
          </p:cNvPr>
          <p:cNvSpPr/>
          <p:nvPr/>
        </p:nvSpPr>
        <p:spPr>
          <a:xfrm>
            <a:off x="10928350" y="2159000"/>
            <a:ext cx="3121025" cy="161290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21519" name="Text 18">
            <a:extLst>
              <a:ext uri="{FF2B5EF4-FFF2-40B4-BE49-F238E27FC236}">
                <a16:creationId xmlns:a16="http://schemas.microsoft.com/office/drawing/2014/main" id="{DD1261E9-687B-9B4A-7BF9-593A12057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7250" y="2212975"/>
            <a:ext cx="2941638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7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Tháng trước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21520" name="Shape 19">
            <a:extLst>
              <a:ext uri="{FF2B5EF4-FFF2-40B4-BE49-F238E27FC236}">
                <a16:creationId xmlns:a16="http://schemas.microsoft.com/office/drawing/2014/main" id="{CCF9CA43-DA71-02B2-C22C-9DA5D1410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5050" y="2930525"/>
            <a:ext cx="2586038" cy="5365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22" name="KPI_REVENUE_PREV">
            <a:extLst>
              <a:ext uri="{FF2B5EF4-FFF2-40B4-BE49-F238E27FC236}">
                <a16:creationId xmlns:a16="http://schemas.microsoft.com/office/drawing/2014/main" id="{DEFAFF03-BA57-9019-7C94-6D9B49D374BF}"/>
              </a:ext>
            </a:extLst>
          </p:cNvPr>
          <p:cNvSpPr/>
          <p:nvPr/>
        </p:nvSpPr>
        <p:spPr>
          <a:xfrm>
            <a:off x="11249025" y="2930525"/>
            <a:ext cx="2532063" cy="5365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2145" i="1">
                <a:solidFill>
                  <a:srgbClr val="AAAAAA"/>
                </a:solidFill>
                <a:latin typeface="Abadi" panose="020B0604020104020204" pitchFamily="34" charset="0"/>
                <a:ea typeface="Arial" pitchFamily="34" charset="-122"/>
                <a:cs typeface="Arial" pitchFamily="34" charset="-120"/>
              </a:rPr>
              <a:t>[VNĐ]</a:t>
            </a:r>
            <a:endParaRPr lang="en-US" sz="1100">
              <a:latin typeface="Abadi" panose="020B0604020104020204" pitchFamily="34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DACFF9F-BE57-874E-DD5F-E87D0E5C28F8}"/>
              </a:ext>
            </a:extLst>
          </p:cNvPr>
          <p:cNvSpPr/>
          <p:nvPr/>
        </p:nvSpPr>
        <p:spPr>
          <a:xfrm>
            <a:off x="14316075" y="2159000"/>
            <a:ext cx="3121025" cy="161290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21523" name="Text 22">
            <a:extLst>
              <a:ext uri="{FF2B5EF4-FFF2-40B4-BE49-F238E27FC236}">
                <a16:creationId xmlns:a16="http://schemas.microsoft.com/office/drawing/2014/main" id="{9ABD7DE3-E531-3C9E-F338-56275D330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04975" y="2212975"/>
            <a:ext cx="2943225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7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Cùng kỳ năm trước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21524" name="Shape 23">
            <a:extLst>
              <a:ext uri="{FF2B5EF4-FFF2-40B4-BE49-F238E27FC236}">
                <a16:creationId xmlns:a16="http://schemas.microsoft.com/office/drawing/2014/main" id="{88BE3E0E-B3D5-6E57-1DE5-3CD24F75D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4363" y="2930525"/>
            <a:ext cx="2586037" cy="53657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26" name="KPI_REVENUE_YOY">
            <a:extLst>
              <a:ext uri="{FF2B5EF4-FFF2-40B4-BE49-F238E27FC236}">
                <a16:creationId xmlns:a16="http://schemas.microsoft.com/office/drawing/2014/main" id="{FC037A2C-912D-3235-5C3C-31E030E79786}"/>
              </a:ext>
            </a:extLst>
          </p:cNvPr>
          <p:cNvSpPr/>
          <p:nvPr/>
        </p:nvSpPr>
        <p:spPr>
          <a:xfrm>
            <a:off x="14636750" y="2930525"/>
            <a:ext cx="2533650" cy="5365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2145" i="1">
                <a:solidFill>
                  <a:srgbClr val="AAAAAA"/>
                </a:solidFill>
                <a:latin typeface="Abadi" panose="020B0604020104020204" pitchFamily="34" charset="0"/>
                <a:ea typeface="Arial" pitchFamily="34" charset="-122"/>
                <a:cs typeface="Arial" pitchFamily="34" charset="-120"/>
              </a:rPr>
              <a:t>[VNĐ]</a:t>
            </a:r>
            <a:endParaRPr lang="en-US" sz="1100">
              <a:latin typeface="Abadi" panose="020B0604020104020204" pitchFamily="34" charset="0"/>
            </a:endParaRPr>
          </a:p>
        </p:txBody>
      </p:sp>
      <p:sp>
        <p:nvSpPr>
          <p:cNvPr id="21526" name="Shape 28">
            <a:extLst>
              <a:ext uri="{FF2B5EF4-FFF2-40B4-BE49-F238E27FC236}">
                <a16:creationId xmlns:a16="http://schemas.microsoft.com/office/drawing/2014/main" id="{D6E37415-B32F-6C96-52F4-82C572C7B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8262938"/>
            <a:ext cx="16764000" cy="627062"/>
          </a:xfrm>
          <a:prstGeom prst="roundRect">
            <a:avLst>
              <a:gd name="adj" fmla="val 22856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21527" name="TXT_REVENUE_COMMENT">
            <a:extLst>
              <a:ext uri="{FF2B5EF4-FFF2-40B4-BE49-F238E27FC236}">
                <a16:creationId xmlns:a16="http://schemas.microsoft.com/office/drawing/2014/main" id="{0B084693-7F42-877A-ADA6-155B8D4D6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800" y="8420100"/>
            <a:ext cx="164084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i="1">
                <a:solidFill>
                  <a:srgbClr val="BBBBB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Nhận xét tình hình doanh thu bán lẻ: Phân tích nguyên nhân tăng/giảm so với tháng trước và cùng kỳ năm trước...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21528" name="TextBox 32">
            <a:extLst>
              <a:ext uri="{FF2B5EF4-FFF2-40B4-BE49-F238E27FC236}">
                <a16:creationId xmlns:a16="http://schemas.microsoft.com/office/drawing/2014/main" id="{D739A892-9EC5-4371-30A1-87F881D12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736600"/>
            <a:ext cx="16764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olidFill>
                  <a:srgbClr val="800020"/>
                </a:solidFill>
                <a:latin typeface="Abadi" panose="020B0604020104020204" pitchFamily="34" charset="0"/>
              </a:rPr>
              <a:t>Phần 3. Doanh Thu – Tồn Kho cửa hàng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73D7DE-A9A6-7559-F4EB-11155800EEC1}"/>
              </a:ext>
            </a:extLst>
          </p:cNvPr>
          <p:cNvSpPr/>
          <p:nvPr/>
        </p:nvSpPr>
        <p:spPr>
          <a:xfrm>
            <a:off x="762000" y="1778000"/>
            <a:ext cx="16764000" cy="38100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1530" name="TextBox 35">
            <a:extLst>
              <a:ext uri="{FF2B5EF4-FFF2-40B4-BE49-F238E27FC236}">
                <a16:creationId xmlns:a16="http://schemas.microsoft.com/office/drawing/2014/main" id="{2E32FF1E-AD41-4E4F-7A6F-6AE68C18E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10138" y="9588500"/>
            <a:ext cx="169862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100">
                <a:solidFill>
                  <a:srgbClr val="646469"/>
                </a:solidFill>
                <a:latin typeface="Abadi" panose="020B0604020104020204" pitchFamily="34" charset="0"/>
              </a:rPr>
              <a:t>11</a:t>
            </a:r>
          </a:p>
        </p:txBody>
      </p:sp>
      <p:graphicFrame>
        <p:nvGraphicFramePr>
          <p:cNvPr id="21531" name="Chart 4">
            <a:extLst>
              <a:ext uri="{FF2B5EF4-FFF2-40B4-BE49-F238E27FC236}">
                <a16:creationId xmlns:a16="http://schemas.microsoft.com/office/drawing/2014/main" id="{819612A4-FFF1-1EE2-BB83-20AE86B20801}"/>
              </a:ext>
            </a:extLst>
          </p:cNvPr>
          <p:cNvGraphicFramePr>
            <a:graphicFrameLocks/>
          </p:cNvGraphicFramePr>
          <p:nvPr/>
        </p:nvGraphicFramePr>
        <p:xfrm>
          <a:off x="711200" y="3497263"/>
          <a:ext cx="16687800" cy="454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16698391" imgH="4554107" progId="Excel.Chart.8">
                  <p:embed/>
                </p:oleObj>
              </mc:Choice>
              <mc:Fallback>
                <p:oleObj name="Chart" r:id="rId2" imgW="16698391" imgH="4554107" progId="Excel.Chart.8">
                  <p:embed/>
                  <p:pic>
                    <p:nvPicPr>
                      <p:cNvPr id="0" name="Char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3497263"/>
                        <a:ext cx="16687800" cy="454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2" name="TextBox 32">
            <a:extLst>
              <a:ext uri="{FF2B5EF4-FFF2-40B4-BE49-F238E27FC236}">
                <a16:creationId xmlns:a16="http://schemas.microsoft.com/office/drawing/2014/main" id="{0E0E4747-F30E-8CDB-8F97-B598A1BDA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254125"/>
            <a:ext cx="10972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rgbClr val="0070C0"/>
                </a:solidFill>
                <a:latin typeface="Abadi" panose="020B0604020104020204" pitchFamily="34" charset="0"/>
              </a:rPr>
              <a:t>3.1. DOANH THU CỬA HÀNG</a:t>
            </a:r>
          </a:p>
        </p:txBody>
      </p:sp>
      <p:sp>
        <p:nvSpPr>
          <p:cNvPr id="21533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STORE_REVENUE</a:t>
            </a:r>
          </a:p>
        </p:txBody>
      </p:sp>
      <p:sp>
        <p:nvSpPr>
          <p:cNvPr id="21534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>
            <a:extLst>
              <a:ext uri="{FF2B5EF4-FFF2-40B4-BE49-F238E27FC236}">
                <a16:creationId xmlns:a16="http://schemas.microsoft.com/office/drawing/2014/main" id="{88179914-51D4-2B25-A8B3-2DB4AF9839FA}"/>
              </a:ext>
            </a:extLst>
          </p:cNvPr>
          <p:cNvSpPr/>
          <p:nvPr/>
        </p:nvSpPr>
        <p:spPr>
          <a:xfrm>
            <a:off x="762000" y="1724025"/>
            <a:ext cx="3121025" cy="1649413"/>
          </a:xfrm>
          <a:prstGeom prst="roundRect">
            <a:avLst>
              <a:gd name="adj" fmla="val 10870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22531" name="Text 6">
            <a:extLst>
              <a:ext uri="{FF2B5EF4-FFF2-40B4-BE49-F238E27FC236}">
                <a16:creationId xmlns:a16="http://schemas.microsoft.com/office/drawing/2014/main" id="{69B67D6E-AD29-6853-5305-AA2E1B067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0" y="1814513"/>
            <a:ext cx="2943225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700" b="1">
                <a:solidFill>
                  <a:srgbClr val="1E293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Tổng SKU tồn kho</a:t>
            </a:r>
            <a:endParaRPr lang="en-US" altLang="en-US" sz="900">
              <a:latin typeface="Abadi" panose="020B0604020104020204" pitchFamily="34" charset="0"/>
            </a:endParaRPr>
          </a:p>
        </p:txBody>
      </p:sp>
      <p:sp>
        <p:nvSpPr>
          <p:cNvPr id="22532" name="Shape 7">
            <a:extLst>
              <a:ext uri="{FF2B5EF4-FFF2-40B4-BE49-F238E27FC236}">
                <a16:creationId xmlns:a16="http://schemas.microsoft.com/office/drawing/2014/main" id="{3474F7DD-A10F-D539-8E4F-467755A56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0288" y="2549525"/>
            <a:ext cx="2584450" cy="57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22533" name="KPI_STOCK_TOTAL">
            <a:extLst>
              <a:ext uri="{FF2B5EF4-FFF2-40B4-BE49-F238E27FC236}">
                <a16:creationId xmlns:a16="http://schemas.microsoft.com/office/drawing/2014/main" id="{EAF437D8-BA5C-2D6B-82B7-712308273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675" y="2549525"/>
            <a:ext cx="2532063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[Số lượng]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DF65666-A0EF-D8FF-6025-05ED1D91DB7C}"/>
              </a:ext>
            </a:extLst>
          </p:cNvPr>
          <p:cNvSpPr/>
          <p:nvPr/>
        </p:nvSpPr>
        <p:spPr>
          <a:xfrm>
            <a:off x="5334000" y="1741488"/>
            <a:ext cx="3121025" cy="1649412"/>
          </a:xfrm>
          <a:prstGeom prst="roundRect">
            <a:avLst>
              <a:gd name="adj" fmla="val 10870"/>
            </a:avLst>
          </a:prstGeom>
          <a:solidFill>
            <a:srgbClr val="FFF0F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76DAECF-DFE0-0EFA-2E4C-D2ED59BD9345}"/>
              </a:ext>
            </a:extLst>
          </p:cNvPr>
          <p:cNvSpPr/>
          <p:nvPr/>
        </p:nvSpPr>
        <p:spPr>
          <a:xfrm>
            <a:off x="5334000" y="1893888"/>
            <a:ext cx="2943225" cy="679450"/>
          </a:xfrm>
          <a:prstGeom prst="rect">
            <a:avLst/>
          </a:prstGeom>
          <a:noFill/>
          <a:ln/>
        </p:spPr>
        <p:txBody>
          <a:bodyPr lIns="25400" tIns="25400" rIns="25400" bIns="25400" anchor="ctr"/>
          <a:lstStyle/>
          <a:p>
            <a:pPr algn="ctr">
              <a:defRPr/>
            </a:pPr>
            <a:r>
              <a:rPr lang="en-US" sz="1755" b="1">
                <a:solidFill>
                  <a:srgbClr val="1E293B"/>
                </a:solidFill>
                <a:latin typeface="Abadi" panose="020B0604020104020204" pitchFamily="34" charset="0"/>
                <a:ea typeface="Arial" pitchFamily="34" charset="-122"/>
                <a:cs typeface="Arial" pitchFamily="34" charset="-120"/>
              </a:rPr>
              <a:t>Hàng nguyên giá</a:t>
            </a:r>
            <a:endParaRPr lang="en-US" sz="900">
              <a:latin typeface="Abadi" panose="020B0604020104020204" pitchFamily="34" charset="0"/>
            </a:endParaRPr>
          </a:p>
        </p:txBody>
      </p:sp>
      <p:sp>
        <p:nvSpPr>
          <p:cNvPr id="22536" name="Shape 15">
            <a:extLst>
              <a:ext uri="{FF2B5EF4-FFF2-40B4-BE49-F238E27FC236}">
                <a16:creationId xmlns:a16="http://schemas.microsoft.com/office/drawing/2014/main" id="{B737DC04-FC57-D409-B94F-13E72924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0700" y="2657475"/>
            <a:ext cx="2586038" cy="57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22537" name="KPI_STOCK_NGUYEN_GIA">
            <a:extLst>
              <a:ext uri="{FF2B5EF4-FFF2-40B4-BE49-F238E27FC236}">
                <a16:creationId xmlns:a16="http://schemas.microsoft.com/office/drawing/2014/main" id="{65A39397-B297-B442-27DE-8B66D7964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0700" y="2681288"/>
            <a:ext cx="253365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[SL ]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9CE4EFD-D46B-326D-856F-1E1DABF2631F}"/>
              </a:ext>
            </a:extLst>
          </p:cNvPr>
          <p:cNvSpPr/>
          <p:nvPr/>
        </p:nvSpPr>
        <p:spPr>
          <a:xfrm>
            <a:off x="9756775" y="1724025"/>
            <a:ext cx="3121025" cy="1649413"/>
          </a:xfrm>
          <a:prstGeom prst="roundRect">
            <a:avLst>
              <a:gd name="adj" fmla="val 10870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882C5D1-52EB-8D29-BD74-43E20EC394FC}"/>
              </a:ext>
            </a:extLst>
          </p:cNvPr>
          <p:cNvSpPr/>
          <p:nvPr/>
        </p:nvSpPr>
        <p:spPr>
          <a:xfrm>
            <a:off x="9845675" y="1814513"/>
            <a:ext cx="2941638" cy="681037"/>
          </a:xfrm>
          <a:prstGeom prst="rect">
            <a:avLst/>
          </a:prstGeom>
          <a:noFill/>
          <a:ln/>
        </p:spPr>
        <p:txBody>
          <a:bodyPr lIns="25400" tIns="25400" rIns="25400" bIns="25400" anchor="ctr"/>
          <a:lstStyle/>
          <a:p>
            <a:pPr algn="ctr">
              <a:defRPr/>
            </a:pPr>
            <a:r>
              <a:rPr lang="en-US" sz="1755" b="1">
                <a:solidFill>
                  <a:srgbClr val="1E293B"/>
                </a:solidFill>
                <a:latin typeface="Abadi" panose="020B0604020104020204" pitchFamily="34" charset="0"/>
                <a:ea typeface="Arial" pitchFamily="34" charset="-122"/>
                <a:cs typeface="Arial" pitchFamily="34" charset="-120"/>
              </a:rPr>
              <a:t>Hàng Sale Off</a:t>
            </a:r>
            <a:endParaRPr lang="en-US" sz="900">
              <a:latin typeface="Abadi" panose="020B0604020104020204" pitchFamily="34" charset="0"/>
            </a:endParaRPr>
          </a:p>
        </p:txBody>
      </p:sp>
      <p:sp>
        <p:nvSpPr>
          <p:cNvPr id="22540" name="Shape 19">
            <a:extLst>
              <a:ext uri="{FF2B5EF4-FFF2-40B4-BE49-F238E27FC236}">
                <a16:creationId xmlns:a16="http://schemas.microsoft.com/office/drawing/2014/main" id="{145CBCEE-0861-F59F-97C3-64BACF3CA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3475" y="2549525"/>
            <a:ext cx="2586038" cy="57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22541" name="KPI_STOCK_SALE">
            <a:extLst>
              <a:ext uri="{FF2B5EF4-FFF2-40B4-BE49-F238E27FC236}">
                <a16:creationId xmlns:a16="http://schemas.microsoft.com/office/drawing/2014/main" id="{34B2C645-5D2C-A414-560D-26EE183C3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7450" y="2549525"/>
            <a:ext cx="2532063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[SL ]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E8711D2-DA43-10EF-B137-FEF0C54551B5}"/>
              </a:ext>
            </a:extLst>
          </p:cNvPr>
          <p:cNvSpPr/>
          <p:nvPr/>
        </p:nvSpPr>
        <p:spPr>
          <a:xfrm>
            <a:off x="14316075" y="1724025"/>
            <a:ext cx="3121025" cy="1649413"/>
          </a:xfrm>
          <a:prstGeom prst="roundRect">
            <a:avLst>
              <a:gd name="adj" fmla="val 10870"/>
            </a:avLst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6412510-FD24-B6BB-A1B4-D5326952940E}"/>
              </a:ext>
            </a:extLst>
          </p:cNvPr>
          <p:cNvSpPr/>
          <p:nvPr/>
        </p:nvSpPr>
        <p:spPr>
          <a:xfrm>
            <a:off x="14404975" y="1814513"/>
            <a:ext cx="2943225" cy="681037"/>
          </a:xfrm>
          <a:prstGeom prst="rect">
            <a:avLst/>
          </a:prstGeom>
          <a:noFill/>
          <a:ln/>
        </p:spPr>
        <p:txBody>
          <a:bodyPr lIns="25400" tIns="25400" rIns="25400" bIns="25400" anchor="ctr"/>
          <a:lstStyle/>
          <a:p>
            <a:pPr algn="ctr">
              <a:defRPr/>
            </a:pPr>
            <a:r>
              <a:rPr lang="en-US" sz="1755" b="1">
                <a:solidFill>
                  <a:srgbClr val="1E293B"/>
                </a:solidFill>
                <a:latin typeface="Abadi" panose="020B0604020104020204" pitchFamily="34" charset="0"/>
                <a:ea typeface="Arial" pitchFamily="34" charset="-122"/>
                <a:cs typeface="Arial" pitchFamily="34" charset="-120"/>
              </a:rPr>
              <a:t>Hàng Thanh Lý</a:t>
            </a:r>
            <a:endParaRPr lang="en-US" sz="900">
              <a:latin typeface="Abadi" panose="020B0604020104020204" pitchFamily="34" charset="0"/>
            </a:endParaRPr>
          </a:p>
        </p:txBody>
      </p:sp>
      <p:sp>
        <p:nvSpPr>
          <p:cNvPr id="22544" name="Shape 23">
            <a:extLst>
              <a:ext uri="{FF2B5EF4-FFF2-40B4-BE49-F238E27FC236}">
                <a16:creationId xmlns:a16="http://schemas.microsoft.com/office/drawing/2014/main" id="{3D334821-49EC-3D34-E9FA-A63604299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4363" y="2549525"/>
            <a:ext cx="2586037" cy="57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22545" name="KPI_STOCK_THANH_LY">
            <a:extLst>
              <a:ext uri="{FF2B5EF4-FFF2-40B4-BE49-F238E27FC236}">
                <a16:creationId xmlns:a16="http://schemas.microsoft.com/office/drawing/2014/main" id="{BDC0D674-2ABF-8963-6ABF-1E58502A1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6750" y="2549525"/>
            <a:ext cx="253365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9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[SL ]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22546" name="TextBox 34">
            <a:extLst>
              <a:ext uri="{FF2B5EF4-FFF2-40B4-BE49-F238E27FC236}">
                <a16:creationId xmlns:a16="http://schemas.microsoft.com/office/drawing/2014/main" id="{883D012D-543E-2F0C-3FE7-1C7B0A9B7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73125"/>
            <a:ext cx="16764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rgbClr val="0070C0"/>
                </a:solidFill>
                <a:latin typeface="Abadi" panose="020B0604020104020204" pitchFamily="34" charset="0"/>
              </a:rPr>
              <a:t>3.2. TỒN KHO CỬA HÀNG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28E1937-E055-21F0-0591-BB7A24214EA6}"/>
              </a:ext>
            </a:extLst>
          </p:cNvPr>
          <p:cNvSpPr/>
          <p:nvPr/>
        </p:nvSpPr>
        <p:spPr>
          <a:xfrm>
            <a:off x="762000" y="1397000"/>
            <a:ext cx="16764000" cy="38100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2548" name="TextBox 37">
            <a:extLst>
              <a:ext uri="{FF2B5EF4-FFF2-40B4-BE49-F238E27FC236}">
                <a16:creationId xmlns:a16="http://schemas.microsoft.com/office/drawing/2014/main" id="{2D55A6F9-C663-5373-2804-2D11EE167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10138" y="9588500"/>
            <a:ext cx="169862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100">
                <a:solidFill>
                  <a:srgbClr val="646469"/>
                </a:solidFill>
                <a:latin typeface="Abadi" panose="020B0604020104020204" pitchFamily="34" charset="0"/>
              </a:rPr>
              <a:t>12</a:t>
            </a:r>
          </a:p>
        </p:txBody>
      </p:sp>
      <p:sp>
        <p:nvSpPr>
          <p:cNvPr id="22549" name="TextBox 1">
            <a:extLst>
              <a:ext uri="{FF2B5EF4-FFF2-40B4-BE49-F238E27FC236}">
                <a16:creationId xmlns:a16="http://schemas.microsoft.com/office/drawing/2014/main" id="{3A0D19F6-25BC-185C-7A52-51A69BCF0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4765675"/>
            <a:ext cx="128778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Abadi" panose="020B0604020104020204" pitchFamily="34" charset="0"/>
              </a:rPr>
              <a:t>Thêm thông tin tồn kho theo tuổi:</a:t>
            </a:r>
          </a:p>
          <a:p>
            <a:r>
              <a:rPr lang="en-US" altLang="en-US">
                <a:latin typeface="Abadi" panose="020B0604020104020204" pitchFamily="34" charset="0"/>
              </a:rPr>
              <a:t>+ Tồn kho sản phẩm 3 tháng</a:t>
            </a:r>
          </a:p>
          <a:p>
            <a:r>
              <a:rPr lang="en-US" altLang="en-US">
                <a:latin typeface="Abadi" panose="020B0604020104020204" pitchFamily="34" charset="0"/>
              </a:rPr>
              <a:t>+ Tồn kho sản phẩm 6 tháng</a:t>
            </a:r>
          </a:p>
          <a:p>
            <a:r>
              <a:rPr lang="en-US" altLang="en-US">
                <a:latin typeface="Abadi" panose="020B0604020104020204" pitchFamily="34" charset="0"/>
              </a:rPr>
              <a:t>+ Tồn kho sản phẩm 9 tháng</a:t>
            </a:r>
          </a:p>
          <a:p>
            <a:r>
              <a:rPr lang="en-US" altLang="en-US">
                <a:latin typeface="Abadi" panose="020B0604020104020204" pitchFamily="34" charset="0"/>
              </a:rPr>
              <a:t>+ Tồn kho sản phẩm trên 1 năm</a:t>
            </a:r>
          </a:p>
        </p:txBody>
      </p:sp>
      <p:sp>
        <p:nvSpPr>
          <p:cNvPr id="22550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STORE_STOCK_INVENTORY</a:t>
            </a:r>
          </a:p>
        </p:txBody>
      </p:sp>
      <p:sp>
        <p:nvSpPr>
          <p:cNvPr id="22551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hape 26">
            <a:extLst>
              <a:ext uri="{FF2B5EF4-FFF2-40B4-BE49-F238E27FC236}">
                <a16:creationId xmlns:a16="http://schemas.microsoft.com/office/drawing/2014/main" id="{E31E1AB6-271C-4F7B-5490-5181AF382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790700"/>
            <a:ext cx="16840200" cy="573088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23555" name="TBL_BEST_SELLERS">
            <a:extLst>
              <a:ext uri="{FF2B5EF4-FFF2-40B4-BE49-F238E27FC236}">
                <a16:creationId xmlns:a16="http://schemas.microsoft.com/office/drawing/2014/main" id="{21FB686B-3791-7E70-A329-28219E760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313" y="1790700"/>
            <a:ext cx="7935912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300" b="1">
                <a:solidFill>
                  <a:srgbClr val="CC1A1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TOP 10 SẢN PHẨM BÁN CHẠY</a:t>
            </a:r>
            <a:endParaRPr lang="en-US" altLang="en-US" sz="1200">
              <a:latin typeface="Abadi" panose="020B0604020104020204" pitchFamily="34" charset="0"/>
            </a:endParaRPr>
          </a:p>
        </p:txBody>
      </p:sp>
      <p:sp>
        <p:nvSpPr>
          <p:cNvPr id="23556" name="TextBox 34">
            <a:extLst>
              <a:ext uri="{FF2B5EF4-FFF2-40B4-BE49-F238E27FC236}">
                <a16:creationId xmlns:a16="http://schemas.microsoft.com/office/drawing/2014/main" id="{1E2253C5-C53E-D214-2DCC-BB0C4E90D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73125"/>
            <a:ext cx="16764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rgbClr val="0070C0"/>
                </a:solidFill>
                <a:latin typeface="Abadi" panose="020B0604020104020204" pitchFamily="34" charset="0"/>
              </a:rPr>
              <a:t>3.3. SẢN PHẨM BÁN CHẠY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253F80-ACB6-B333-727A-E05593A89248}"/>
              </a:ext>
            </a:extLst>
          </p:cNvPr>
          <p:cNvSpPr/>
          <p:nvPr/>
        </p:nvSpPr>
        <p:spPr>
          <a:xfrm>
            <a:off x="762000" y="1397000"/>
            <a:ext cx="16764000" cy="38100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3558" name="TextBox 37">
            <a:extLst>
              <a:ext uri="{FF2B5EF4-FFF2-40B4-BE49-F238E27FC236}">
                <a16:creationId xmlns:a16="http://schemas.microsoft.com/office/drawing/2014/main" id="{9897E03E-2B4F-84BB-7E04-1BA10F256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10138" y="9588500"/>
            <a:ext cx="169862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100">
                <a:solidFill>
                  <a:srgbClr val="646469"/>
                </a:solidFill>
                <a:latin typeface="Abadi" panose="020B0604020104020204" pitchFamily="34" charset="0"/>
              </a:rPr>
              <a:t>13</a:t>
            </a:r>
          </a:p>
        </p:txBody>
      </p:sp>
      <p:sp>
        <p:nvSpPr>
          <p:cNvPr id="23559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STORE_BEST_SELLERS</a:t>
            </a:r>
          </a:p>
        </p:txBody>
      </p:sp>
      <p:sp>
        <p:nvSpPr>
          <p:cNvPr id="23560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hape 29">
            <a:extLst>
              <a:ext uri="{FF2B5EF4-FFF2-40B4-BE49-F238E27FC236}">
                <a16:creationId xmlns:a16="http://schemas.microsoft.com/office/drawing/2014/main" id="{C7E1DE73-F120-1805-74AF-0CA34ECDC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638300"/>
            <a:ext cx="16764000" cy="573088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24579" name="TBL_SLOW_SELLERS">
            <a:extLst>
              <a:ext uri="{FF2B5EF4-FFF2-40B4-BE49-F238E27FC236}">
                <a16:creationId xmlns:a16="http://schemas.microsoft.com/office/drawing/2014/main" id="{23222380-0C9B-F9FC-4A74-F924324D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1638300"/>
            <a:ext cx="79375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300" b="1">
                <a:solidFill>
                  <a:srgbClr val="CC1A1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TOP 10 SẢN PHẨM BÁN CHẬM / TỒN LÂU</a:t>
            </a:r>
            <a:endParaRPr lang="en-US" altLang="en-US" sz="1200">
              <a:latin typeface="Abadi" panose="020B0604020104020204" pitchFamily="34" charset="0"/>
            </a:endParaRPr>
          </a:p>
        </p:txBody>
      </p:sp>
      <p:sp>
        <p:nvSpPr>
          <p:cNvPr id="24580" name="TextBox 34">
            <a:extLst>
              <a:ext uri="{FF2B5EF4-FFF2-40B4-BE49-F238E27FC236}">
                <a16:creationId xmlns:a16="http://schemas.microsoft.com/office/drawing/2014/main" id="{98B796D9-E94A-7669-F7C8-2A310C919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73125"/>
            <a:ext cx="16764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rgbClr val="0070C0"/>
                </a:solidFill>
                <a:latin typeface="Abadi" panose="020B0604020104020204" pitchFamily="34" charset="0"/>
              </a:rPr>
              <a:t>3.4. SẢN PHẨM BÁN CHẬM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7B19094-9EB4-B325-24C2-62DC0360D446}"/>
              </a:ext>
            </a:extLst>
          </p:cNvPr>
          <p:cNvSpPr/>
          <p:nvPr/>
        </p:nvSpPr>
        <p:spPr>
          <a:xfrm>
            <a:off x="762000" y="1397000"/>
            <a:ext cx="16764000" cy="38100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4582" name="TextBox 37">
            <a:extLst>
              <a:ext uri="{FF2B5EF4-FFF2-40B4-BE49-F238E27FC236}">
                <a16:creationId xmlns:a16="http://schemas.microsoft.com/office/drawing/2014/main" id="{A1822C09-063C-83FB-D8BB-A18FC401E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10138" y="9588500"/>
            <a:ext cx="169862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100">
                <a:solidFill>
                  <a:srgbClr val="646469"/>
                </a:solidFill>
                <a:latin typeface="Abadi" panose="020B0604020104020204" pitchFamily="34" charset="0"/>
              </a:rPr>
              <a:t>14</a:t>
            </a:r>
          </a:p>
        </p:txBody>
      </p:sp>
      <p:sp>
        <p:nvSpPr>
          <p:cNvPr id="24583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STORE_SLOW_SELLERS</a:t>
            </a:r>
          </a:p>
        </p:txBody>
      </p:sp>
      <p:sp>
        <p:nvSpPr>
          <p:cNvPr id="24584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>
            <a:extLst>
              <a:ext uri="{FF2B5EF4-FFF2-40B4-BE49-F238E27FC236}">
                <a16:creationId xmlns:a16="http://schemas.microsoft.com/office/drawing/2014/main" id="{BD6AEF4A-DF5C-DA8A-1F06-83AB35DED506}"/>
              </a:ext>
            </a:extLst>
          </p:cNvPr>
          <p:cNvSpPr/>
          <p:nvPr/>
        </p:nvSpPr>
        <p:spPr>
          <a:xfrm>
            <a:off x="777875" y="1930400"/>
            <a:ext cx="16764000" cy="74041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25603" name="Shape 6">
            <a:extLst>
              <a:ext uri="{FF2B5EF4-FFF2-40B4-BE49-F238E27FC236}">
                <a16:creationId xmlns:a16="http://schemas.microsoft.com/office/drawing/2014/main" id="{03F21952-CCC9-8680-476B-396BFAC1B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930400"/>
            <a:ext cx="16764000" cy="573088"/>
          </a:xfrm>
          <a:prstGeom prst="rect">
            <a:avLst/>
          </a:prstGeom>
          <a:solidFill>
            <a:srgbClr val="FDEAEA"/>
          </a:solidFill>
          <a:ln w="12700">
            <a:solidFill>
              <a:srgbClr val="CC1A1A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25604" name="Text 7">
            <a:extLst>
              <a:ext uri="{FF2B5EF4-FFF2-40B4-BE49-F238E27FC236}">
                <a16:creationId xmlns:a16="http://schemas.microsoft.com/office/drawing/2014/main" id="{BB6A485A-E1A7-6459-42CC-D54112802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1930400"/>
            <a:ext cx="164973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300" b="1">
                <a:solidFill>
                  <a:srgbClr val="CC1A1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DANH SÁCH NHÂN VIÊN CỬA HÀNG: SL nhân sự hiện tại / Định biên</a:t>
            </a:r>
          </a:p>
        </p:txBody>
      </p:sp>
      <p:graphicFrame>
        <p:nvGraphicFramePr>
          <p:cNvPr id="11" name="TBL_STORE_STAFF">
            <a:extLst>
              <a:ext uri="{FF2B5EF4-FFF2-40B4-BE49-F238E27FC236}">
                <a16:creationId xmlns:a16="http://schemas.microsoft.com/office/drawing/2014/main" id="{29F71024-C297-5898-BD09-41031F07A3BA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2930525"/>
          <a:ext cx="13450888" cy="6005513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9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5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7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260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Họ tên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1A1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Chức vụ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1A1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Thời gian làm việc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1A1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Kỹ</a:t>
                      </a:r>
                      <a:r>
                        <a:rPr kumimoji="0" lang="en-US" alt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kumimoji="0" lang="en-US" alt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bán</a:t>
                      </a:r>
                      <a:r>
                        <a:rPr kumimoji="0" lang="en-US" altLang="en-US" sz="2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23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hàng</a:t>
                      </a:r>
                      <a:endParaRPr kumimoji="0" lang="en-US" altLang="en-US" sz="23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1A1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Ghi chú</a:t>
                      </a:r>
                      <a:endParaRPr kumimoji="0" lang="en-US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</a:t>
                      </a:r>
                      <a:r>
                        <a:rPr kumimoji="0" lang="en-US" altLang="en-US" sz="1900" b="0" i="1" u="none" strike="noStrike" cap="none" normalizeH="0" baseline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Họ</a:t>
                      </a: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900" b="0" i="1" u="none" strike="noStrike" cap="none" normalizeH="0" baseline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tên</a:t>
                      </a: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]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[CHT/CHP/NVBH/NVTV]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</a:t>
                      </a:r>
                      <a:r>
                        <a:rPr kumimoji="0" lang="en-US" altLang="en-US" sz="1900" b="0" i="1" u="none" strike="noStrike" cap="none" normalizeH="0" baseline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Tháng</a:t>
                      </a: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en-US" altLang="en-US" sz="1900" b="0" i="1" u="none" strike="noStrike" cap="none" normalizeH="0" baseline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Năm</a:t>
                      </a: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]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0" i="1" u="none" strike="noStrike" cap="none" normalizeH="0" baseline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Tốt</a:t>
                      </a:r>
                      <a:r>
                        <a:rPr kumimoji="0" lang="en-US" alt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/ Đạt / </a:t>
                      </a:r>
                      <a:r>
                        <a:rPr kumimoji="0" lang="en-US" altLang="en-US" sz="1700" b="0" i="1" u="none" strike="noStrike" cap="none" normalizeH="0" baseline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Cần</a:t>
                      </a:r>
                      <a:r>
                        <a:rPr kumimoji="0" lang="en-US" alt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700" b="0" i="1" u="none" strike="noStrike" cap="none" normalizeH="0" baseline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cải</a:t>
                      </a:r>
                      <a:r>
                        <a:rPr kumimoji="0" lang="en-US" alt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700" b="0" i="1" u="none" strike="noStrike" cap="none" normalizeH="0" baseline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thiện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[Họ tên]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[CHT/CHP/NVBH/NVTV]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</a:t>
                      </a:r>
                      <a:r>
                        <a:rPr kumimoji="0" lang="en-US" altLang="en-US" sz="19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Tháng</a:t>
                      </a:r>
                      <a:r>
                        <a:rPr kumimoji="0" lang="en-US" altLang="en-US" sz="19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/Năm]</a:t>
                      </a:r>
                      <a:endParaRPr kumimoji="0" lang="en-US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Tốt / Đạt / Cần cải thiện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[Họ tên]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[CHT/CHP/NVBH/NVTV]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[Tháng/Năm]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Tốt</a:t>
                      </a:r>
                      <a:r>
                        <a:rPr kumimoji="0" lang="en-US" altLang="en-US" sz="17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/ Đạt / </a:t>
                      </a:r>
                      <a:r>
                        <a:rPr kumimoji="0" lang="en-US" altLang="en-US" sz="1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Cần</a:t>
                      </a:r>
                      <a:r>
                        <a:rPr kumimoji="0" lang="en-US" altLang="en-US" sz="17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cải</a:t>
                      </a:r>
                      <a:r>
                        <a:rPr kumimoji="0" lang="en-US" altLang="en-US" sz="17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thiện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[Họ tên]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[CHT/CHP/NVBH/NVTV]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[Tháng/Năm]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Tốt / Đạt / Cần cải thiện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[Họ tên]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[CHT/CHP/NVBH/NVTV]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[Tháng/Năm]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Tốt / Đạt / Cần cải thiện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88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[Họ tên]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[CHT/CHP/NVBH/NVTV]</a:t>
                      </a:r>
                      <a:endParaRPr kumimoji="0" lang="en-US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[Tháng/Năm]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Tốt</a:t>
                      </a:r>
                      <a:r>
                        <a:rPr kumimoji="0" lang="en-US" altLang="en-US" sz="17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/ Đạt / </a:t>
                      </a:r>
                      <a:r>
                        <a:rPr kumimoji="0" lang="en-US" altLang="en-US" sz="1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Cần</a:t>
                      </a:r>
                      <a:r>
                        <a:rPr kumimoji="0" lang="en-US" altLang="en-US" sz="17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cải</a:t>
                      </a:r>
                      <a:r>
                        <a:rPr kumimoji="0" lang="en-US" altLang="en-US" sz="17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7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thiện</a:t>
                      </a:r>
                      <a:endParaRPr kumimoji="0" lang="en-US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3" marB="45713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655" name="TextBox 21">
            <a:extLst>
              <a:ext uri="{FF2B5EF4-FFF2-40B4-BE49-F238E27FC236}">
                <a16:creationId xmlns:a16="http://schemas.microsoft.com/office/drawing/2014/main" id="{A0F8334A-2E21-906E-1D62-EC9ECE986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736600"/>
            <a:ext cx="75438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1">
                <a:solidFill>
                  <a:srgbClr val="800020"/>
                </a:solidFill>
                <a:latin typeface="Abadi" panose="020B0604020104020204" pitchFamily="34" charset="0"/>
              </a:rPr>
              <a:t>Phần 4. Vận hành – Đề xuất khắc phục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81C963-1FDD-E837-2408-89BCC8BB81E6}"/>
              </a:ext>
            </a:extLst>
          </p:cNvPr>
          <p:cNvSpPr/>
          <p:nvPr/>
        </p:nvSpPr>
        <p:spPr>
          <a:xfrm>
            <a:off x="762000" y="1752600"/>
            <a:ext cx="16764000" cy="38100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5657" name="TextBox 24">
            <a:extLst>
              <a:ext uri="{FF2B5EF4-FFF2-40B4-BE49-F238E27FC236}">
                <a16:creationId xmlns:a16="http://schemas.microsoft.com/office/drawing/2014/main" id="{E61BF147-1303-F668-92C0-2B667792C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10138" y="9588500"/>
            <a:ext cx="169862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100">
                <a:solidFill>
                  <a:srgbClr val="646469"/>
                </a:solidFill>
                <a:latin typeface="Abadi" panose="020B0604020104020204" pitchFamily="34" charset="0"/>
              </a:rPr>
              <a:t>15</a:t>
            </a:r>
          </a:p>
        </p:txBody>
      </p:sp>
      <p:sp>
        <p:nvSpPr>
          <p:cNvPr id="25658" name="TextBox 21">
            <a:extLst>
              <a:ext uri="{FF2B5EF4-FFF2-40B4-BE49-F238E27FC236}">
                <a16:creationId xmlns:a16="http://schemas.microsoft.com/office/drawing/2014/main" id="{55EB816A-0F96-C11B-AA88-BAEEC26DB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254125"/>
            <a:ext cx="7543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rgbClr val="0070C0"/>
                </a:solidFill>
                <a:latin typeface="Abadi" panose="020B0604020104020204" pitchFamily="34" charset="0"/>
              </a:rPr>
              <a:t>4.1 Thông tin nhân sự cửa hàng</a:t>
            </a:r>
          </a:p>
        </p:txBody>
      </p:sp>
      <p:sp>
        <p:nvSpPr>
          <p:cNvPr id="25659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STORE_STAFF_LIST</a:t>
            </a:r>
          </a:p>
        </p:txBody>
      </p:sp>
      <p:sp>
        <p:nvSpPr>
          <p:cNvPr id="25660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657C747-64B8-F50D-FD4B-F302DA8B5A81}"/>
              </a:ext>
            </a:extLst>
          </p:cNvPr>
          <p:cNvSpPr/>
          <p:nvPr/>
        </p:nvSpPr>
        <p:spPr>
          <a:xfrm>
            <a:off x="762000" y="1901825"/>
            <a:ext cx="3149600" cy="70977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183B2F-1740-CE25-435C-C7C1AADEAF72}"/>
              </a:ext>
            </a:extLst>
          </p:cNvPr>
          <p:cNvSpPr/>
          <p:nvPr/>
        </p:nvSpPr>
        <p:spPr>
          <a:xfrm>
            <a:off x="762000" y="1901825"/>
            <a:ext cx="3149600" cy="573088"/>
          </a:xfrm>
          <a:prstGeom prst="rect">
            <a:avLst/>
          </a:prstGeom>
          <a:solidFill>
            <a:srgbClr val="FD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A2000C-5F49-1B34-7871-7A9AD8294EBC}"/>
              </a:ext>
            </a:extLst>
          </p:cNvPr>
          <p:cNvSpPr txBox="1"/>
          <p:nvPr/>
        </p:nvSpPr>
        <p:spPr>
          <a:xfrm>
            <a:off x="890588" y="1901825"/>
            <a:ext cx="2673350" cy="338138"/>
          </a:xfrm>
          <a:prstGeom prst="rect">
            <a:avLst/>
          </a:prstGeom>
          <a:noFill/>
        </p:spPr>
        <p:txBody>
          <a:bodyPr wrap="none" lIns="0" tIns="38100" rIns="0" bIns="0">
            <a:spAutoFit/>
          </a:bodyPr>
          <a:lstStyle/>
          <a:p>
            <a:pPr>
              <a:defRPr sz="1950" b="1">
                <a:solidFill>
                  <a:srgbClr val="000000"/>
                </a:solidFill>
                <a:latin typeface="Arial"/>
              </a:defRPr>
            </a:pPr>
            <a:r>
              <a:rPr sz="1950" b="1">
                <a:solidFill>
                  <a:srgbClr val="000000"/>
                </a:solidFill>
                <a:latin typeface="Abadi" panose="020B0604020104020204" pitchFamily="34" charset="0"/>
              </a:rPr>
              <a:t>A. NHÂN SỰ CỬA HÀNG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C77445-3620-FCF8-E96A-A6A44B930635}"/>
              </a:ext>
            </a:extLst>
          </p:cNvPr>
          <p:cNvSpPr txBox="1"/>
          <p:nvPr/>
        </p:nvSpPr>
        <p:spPr>
          <a:xfrm>
            <a:off x="890588" y="2674938"/>
            <a:ext cx="2895600" cy="399097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sz="1852">
                <a:solidFill>
                  <a:srgbClr val="3C3C3C"/>
                </a:solidFill>
                <a:latin typeface="Abadi" panose="020B0604020104020204" pitchFamily="34" charset="0"/>
              </a:rPr>
              <a:t>A1. Đủ định biên nhân sự vận hành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sz="1852">
              <a:solidFill>
                <a:srgbClr val="3C3C3C"/>
              </a:solidFill>
              <a:latin typeface="Abadi" panose="020B0604020104020204" pitchFamily="34" charset="0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sz="1852">
                <a:solidFill>
                  <a:srgbClr val="3C3C3C"/>
                </a:solidFill>
                <a:latin typeface="Abadi" panose="020B0604020104020204" pitchFamily="34" charset="0"/>
              </a:rPr>
              <a:t>A2. Tình trạng nhân viên nghỉ việc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sz="1852">
              <a:solidFill>
                <a:srgbClr val="3C3C3C"/>
              </a:solidFill>
              <a:latin typeface="Abadi" panose="020B0604020104020204" pitchFamily="34" charset="0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sz="1852">
                <a:solidFill>
                  <a:srgbClr val="3C3C3C"/>
                </a:solidFill>
                <a:latin typeface="Abadi" panose="020B0604020104020204" pitchFamily="34" charset="0"/>
              </a:rPr>
              <a:t>A3. Lý do nghỉ việc chính của nhân viên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sz="1852">
              <a:solidFill>
                <a:srgbClr val="3C3C3C"/>
              </a:solidFill>
              <a:latin typeface="Abadi" panose="020B0604020104020204" pitchFamily="34" charset="0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sz="1852">
                <a:solidFill>
                  <a:srgbClr val="3C3C3C"/>
                </a:solidFill>
                <a:latin typeface="Abadi" panose="020B0604020104020204" pitchFamily="34" charset="0"/>
              </a:rPr>
              <a:t>A4. Sắp xếp lịch phân ca tại cửa hàng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sz="1852">
              <a:solidFill>
                <a:srgbClr val="3C3C3C"/>
              </a:solidFill>
              <a:latin typeface="Abadi" panose="020B0604020104020204" pitchFamily="34" charset="0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sz="1852">
                <a:solidFill>
                  <a:srgbClr val="3C3C3C"/>
                </a:solidFill>
                <a:latin typeface="Abadi" panose="020B0604020104020204" pitchFamily="34" charset="0"/>
              </a:rPr>
              <a:t>A5. Đào tạo nghiệp vụ &amp; sản phẩm mới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519F446-56C2-522D-A90F-9720A30CE96E}"/>
              </a:ext>
            </a:extLst>
          </p:cNvPr>
          <p:cNvSpPr/>
          <p:nvPr/>
        </p:nvSpPr>
        <p:spPr>
          <a:xfrm>
            <a:off x="4165600" y="1901825"/>
            <a:ext cx="3149600" cy="70977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4DA1F7-774C-1740-EFFD-94615CBFC6A6}"/>
              </a:ext>
            </a:extLst>
          </p:cNvPr>
          <p:cNvSpPr/>
          <p:nvPr/>
        </p:nvSpPr>
        <p:spPr>
          <a:xfrm>
            <a:off x="4165600" y="1901825"/>
            <a:ext cx="3149600" cy="573088"/>
          </a:xfrm>
          <a:prstGeom prst="rect">
            <a:avLst/>
          </a:prstGeom>
          <a:solidFill>
            <a:srgbClr val="FD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627EAF-4D33-991D-0A71-31BD619C884F}"/>
              </a:ext>
            </a:extLst>
          </p:cNvPr>
          <p:cNvSpPr txBox="1"/>
          <p:nvPr/>
        </p:nvSpPr>
        <p:spPr>
          <a:xfrm>
            <a:off x="4254500" y="1901825"/>
            <a:ext cx="2894013" cy="638175"/>
          </a:xfrm>
          <a:prstGeom prst="rect">
            <a:avLst/>
          </a:prstGeom>
          <a:noFill/>
        </p:spPr>
        <p:txBody>
          <a:bodyPr lIns="0" tIns="38100" rIns="0" bIns="0">
            <a:spAutoFit/>
          </a:bodyPr>
          <a:lstStyle/>
          <a:p>
            <a:pPr algn="ctr">
              <a:defRPr sz="1950" b="1">
                <a:solidFill>
                  <a:srgbClr val="000000"/>
                </a:solidFill>
                <a:latin typeface="Arial"/>
              </a:defRPr>
            </a:pPr>
            <a:r>
              <a:rPr sz="1950" b="1">
                <a:solidFill>
                  <a:srgbClr val="000000"/>
                </a:solidFill>
                <a:latin typeface="Abadi" panose="020B0604020104020204" pitchFamily="34" charset="0"/>
              </a:rPr>
              <a:t>B. HÀNG HÓ</a:t>
            </a:r>
            <a:r>
              <a:rPr lang="en-US" sz="1950" b="1">
                <a:solidFill>
                  <a:srgbClr val="000000"/>
                </a:solidFill>
                <a:latin typeface="Abadi" panose="020B0604020104020204" pitchFamily="34" charset="0"/>
              </a:rPr>
              <a:t>A</a:t>
            </a:r>
          </a:p>
          <a:p>
            <a:pPr algn="ctr">
              <a:defRPr sz="1950" b="1">
                <a:solidFill>
                  <a:srgbClr val="000000"/>
                </a:solidFill>
                <a:latin typeface="Arial"/>
              </a:defRPr>
            </a:pPr>
            <a:r>
              <a:rPr sz="1950" b="1">
                <a:solidFill>
                  <a:srgbClr val="000000"/>
                </a:solidFill>
                <a:latin typeface="Abadi" panose="020B0604020104020204" pitchFamily="34" charset="0"/>
              </a:rPr>
              <a:t>TRƯNG BÀY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9FA5AE-7B76-2140-51FB-F7CAE4B5844B}"/>
              </a:ext>
            </a:extLst>
          </p:cNvPr>
          <p:cNvSpPr txBox="1"/>
          <p:nvPr/>
        </p:nvSpPr>
        <p:spPr>
          <a:xfrm>
            <a:off x="4294188" y="2674938"/>
            <a:ext cx="2894012" cy="3135312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sz="1852">
                <a:solidFill>
                  <a:srgbClr val="3C3C3C"/>
                </a:solidFill>
                <a:latin typeface="Abadi" panose="020B0604020104020204" pitchFamily="34" charset="0"/>
              </a:rPr>
              <a:t>B1. Tình trạng đầy đủ hàng hóa/mã hàng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sz="1852">
              <a:solidFill>
                <a:srgbClr val="3C3C3C"/>
              </a:solidFill>
              <a:latin typeface="Abadi" panose="020B0604020104020204" pitchFamily="34" charset="0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sz="1852">
                <a:solidFill>
                  <a:srgbClr val="3C3C3C"/>
                </a:solidFill>
                <a:latin typeface="Abadi" panose="020B0604020104020204" pitchFamily="34" charset="0"/>
              </a:rPr>
              <a:t>B2. Xử lý hàng tồn kho, hàng bán chậm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sz="1852">
              <a:solidFill>
                <a:srgbClr val="3C3C3C"/>
              </a:solidFill>
              <a:latin typeface="Abadi" panose="020B0604020104020204" pitchFamily="34" charset="0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sz="1852">
                <a:solidFill>
                  <a:srgbClr val="3C3C3C"/>
                </a:solidFill>
                <a:latin typeface="Abadi" panose="020B0604020104020204" pitchFamily="34" charset="0"/>
              </a:rPr>
              <a:t>B3. Thực hiện tiêu chuẩn trưng bày (VM)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sz="1852">
              <a:solidFill>
                <a:srgbClr val="3C3C3C"/>
              </a:solidFill>
              <a:latin typeface="Abadi" panose="020B0604020104020204" pitchFamily="34" charset="0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sz="1852">
                <a:solidFill>
                  <a:srgbClr val="3C3C3C"/>
                </a:solidFill>
                <a:latin typeface="Abadi" panose="020B0604020104020204" pitchFamily="34" charset="0"/>
              </a:rPr>
              <a:t>B4. Quy trình xử lý sự cố hàng hóa</a:t>
            </a:r>
          </a:p>
        </p:txBody>
      </p:sp>
      <p:sp>
        <p:nvSpPr>
          <p:cNvPr id="26634" name="TextBox 18">
            <a:extLst>
              <a:ext uri="{FF2B5EF4-FFF2-40B4-BE49-F238E27FC236}">
                <a16:creationId xmlns:a16="http://schemas.microsoft.com/office/drawing/2014/main" id="{709A1965-BE14-11EA-4650-BE455E086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73125"/>
            <a:ext cx="16764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rgbClr val="0070C0"/>
                </a:solidFill>
                <a:latin typeface="Abadi" panose="020B0604020104020204" pitchFamily="34" charset="0"/>
              </a:rPr>
              <a:t>4.2. QLKD KHẢO SÁT, GHI NHẬN VÀ HỖ TRỢ CỬA HÀNG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F2373C-1913-9B6A-B1AA-060F73AFA762}"/>
              </a:ext>
            </a:extLst>
          </p:cNvPr>
          <p:cNvSpPr/>
          <p:nvPr/>
        </p:nvSpPr>
        <p:spPr>
          <a:xfrm>
            <a:off x="762000" y="1397000"/>
            <a:ext cx="10150475" cy="38100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6636" name="TextBox 21">
            <a:extLst>
              <a:ext uri="{FF2B5EF4-FFF2-40B4-BE49-F238E27FC236}">
                <a16:creationId xmlns:a16="http://schemas.microsoft.com/office/drawing/2014/main" id="{D52BB329-FAC4-9089-6BBC-A76B0DF0A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10138" y="9588500"/>
            <a:ext cx="169862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100">
                <a:solidFill>
                  <a:srgbClr val="646469"/>
                </a:solidFill>
                <a:latin typeface="Abadi" panose="020B0604020104020204" pitchFamily="34" charset="0"/>
              </a:rPr>
              <a:t>16</a:t>
            </a:r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FD78CD85-4DE9-676B-97EF-870B9F099B57}"/>
              </a:ext>
            </a:extLst>
          </p:cNvPr>
          <p:cNvSpPr/>
          <p:nvPr/>
        </p:nvSpPr>
        <p:spPr>
          <a:xfrm>
            <a:off x="7569200" y="1901825"/>
            <a:ext cx="3149600" cy="70977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B56440-3F68-9D5A-F1BD-7F5B1BAA0753}"/>
              </a:ext>
            </a:extLst>
          </p:cNvPr>
          <p:cNvSpPr/>
          <p:nvPr/>
        </p:nvSpPr>
        <p:spPr>
          <a:xfrm>
            <a:off x="7569200" y="1901825"/>
            <a:ext cx="3149600" cy="573088"/>
          </a:xfrm>
          <a:prstGeom prst="rect">
            <a:avLst/>
          </a:prstGeom>
          <a:solidFill>
            <a:srgbClr val="FD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AEF703-E4BA-BBAF-C25D-6CA9D2C88338}"/>
              </a:ext>
            </a:extLst>
          </p:cNvPr>
          <p:cNvSpPr txBox="1"/>
          <p:nvPr/>
        </p:nvSpPr>
        <p:spPr>
          <a:xfrm>
            <a:off x="7620000" y="1901825"/>
            <a:ext cx="3098800" cy="638175"/>
          </a:xfrm>
          <a:prstGeom prst="rect">
            <a:avLst/>
          </a:prstGeom>
          <a:noFill/>
        </p:spPr>
        <p:txBody>
          <a:bodyPr lIns="0" tIns="38100" rIns="0" bIns="0">
            <a:spAutoFit/>
          </a:bodyPr>
          <a:lstStyle/>
          <a:p>
            <a:pPr>
              <a:defRPr sz="1950" b="1">
                <a:solidFill>
                  <a:srgbClr val="000000"/>
                </a:solidFill>
                <a:latin typeface="Arial"/>
              </a:defRPr>
            </a:pPr>
            <a:r>
              <a:rPr lang="en-US" sz="1950" b="1" dirty="0">
                <a:solidFill>
                  <a:srgbClr val="000000"/>
                </a:solidFill>
                <a:latin typeface="Abadi" panose="020B0604020104020204" pitchFamily="34" charset="0"/>
              </a:rPr>
              <a:t>C</a:t>
            </a:r>
            <a:r>
              <a:rPr sz="1950" b="1">
                <a:solidFill>
                  <a:srgbClr val="000000"/>
                </a:solidFill>
                <a:latin typeface="Abadi" panose="020B0604020104020204" pitchFamily="34" charset="0"/>
              </a:rPr>
              <a:t>. </a:t>
            </a:r>
            <a:r>
              <a:rPr lang="en-US" sz="1950" b="1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sz="1950" b="1" dirty="0" err="1">
                <a:solidFill>
                  <a:srgbClr val="000000"/>
                </a:solidFill>
                <a:latin typeface="Abadi" panose="020B0604020104020204" pitchFamily="34" charset="0"/>
              </a:rPr>
              <a:t>Góp</a:t>
            </a:r>
            <a:r>
              <a:rPr lang="en-US" sz="1950" b="1" dirty="0">
                <a:solidFill>
                  <a:srgbClr val="000000"/>
                </a:solidFill>
                <a:latin typeface="Abadi" panose="020B0604020104020204" pitchFamily="34" charset="0"/>
              </a:rPr>
              <a:t> ý </a:t>
            </a:r>
            <a:r>
              <a:rPr lang="en-US" sz="1950" b="1" dirty="0" err="1">
                <a:solidFill>
                  <a:srgbClr val="000000"/>
                </a:solidFill>
                <a:latin typeface="Abadi" panose="020B0604020104020204" pitchFamily="34" charset="0"/>
              </a:rPr>
              <a:t>và</a:t>
            </a:r>
            <a:r>
              <a:rPr lang="en-US" sz="1950" b="1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sz="1950" b="1" dirty="0" err="1">
                <a:solidFill>
                  <a:srgbClr val="000000"/>
                </a:solidFill>
                <a:latin typeface="Abadi" panose="020B0604020104020204" pitchFamily="34" charset="0"/>
              </a:rPr>
              <a:t>đề</a:t>
            </a:r>
            <a:r>
              <a:rPr lang="en-US" sz="1950" b="1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sz="1950" b="1" dirty="0" err="1">
                <a:solidFill>
                  <a:srgbClr val="000000"/>
                </a:solidFill>
                <a:latin typeface="Abadi" panose="020B0604020104020204" pitchFamily="34" charset="0"/>
              </a:rPr>
              <a:t>xuất</a:t>
            </a:r>
            <a:r>
              <a:rPr lang="en-US" sz="1950" b="1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sz="1950" b="1" dirty="0" err="1">
                <a:solidFill>
                  <a:srgbClr val="000000"/>
                </a:solidFill>
                <a:latin typeface="Abadi" panose="020B0604020104020204" pitchFamily="34" charset="0"/>
              </a:rPr>
              <a:t>của</a:t>
            </a:r>
            <a:r>
              <a:rPr lang="en-US" sz="1950" b="1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sz="1950" b="1" dirty="0" err="1">
                <a:solidFill>
                  <a:srgbClr val="000000"/>
                </a:solidFill>
                <a:latin typeface="Abadi" panose="020B0604020104020204" pitchFamily="34" charset="0"/>
              </a:rPr>
              <a:t>cửa</a:t>
            </a:r>
            <a:r>
              <a:rPr lang="en-US" sz="1950" b="1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sz="1950" b="1" dirty="0" err="1">
                <a:solidFill>
                  <a:srgbClr val="000000"/>
                </a:solidFill>
                <a:latin typeface="Abadi" panose="020B0604020104020204" pitchFamily="34" charset="0"/>
              </a:rPr>
              <a:t>hàng</a:t>
            </a:r>
            <a:endParaRPr sz="1950" b="1" dirty="0">
              <a:solidFill>
                <a:srgbClr val="000000"/>
              </a:solidFill>
              <a:latin typeface="Abadi" panose="020B0604020104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FED6CD-21B0-EAE8-AA19-82FF938B0AE4}"/>
              </a:ext>
            </a:extLst>
          </p:cNvPr>
          <p:cNvSpPr txBox="1"/>
          <p:nvPr/>
        </p:nvSpPr>
        <p:spPr>
          <a:xfrm>
            <a:off x="7727950" y="2674938"/>
            <a:ext cx="2894013" cy="2849562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lang="en-US" sz="1852">
                <a:solidFill>
                  <a:srgbClr val="3C3C3C"/>
                </a:solidFill>
                <a:latin typeface="Abadi" panose="020B0604020104020204" pitchFamily="34" charset="0"/>
              </a:rPr>
              <a:t>C1. Lắng nghe ý kiến từ nhân viên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lang="en-US" sz="1852">
              <a:solidFill>
                <a:srgbClr val="3C3C3C"/>
              </a:solidFill>
              <a:latin typeface="Abadi" panose="020B0604020104020204" pitchFamily="34" charset="0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lang="en-US" sz="1852">
                <a:solidFill>
                  <a:srgbClr val="3C3C3C"/>
                </a:solidFill>
                <a:latin typeface="Abadi" panose="020B0604020104020204" pitchFamily="34" charset="0"/>
              </a:rPr>
              <a:t>C2. Mong muốn lớn nhất đối với quản lý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lang="en-US" sz="1852">
              <a:solidFill>
                <a:srgbClr val="3C3C3C"/>
              </a:solidFill>
              <a:latin typeface="Abadi" panose="020B0604020104020204" pitchFamily="34" charset="0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lang="en-US" sz="1852">
                <a:solidFill>
                  <a:srgbClr val="3C3C3C"/>
                </a:solidFill>
                <a:latin typeface="Abadi" panose="020B0604020104020204" pitchFamily="34" charset="0"/>
              </a:rPr>
              <a:t>C3. Khó khăn gặp phải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lang="en-US" sz="1852">
              <a:solidFill>
                <a:srgbClr val="3C3C3C"/>
              </a:solidFill>
              <a:latin typeface="Abadi" panose="020B0604020104020204" pitchFamily="34" charset="0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lang="en-US" sz="1852">
                <a:solidFill>
                  <a:srgbClr val="3C3C3C"/>
                </a:solidFill>
                <a:latin typeface="Abadi" panose="020B0604020104020204" pitchFamily="34" charset="0"/>
              </a:rPr>
              <a:t>C4. Ý kiến đóng góp tự do khác</a:t>
            </a:r>
            <a:endParaRPr sz="1852" dirty="0">
              <a:solidFill>
                <a:srgbClr val="3C3C3C"/>
              </a:solidFill>
              <a:latin typeface="Abadi" panose="020B0604020104020204" pitchFamily="34" charset="0"/>
            </a:endParaRPr>
          </a:p>
        </p:txBody>
      </p:sp>
      <p:sp>
        <p:nvSpPr>
          <p:cNvPr id="4" name="Rounded Rectangle 10">
            <a:extLst>
              <a:ext uri="{FF2B5EF4-FFF2-40B4-BE49-F238E27FC236}">
                <a16:creationId xmlns:a16="http://schemas.microsoft.com/office/drawing/2014/main" id="{7339B745-99A8-3830-EBAD-6CE6457C11E4}"/>
              </a:ext>
            </a:extLst>
          </p:cNvPr>
          <p:cNvSpPr/>
          <p:nvPr/>
        </p:nvSpPr>
        <p:spPr>
          <a:xfrm>
            <a:off x="10972800" y="1901825"/>
            <a:ext cx="3149600" cy="70977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44CBF9-75B3-C4D8-A2FC-4D9EC4A3F020}"/>
              </a:ext>
            </a:extLst>
          </p:cNvPr>
          <p:cNvSpPr/>
          <p:nvPr/>
        </p:nvSpPr>
        <p:spPr>
          <a:xfrm>
            <a:off x="10972800" y="1901825"/>
            <a:ext cx="3149600" cy="573088"/>
          </a:xfrm>
          <a:prstGeom prst="rect">
            <a:avLst/>
          </a:prstGeom>
          <a:solidFill>
            <a:srgbClr val="FD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F6DD86-755D-44AD-9F14-21E784F85442}"/>
              </a:ext>
            </a:extLst>
          </p:cNvPr>
          <p:cNvSpPr txBox="1"/>
          <p:nvPr/>
        </p:nvSpPr>
        <p:spPr>
          <a:xfrm>
            <a:off x="11101388" y="1901825"/>
            <a:ext cx="2425700" cy="338138"/>
          </a:xfrm>
          <a:prstGeom prst="rect">
            <a:avLst/>
          </a:prstGeom>
          <a:noFill/>
        </p:spPr>
        <p:txBody>
          <a:bodyPr wrap="none" lIns="0" tIns="38100" rIns="0" bIns="0">
            <a:spAutoFit/>
          </a:bodyPr>
          <a:lstStyle/>
          <a:p>
            <a:pPr>
              <a:defRPr sz="1950" b="1">
                <a:solidFill>
                  <a:srgbClr val="000000"/>
                </a:solidFill>
                <a:latin typeface="Arial"/>
              </a:defRPr>
            </a:pPr>
            <a:r>
              <a:rPr lang="en-US" sz="1950" b="1">
                <a:solidFill>
                  <a:srgbClr val="000000"/>
                </a:solidFill>
                <a:latin typeface="Abadi" panose="020B0604020104020204" pitchFamily="34" charset="0"/>
              </a:rPr>
              <a:t>D</a:t>
            </a:r>
            <a:r>
              <a:rPr sz="1950" b="1">
                <a:solidFill>
                  <a:srgbClr val="000000"/>
                </a:solidFill>
                <a:latin typeface="Abadi" panose="020B0604020104020204" pitchFamily="34" charset="0"/>
              </a:rPr>
              <a:t>. VẬN HÀNH NỘI BỘ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8BE702-AEE1-9652-F055-DE86F602D91D}"/>
              </a:ext>
            </a:extLst>
          </p:cNvPr>
          <p:cNvSpPr txBox="1"/>
          <p:nvPr/>
        </p:nvSpPr>
        <p:spPr>
          <a:xfrm>
            <a:off x="11101388" y="2674938"/>
            <a:ext cx="2894012" cy="484505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lang="en-US" sz="1852">
                <a:solidFill>
                  <a:srgbClr val="3C3C3C"/>
                </a:solidFill>
                <a:latin typeface="Abadi" panose="020B0604020104020204" pitchFamily="34" charset="0"/>
              </a:rPr>
              <a:t>D1. Quy trình đóng / mở cửa hàng chuẩn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lang="en-US" sz="1852">
              <a:solidFill>
                <a:srgbClr val="3C3C3C"/>
              </a:solidFill>
              <a:latin typeface="Abadi" panose="020B0604020104020204" pitchFamily="34" charset="0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lang="en-US" sz="1852">
                <a:solidFill>
                  <a:srgbClr val="3C3C3C"/>
                </a:solidFill>
                <a:latin typeface="Abadi" panose="020B0604020104020204" pitchFamily="34" charset="0"/>
              </a:rPr>
              <a:t>D2. Công tác kiểm kho định kỳ tại CH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lang="en-US" sz="1852">
              <a:solidFill>
                <a:srgbClr val="3C3C3C"/>
              </a:solidFill>
              <a:latin typeface="Abadi" panose="020B0604020104020204" pitchFamily="34" charset="0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lang="en-US" sz="1852">
                <a:solidFill>
                  <a:srgbClr val="3C3C3C"/>
                </a:solidFill>
                <a:latin typeface="Abadi" panose="020B0604020104020204" pitchFamily="34" charset="0"/>
              </a:rPr>
              <a:t>D3. Thực hiện gửi báo cáo đúng hạn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lang="en-US" sz="1852">
              <a:solidFill>
                <a:srgbClr val="3C3C3C"/>
              </a:solidFill>
              <a:latin typeface="Abadi" panose="020B0604020104020204" pitchFamily="34" charset="0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lang="en-US" sz="1852">
                <a:solidFill>
                  <a:srgbClr val="3C3C3C"/>
                </a:solidFill>
                <a:latin typeface="Abadi" panose="020B0604020104020204" pitchFamily="34" charset="0"/>
              </a:rPr>
              <a:t>D4. Quy trình xử lý sự cố khẩn cấp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lang="en-US" sz="1852">
              <a:solidFill>
                <a:srgbClr val="3C3C3C"/>
              </a:solidFill>
              <a:latin typeface="Abadi" panose="020B0604020104020204" pitchFamily="34" charset="0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lang="en-US" sz="1852">
                <a:solidFill>
                  <a:srgbClr val="3C3C3C"/>
                </a:solidFill>
                <a:latin typeface="Abadi" panose="020B0604020104020204" pitchFamily="34" charset="0"/>
              </a:rPr>
              <a:t>D5. Hiệu quả công cụ, phần mềm (POS...)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lang="en-US" sz="1852">
              <a:solidFill>
                <a:srgbClr val="3C3C3C"/>
              </a:solidFill>
              <a:latin typeface="Abadi" panose="020B0604020104020204" pitchFamily="34" charset="0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lang="en-US" sz="1852">
                <a:solidFill>
                  <a:srgbClr val="3C3C3C"/>
                </a:solidFill>
                <a:latin typeface="Abadi" panose="020B0604020104020204" pitchFamily="34" charset="0"/>
              </a:rPr>
              <a:t>D6. Nhu cầu đào tạo thêm kỹ năng (nếu cần)</a:t>
            </a:r>
            <a:endParaRPr sz="1852">
              <a:solidFill>
                <a:srgbClr val="3C3C3C"/>
              </a:solidFill>
              <a:latin typeface="Abadi" panose="020B0604020104020204" pitchFamily="34" charset="0"/>
            </a:endParaRPr>
          </a:p>
        </p:txBody>
      </p:sp>
      <p:sp>
        <p:nvSpPr>
          <p:cNvPr id="24" name="Rounded Rectangle 14">
            <a:extLst>
              <a:ext uri="{FF2B5EF4-FFF2-40B4-BE49-F238E27FC236}">
                <a16:creationId xmlns:a16="http://schemas.microsoft.com/office/drawing/2014/main" id="{21F4509C-6509-A82D-FBDE-1EC2C496E2CE}"/>
              </a:ext>
            </a:extLst>
          </p:cNvPr>
          <p:cNvSpPr/>
          <p:nvPr/>
        </p:nvSpPr>
        <p:spPr>
          <a:xfrm>
            <a:off x="14376400" y="1901825"/>
            <a:ext cx="3149600" cy="70977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A80A49-6DEC-E94A-6CC8-58770407E976}"/>
              </a:ext>
            </a:extLst>
          </p:cNvPr>
          <p:cNvSpPr/>
          <p:nvPr/>
        </p:nvSpPr>
        <p:spPr>
          <a:xfrm>
            <a:off x="14376400" y="1901825"/>
            <a:ext cx="3149600" cy="573088"/>
          </a:xfrm>
          <a:prstGeom prst="rect">
            <a:avLst/>
          </a:prstGeom>
          <a:solidFill>
            <a:srgbClr val="FD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BD7F00-E909-F172-C4FE-8C5D9F553C94}"/>
              </a:ext>
            </a:extLst>
          </p:cNvPr>
          <p:cNvSpPr txBox="1"/>
          <p:nvPr/>
        </p:nvSpPr>
        <p:spPr>
          <a:xfrm>
            <a:off x="14504988" y="1901825"/>
            <a:ext cx="2667000" cy="338138"/>
          </a:xfrm>
          <a:prstGeom prst="rect">
            <a:avLst/>
          </a:prstGeom>
          <a:noFill/>
        </p:spPr>
        <p:txBody>
          <a:bodyPr wrap="none" lIns="0" tIns="38100" rIns="0" bIns="0">
            <a:spAutoFit/>
          </a:bodyPr>
          <a:lstStyle/>
          <a:p>
            <a:pPr>
              <a:defRPr sz="1950" b="1">
                <a:solidFill>
                  <a:srgbClr val="000000"/>
                </a:solidFill>
                <a:latin typeface="Arial"/>
              </a:defRPr>
            </a:pPr>
            <a:r>
              <a:rPr lang="en-US" sz="1950" b="1">
                <a:solidFill>
                  <a:srgbClr val="000000"/>
                </a:solidFill>
                <a:latin typeface="Abadi" panose="020B0604020104020204" pitchFamily="34" charset="0"/>
              </a:rPr>
              <a:t>E</a:t>
            </a:r>
            <a:r>
              <a:rPr sz="1950" b="1">
                <a:solidFill>
                  <a:srgbClr val="000000"/>
                </a:solidFill>
                <a:latin typeface="Abadi" panose="020B0604020104020204" pitchFamily="34" charset="0"/>
              </a:rPr>
              <a:t>. HIỆU QUẢ BÁN HÀNG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8413F9-39E5-C2E3-FD00-8980800C8168}"/>
              </a:ext>
            </a:extLst>
          </p:cNvPr>
          <p:cNvSpPr txBox="1"/>
          <p:nvPr/>
        </p:nvSpPr>
        <p:spPr>
          <a:xfrm>
            <a:off x="14504988" y="2674938"/>
            <a:ext cx="2894012" cy="655478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lang="vi-VN" sz="1852">
                <a:solidFill>
                  <a:srgbClr val="3C3C3C"/>
                </a:solidFill>
                <a:latin typeface="Arial"/>
              </a:rPr>
              <a:t>E1. Lý do khách rời đi không mua hàng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lang="vi-VN" sz="1852">
              <a:solidFill>
                <a:srgbClr val="3C3C3C"/>
              </a:solidFill>
              <a:latin typeface="Arial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lang="vi-VN" sz="1852">
                <a:solidFill>
                  <a:srgbClr val="3C3C3C"/>
                </a:solidFill>
                <a:latin typeface="Arial"/>
              </a:rPr>
              <a:t>E2. Độ tự tin tư vấn chất liệu, phối đồ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lang="vi-VN" sz="1852">
              <a:solidFill>
                <a:srgbClr val="3C3C3C"/>
              </a:solidFill>
              <a:latin typeface="Arial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lang="vi-VN" sz="1852">
                <a:solidFill>
                  <a:srgbClr val="3C3C3C"/>
                </a:solidFill>
                <a:latin typeface="Arial"/>
              </a:rPr>
              <a:t>E3. Áp dụng kỹ thuật bán thêm (Upsell)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lang="vi-VN" sz="1852">
              <a:solidFill>
                <a:srgbClr val="3C3C3C"/>
              </a:solidFill>
              <a:latin typeface="Arial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lang="vi-VN" sz="1852">
                <a:solidFill>
                  <a:srgbClr val="3C3C3C"/>
                </a:solidFill>
                <a:latin typeface="Arial"/>
              </a:rPr>
              <a:t>E4. Động lực từ chính sách thưởng/hoa hồng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lang="vi-VN" sz="1852">
              <a:solidFill>
                <a:srgbClr val="3C3C3C"/>
              </a:solidFill>
              <a:latin typeface="Arial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lang="vi-VN" sz="1852">
                <a:solidFill>
                  <a:srgbClr val="3C3C3C"/>
                </a:solidFill>
                <a:latin typeface="Arial"/>
              </a:rPr>
              <a:t>E5. Đánh giá doanh số so với cùng kỳ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lang="vi-VN" sz="1852">
              <a:solidFill>
                <a:srgbClr val="3C3C3C"/>
              </a:solidFill>
              <a:latin typeface="Arial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lang="vi-VN" sz="1852">
                <a:solidFill>
                  <a:srgbClr val="3C3C3C"/>
                </a:solidFill>
                <a:latin typeface="Arial"/>
              </a:rPr>
              <a:t>E6. Mở rộng tệp khách hàng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lang="vi-VN" sz="1852">
              <a:solidFill>
                <a:srgbClr val="3C3C3C"/>
              </a:solidFill>
              <a:latin typeface="Arial"/>
            </a:endParaRP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r>
              <a:rPr lang="vi-VN" sz="1852">
                <a:solidFill>
                  <a:srgbClr val="3C3C3C"/>
                </a:solidFill>
                <a:latin typeface="Arial"/>
              </a:rPr>
              <a:t>E7. Tìm kiếm khách hàng cho hợp đồng trong bán kính 2km (cơ quan, trường học, ngân hàng...)</a:t>
            </a:r>
          </a:p>
          <a:p>
            <a:pPr>
              <a:defRPr sz="1852" b="0">
                <a:solidFill>
                  <a:srgbClr val="3C3C3C"/>
                </a:solidFill>
                <a:latin typeface="Arial"/>
              </a:defRPr>
            </a:pPr>
            <a:endParaRPr sz="1852">
              <a:solidFill>
                <a:srgbClr val="3C3C3C"/>
              </a:solidFill>
              <a:latin typeface="Abadi" panose="020B0604020104020204" pitchFamily="34" charset="0"/>
            </a:endParaRPr>
          </a:p>
        </p:txBody>
      </p:sp>
      <p:sp>
        <p:nvSpPr>
          <p:cNvPr id="26637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STORE_SURVEY_SUPPORT</a:t>
            </a:r>
          </a:p>
        </p:txBody>
      </p:sp>
      <p:sp>
        <p:nvSpPr>
          <p:cNvPr id="26638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7">
            <a:extLst>
              <a:ext uri="{FF2B5EF4-FFF2-40B4-BE49-F238E27FC236}">
                <a16:creationId xmlns:a16="http://schemas.microsoft.com/office/drawing/2014/main" id="{0B38BB97-637D-0583-8DDA-AC87A1E0B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979488"/>
            <a:ext cx="1649730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rgbClr val="0070C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4.3. TỒN ĐỌNG &amp; ĐỀ XUẤT KHẮC PHỤC</a:t>
            </a:r>
            <a:endParaRPr lang="en-US" altLang="en-US" sz="1100">
              <a:solidFill>
                <a:srgbClr val="0070C0"/>
              </a:solidFill>
              <a:latin typeface="Abadi" panose="020B0604020104020204" pitchFamily="34" charset="0"/>
            </a:endParaRPr>
          </a:p>
        </p:txBody>
      </p:sp>
      <p:graphicFrame>
        <p:nvGraphicFramePr>
          <p:cNvPr id="15" name="TBL_PENDING_ISSUES">
            <a:extLst>
              <a:ext uri="{FF2B5EF4-FFF2-40B4-BE49-F238E27FC236}">
                <a16:creationId xmlns:a16="http://schemas.microsoft.com/office/drawing/2014/main" id="{C76ADE01-3BD3-B8B7-A022-3ED5F5E8B6F5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485900"/>
          <a:ext cx="8204200" cy="3840163"/>
        </p:xfrm>
        <a:graphic>
          <a:graphicData uri="http://schemas.openxmlformats.org/drawingml/2006/table">
            <a:tbl>
              <a:tblPr/>
              <a:tblGrid>
                <a:gridCol w="306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6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1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6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99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2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600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#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Vấn đề tồn đọng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Phát sinh lúc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Người chịu trách nhiệm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Hạn xử lý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Trạng thái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Ghi chú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0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</a:t>
                      </a:r>
                      <a:r>
                        <a:rPr kumimoji="0" lang="en-US" altLang="en-US" sz="19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Mô</a:t>
                      </a:r>
                      <a:r>
                        <a:rPr kumimoji="0" lang="en-US" altLang="en-US" sz="19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9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tả</a:t>
                      </a:r>
                      <a:r>
                        <a:rPr kumimoji="0" lang="en-US" altLang="en-US" sz="19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9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vấn</a:t>
                      </a:r>
                      <a:r>
                        <a:rPr kumimoji="0" lang="en-US" altLang="en-US" sz="19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9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đề</a:t>
                      </a:r>
                      <a:r>
                        <a:rPr kumimoji="0" lang="en-US" altLang="en-US" sz="19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]</a:t>
                      </a:r>
                      <a:endParaRPr kumimoji="0" lang="en-US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[DD/MM/YY]</a:t>
                      </a:r>
                      <a:endParaRPr kumimoji="0" lang="en-US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[CHT / PTTT / QLKD]</a:t>
                      </a:r>
                      <a:endParaRPr kumimoji="0" lang="en-US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[DD/MM/YY]</a:t>
                      </a:r>
                      <a:endParaRPr kumimoji="0" lang="en-US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Chưa</a:t>
                      </a:r>
                      <a:r>
                        <a:rPr kumimoji="0" lang="en-US" altLang="en-US" sz="15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5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xử</a:t>
                      </a:r>
                      <a:r>
                        <a:rPr kumimoji="0" lang="en-US" altLang="en-US" sz="15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5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lý</a:t>
                      </a:r>
                      <a:r>
                        <a:rPr kumimoji="0" lang="en-US" altLang="en-US" sz="15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/ </a:t>
                      </a:r>
                      <a:r>
                        <a:rPr kumimoji="0" lang="en-US" altLang="en-US" sz="15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Đang</a:t>
                      </a:r>
                      <a:r>
                        <a:rPr kumimoji="0" lang="en-US" altLang="en-US" sz="15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5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xử</a:t>
                      </a:r>
                      <a:r>
                        <a:rPr kumimoji="0" lang="en-US" altLang="en-US" sz="15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5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lý</a:t>
                      </a:r>
                      <a:r>
                        <a:rPr kumimoji="0" lang="en-US" altLang="en-US" sz="15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 / Hoàn </a:t>
                      </a:r>
                      <a:r>
                        <a:rPr kumimoji="0" lang="en-US" altLang="en-US" sz="15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thành</a:t>
                      </a:r>
                      <a:endParaRPr kumimoji="0" lang="en-US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0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[Mô tả vấn đề]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[DD/MM/YY]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[CHT / PTTT / QLKD]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[DD/MM/YY]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Chưa xử lý / Đang xử lý / Hoàn thành</a:t>
                      </a:r>
                      <a:endParaRPr kumimoji="0" lang="en-US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0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[Mô tả vấn đề]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[DD/MM/YY]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[CHT / PTTT / QLKD]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9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[DD/MM/YY]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1" u="none" strike="noStrike" cap="none" normalizeH="0" baseline="0">
                          <a:ln>
                            <a:noFill/>
                          </a:ln>
                          <a:solidFill>
                            <a:srgbClr val="AAAAAA"/>
                          </a:solidFill>
                          <a:effectLst/>
                          <a:latin typeface="Abadi" panose="020B0604020104020204" pitchFamily="34" charset="0"/>
                          <a:cs typeface="Arial" panose="020B0604020202020204" pitchFamily="34" charset="0"/>
                        </a:rPr>
                        <a:t>Chưa xử lý / Đang xử lý / Hoàn thành</a:t>
                      </a:r>
                      <a:endParaRPr kumimoji="0" lang="en-US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cs typeface="Arial" panose="020B0604020202020204" pitchFamily="34" charset="0"/>
                      </a:endParaRPr>
                    </a:p>
                  </a:txBody>
                  <a:tcPr marT="45714" marB="45714" horzOverflow="overflow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693" name="Text 118">
            <a:extLst>
              <a:ext uri="{FF2B5EF4-FFF2-40B4-BE49-F238E27FC236}">
                <a16:creationId xmlns:a16="http://schemas.microsoft.com/office/drawing/2014/main" id="{91A0AD29-0F08-6D38-730E-A7F054D39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86500"/>
            <a:ext cx="445928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b="1">
                <a:solidFill>
                  <a:srgbClr val="CC1A1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⚠  Vấn đề CSVC cần báo PTTT: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27694" name="TXT_CSVC_ISSUE_NOTE">
            <a:extLst>
              <a:ext uri="{FF2B5EF4-FFF2-40B4-BE49-F238E27FC236}">
                <a16:creationId xmlns:a16="http://schemas.microsoft.com/office/drawing/2014/main" id="{3DD4D1B4-C123-27E6-C560-8D8A63E4D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667500"/>
            <a:ext cx="78486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i="1">
                <a:solidFill>
                  <a:srgbClr val="BBBBB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Ghi chú CSVC – các vấn đề khẩn cần xử lý...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27695" name="PIC_CSVC_ISSUE">
            <a:extLst>
              <a:ext uri="{FF2B5EF4-FFF2-40B4-BE49-F238E27FC236}">
                <a16:creationId xmlns:a16="http://schemas.microsoft.com/office/drawing/2014/main" id="{9AAF7C44-AB03-3171-45D7-7248A16D5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175500"/>
            <a:ext cx="8204200" cy="1714500"/>
          </a:xfrm>
          <a:prstGeom prst="roundRect">
            <a:avLst>
              <a:gd name="adj" fmla="val 28569"/>
            </a:avLst>
          </a:prstGeom>
          <a:solidFill>
            <a:srgbClr val="F0F0F0"/>
          </a:solidFill>
          <a:ln w="12700">
            <a:solidFill>
              <a:srgbClr val="E2E8F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27696" name="TXT_CSVC_IMAGE_PLACEHOLDER">
            <a:extLst>
              <a:ext uri="{FF2B5EF4-FFF2-40B4-BE49-F238E27FC236}">
                <a16:creationId xmlns:a16="http://schemas.microsoft.com/office/drawing/2014/main" id="{36CBB712-6D99-A2F5-C141-CA5D98C58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100" y="7673975"/>
            <a:ext cx="2895600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100" i="1">
                <a:solidFill>
                  <a:srgbClr val="AAAAAA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📷 Chèn ảnh tại đây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3" name="Shape 13">
            <a:extLst>
              <a:ext uri="{FF2B5EF4-FFF2-40B4-BE49-F238E27FC236}">
                <a16:creationId xmlns:a16="http://schemas.microsoft.com/office/drawing/2014/main" id="{DB9AB1D7-4302-4781-FCA4-5B2E4B5A21AA}"/>
              </a:ext>
            </a:extLst>
          </p:cNvPr>
          <p:cNvSpPr/>
          <p:nvPr/>
        </p:nvSpPr>
        <p:spPr>
          <a:xfrm>
            <a:off x="9412288" y="1524000"/>
            <a:ext cx="8202612" cy="73533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27698" name="Shape 14">
            <a:extLst>
              <a:ext uri="{FF2B5EF4-FFF2-40B4-BE49-F238E27FC236}">
                <a16:creationId xmlns:a16="http://schemas.microsoft.com/office/drawing/2014/main" id="{5EA05BED-5334-76E6-BFEC-E8D804AC1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2288" y="1524000"/>
            <a:ext cx="8202612" cy="627063"/>
          </a:xfrm>
          <a:prstGeom prst="roundRect">
            <a:avLst>
              <a:gd name="adj" fmla="val 17144"/>
            </a:avLst>
          </a:prstGeom>
          <a:solidFill>
            <a:srgbClr val="EA580C"/>
          </a:solidFill>
          <a:ln w="12700">
            <a:solidFill>
              <a:srgbClr val="EA580C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27699" name="Text 15">
            <a:extLst>
              <a:ext uri="{FF2B5EF4-FFF2-40B4-BE49-F238E27FC236}">
                <a16:creationId xmlns:a16="http://schemas.microsoft.com/office/drawing/2014/main" id="{FF0F35FD-7C1C-5D70-025E-BC568A9E9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0088" y="1549400"/>
            <a:ext cx="7847012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b="1">
                <a:solidFill>
                  <a:srgbClr val="FFFFFF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ĐỀ XUẤT KHẮC PHỤC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27700" name="TXT_ACTION_PLAN_PROPOSALS">
            <a:extLst>
              <a:ext uri="{FF2B5EF4-FFF2-40B4-BE49-F238E27FC236}">
                <a16:creationId xmlns:a16="http://schemas.microsoft.com/office/drawing/2014/main" id="{43B508E5-2C5E-68A3-BA28-E36FCC9AE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7888" y="2241550"/>
            <a:ext cx="7491412" cy="635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 i="1">
                <a:solidFill>
                  <a:srgbClr val="BBBBB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• Đề xuất khắc phục CSVC:
  [Nhập đề xuất tại đây...]
• Đề xuất về nhân sự / đào tạo:
  [Nhập đề xuất tại đây...]
• Đề xuất hàng hóa / vận hành:
  [Nhập đề xuất tại đây...]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27701" name="TextBox 10">
            <a:extLst>
              <a:ext uri="{FF2B5EF4-FFF2-40B4-BE49-F238E27FC236}">
                <a16:creationId xmlns:a16="http://schemas.microsoft.com/office/drawing/2014/main" id="{5D96DE19-9FB5-C03F-B5B0-F3DB018D3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10138" y="9588500"/>
            <a:ext cx="169862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100">
                <a:solidFill>
                  <a:srgbClr val="646469"/>
                </a:solidFill>
                <a:latin typeface="Abadi" panose="020B0604020104020204" pitchFamily="34" charset="0"/>
              </a:rPr>
              <a:t>17</a:t>
            </a:r>
          </a:p>
        </p:txBody>
      </p:sp>
      <p:sp>
        <p:nvSpPr>
          <p:cNvPr id="27702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STORE_PENDING_ISSUES</a:t>
            </a:r>
          </a:p>
        </p:txBody>
      </p:sp>
      <p:sp>
        <p:nvSpPr>
          <p:cNvPr id="27703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>
            <a:extLst>
              <a:ext uri="{FF2B5EF4-FFF2-40B4-BE49-F238E27FC236}">
                <a16:creationId xmlns:a16="http://schemas.microsoft.com/office/drawing/2014/main" id="{A9F22372-A91D-9E54-5BE6-1BC7E29707CB}"/>
              </a:ext>
            </a:extLst>
          </p:cNvPr>
          <p:cNvSpPr/>
          <p:nvPr/>
        </p:nvSpPr>
        <p:spPr>
          <a:xfrm>
            <a:off x="609600" y="1536700"/>
            <a:ext cx="17170400" cy="63500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>
              <a:defRPr/>
            </a:pPr>
            <a:endParaRPr>
              <a:latin typeface="Abadi" panose="020B0604020104020204" pitchFamily="34" charset="0"/>
            </a:endParaRPr>
          </a:p>
        </p:txBody>
      </p:sp>
      <p:sp>
        <p:nvSpPr>
          <p:cNvPr id="28675" name="Shape 6">
            <a:extLst>
              <a:ext uri="{FF2B5EF4-FFF2-40B4-BE49-F238E27FC236}">
                <a16:creationId xmlns:a16="http://schemas.microsoft.com/office/drawing/2014/main" id="{FF8F6C68-138E-28A8-3F33-DAB01D94C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36700"/>
            <a:ext cx="17170400" cy="627063"/>
          </a:xfrm>
          <a:prstGeom prst="roundRect">
            <a:avLst>
              <a:gd name="adj" fmla="val 17144"/>
            </a:avLst>
          </a:prstGeom>
          <a:solidFill>
            <a:srgbClr val="1D4ED8"/>
          </a:solidFill>
          <a:ln w="12700">
            <a:solidFill>
              <a:srgbClr val="1D4ED8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Abadi" panose="020B0604020104020204" pitchFamily="34" charset="0"/>
            </a:endParaRPr>
          </a:p>
        </p:txBody>
      </p:sp>
      <p:sp>
        <p:nvSpPr>
          <p:cNvPr id="28676" name="Text 7">
            <a:extLst>
              <a:ext uri="{FF2B5EF4-FFF2-40B4-BE49-F238E27FC236}">
                <a16:creationId xmlns:a16="http://schemas.microsoft.com/office/drawing/2014/main" id="{DADFD2D6-5DE7-D37F-CC55-7471BA592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" y="1536700"/>
            <a:ext cx="1092200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900" b="1">
                <a:solidFill>
                  <a:srgbClr val="FFFFFF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ĐỀ XUẤT PHÁT TRIỂN</a:t>
            </a:r>
            <a:endParaRPr lang="en-US" altLang="en-US" sz="1000">
              <a:latin typeface="Abadi" panose="020B0604020104020204" pitchFamily="34" charset="0"/>
            </a:endParaRPr>
          </a:p>
        </p:txBody>
      </p:sp>
      <p:sp>
        <p:nvSpPr>
          <p:cNvPr id="28677" name="TXT_DEV_PROPOSALS">
            <a:extLst>
              <a:ext uri="{FF2B5EF4-FFF2-40B4-BE49-F238E27FC236}">
                <a16:creationId xmlns:a16="http://schemas.microsoft.com/office/drawing/2014/main" id="{2A3F5351-FB31-BE00-1AB6-408BDCE98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" y="2298700"/>
            <a:ext cx="109220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100" i="1">
                <a:solidFill>
                  <a:srgbClr val="BBBBBB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[Nhập đề xuất phát triển tại đây...]</a:t>
            </a:r>
            <a:endParaRPr lang="en-US" altLang="en-US" sz="1100">
              <a:latin typeface="Abadi" panose="020B0604020104020204" pitchFamily="34" charset="0"/>
            </a:endParaRPr>
          </a:p>
        </p:txBody>
      </p:sp>
      <p:sp>
        <p:nvSpPr>
          <p:cNvPr id="28678" name="TextBox 1">
            <a:extLst>
              <a:ext uri="{FF2B5EF4-FFF2-40B4-BE49-F238E27FC236}">
                <a16:creationId xmlns:a16="http://schemas.microsoft.com/office/drawing/2014/main" id="{A2D04686-4FB1-09D8-81E7-8F2F0919E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10138" y="9588500"/>
            <a:ext cx="169862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r>
              <a:rPr lang="en-US" altLang="en-US" sz="1100">
                <a:solidFill>
                  <a:srgbClr val="646469"/>
                </a:solidFill>
                <a:latin typeface="Abadi" panose="020B0604020104020204" pitchFamily="34" charset="0"/>
              </a:rPr>
              <a:t>18</a:t>
            </a:r>
          </a:p>
        </p:txBody>
      </p:sp>
      <p:sp>
        <p:nvSpPr>
          <p:cNvPr id="28679" name="TextBox 18">
            <a:extLst>
              <a:ext uri="{FF2B5EF4-FFF2-40B4-BE49-F238E27FC236}">
                <a16:creationId xmlns:a16="http://schemas.microsoft.com/office/drawing/2014/main" id="{CA56F0FE-328A-2B8C-B532-6F960A475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73125"/>
            <a:ext cx="16764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="1">
                <a:solidFill>
                  <a:srgbClr val="0070C0"/>
                </a:solidFill>
                <a:latin typeface="Abadi" panose="020B0604020104020204" pitchFamily="34" charset="0"/>
              </a:rPr>
              <a:t>4.4 Các đề xuất phát triển của QLKD</a:t>
            </a:r>
          </a:p>
        </p:txBody>
      </p:sp>
      <p:sp>
        <p:nvSpPr>
          <p:cNvPr id="28680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STORE_DEV_PROPOSALS</a:t>
            </a:r>
          </a:p>
        </p:txBody>
      </p:sp>
      <p:sp>
        <p:nvSpPr>
          <p:cNvPr id="28681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2">
            <a:extLst>
              <a:ext uri="{FF2B5EF4-FFF2-40B4-BE49-F238E27FC236}">
                <a16:creationId xmlns:a16="http://schemas.microsoft.com/office/drawing/2014/main" id="{F6975777-674A-2110-C939-504BC151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188" y="1689100"/>
            <a:ext cx="16051212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700" i="1">
                <a:solidFill>
                  <a:srgbClr val="EE000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AN PHƯỚC GROUP – Báo cáo kiểm tra cửa hàng</a:t>
            </a:r>
            <a:endParaRPr lang="en-US" altLang="en-US" sz="1400">
              <a:solidFill>
                <a:srgbClr val="EE0000"/>
              </a:solidFill>
              <a:latin typeface="Abadi" panose="020B0604020104020204" pitchFamily="34" charset="0"/>
            </a:endParaRPr>
          </a:p>
        </p:txBody>
      </p:sp>
      <p:sp>
        <p:nvSpPr>
          <p:cNvPr id="29699" name="TXT_FOOTER_INFO">
            <a:extLst>
              <a:ext uri="{FF2B5EF4-FFF2-40B4-BE49-F238E27FC236}">
                <a16:creationId xmlns:a16="http://schemas.microsoft.com/office/drawing/2014/main" id="{FFC38880-39A7-E085-AD7B-CDD7B59AB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188" y="2584450"/>
            <a:ext cx="16051212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300">
                <a:solidFill>
                  <a:srgbClr val="EE0000"/>
                </a:solidFill>
                <a:latin typeface="Abadi" panose="020B0604020104020204" pitchFamily="34" charset="0"/>
                <a:cs typeface="Arial" panose="020B0604020202020204" pitchFamily="34" charset="0"/>
              </a:rPr>
              <a:t>Cửa hàng: [Tên CH]   |   Ngày: [DD/MM/YYYY]   |   QLKD: [Họ tên]</a:t>
            </a:r>
            <a:endParaRPr lang="en-US" altLang="en-US" sz="1200">
              <a:solidFill>
                <a:srgbClr val="EE0000"/>
              </a:solidFill>
              <a:latin typeface="Abadi" panose="020B0604020104020204" pitchFamily="34" charset="0"/>
            </a:endParaRPr>
          </a:p>
        </p:txBody>
      </p:sp>
      <p:sp>
        <p:nvSpPr>
          <p:cNvPr id="29704" name="TextBox 30">
            <a:extLst>
              <a:ext uri="{FF2B5EF4-FFF2-40B4-BE49-F238E27FC236}">
                <a16:creationId xmlns:a16="http://schemas.microsoft.com/office/drawing/2014/main" id="{7E89394B-2531-DBCD-309F-C02803446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08000"/>
            <a:ext cx="16764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800" b="1">
              <a:solidFill>
                <a:srgbClr val="800020"/>
              </a:solidFill>
              <a:latin typeface="Abadi" panose="020B0604020104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B5C95C-4CD0-B1BA-D891-4E39CEBEF487}"/>
              </a:ext>
            </a:extLst>
          </p:cNvPr>
          <p:cNvSpPr/>
          <p:nvPr/>
        </p:nvSpPr>
        <p:spPr>
          <a:xfrm>
            <a:off x="762000" y="1397000"/>
            <a:ext cx="16764000" cy="38100"/>
          </a:xfrm>
          <a:prstGeom prst="rect">
            <a:avLst/>
          </a:prstGeom>
          <a:solidFill>
            <a:srgbClr val="C5A059"/>
          </a:solidFill>
          <a:ln>
            <a:solidFill>
              <a:srgbClr val="C5A0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29706" name="TextBox 1">
            <a:extLst>
              <a:ext uri="{FF2B5EF4-FFF2-40B4-BE49-F238E27FC236}">
                <a16:creationId xmlns:a16="http://schemas.microsoft.com/office/drawing/2014/main" id="{904986AE-F123-4856-9CE9-882F50CC40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5068888"/>
            <a:ext cx="65389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vi-VN" altLang="en-US" sz="4800" b="1" i="1">
                <a:solidFill>
                  <a:srgbClr val="EE0000"/>
                </a:solidFill>
              </a:rPr>
              <a:t>Thank you!</a:t>
            </a:r>
            <a:endParaRPr lang="en-US" altLang="en-US" sz="4800" b="1" i="1">
              <a:solidFill>
                <a:srgbClr val="EE0000"/>
              </a:solidFill>
              <a:latin typeface="Abadi" panose="020B0604020104020204" pitchFamily="34" charset="0"/>
            </a:endParaRPr>
          </a:p>
        </p:txBody>
      </p:sp>
      <p:sp>
        <p:nvSpPr>
          <p:cNvPr id="29707" name="META_SLIDE_ID"/>
          <p:cNvSpPr txBox="1"/>
          <p:nvPr/>
        </p:nvSpPr>
        <p:spPr>
          <a:xfrm>
            <a:off x="-9144000" y="-9144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STORE_THANK_YOU</a:t>
            </a:r>
          </a:p>
        </p:txBody>
      </p:sp>
      <p:sp>
        <p:nvSpPr>
          <p:cNvPr id="29708" name="META_TEMPLATE_VERSION"/>
          <p:cNvSpPr txBox="1"/>
          <p:nvPr/>
        </p:nvSpPr>
        <p:spPr>
          <a:xfrm>
            <a:off x="-9144000" y="-7772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4352</TotalTime>
  <Words>2589</Words>
  <Application>Microsoft Office PowerPoint</Application>
  <PresentationFormat>Custom</PresentationFormat>
  <Paragraphs>395</Paragraphs>
  <Slides>19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Times New Roman</vt:lpstr>
      <vt:lpstr>Abadi</vt:lpstr>
      <vt:lpstr>Wingdings</vt:lpstr>
      <vt:lpstr>Calibri</vt:lpstr>
      <vt:lpstr>Office Theme</vt:lpstr>
      <vt:lpstr>Microsoft Excel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Company Profile Business Presentation in Red Maroon White Geometric Style</dc:title>
  <dc:creator>Nguyễn Hoàng Minh Thông</dc:creator>
  <cp:keywords>DAFh2MPb4ho,BAFXUA1VM-g</cp:keywords>
  <cp:lastModifiedBy>Khôi Nguyễn</cp:lastModifiedBy>
  <cp:revision>240</cp:revision>
  <cp:lastPrinted>2026-03-30T04:23:59Z</cp:lastPrinted>
  <dcterms:created xsi:type="dcterms:W3CDTF">2025-04-14T00:38:03Z</dcterms:created>
  <dcterms:modified xsi:type="dcterms:W3CDTF">2026-06-15T02:07:06Z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2025-04-11T00:00:00Z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2025-04-14T00:00:00Z</vt:filetime>
  </property>
  <property fmtid="{D5CDD505-2E9C-101B-9397-08002B2CF9AE}" pid="5" name="Producer">
    <vt:lpwstr>3-Heights(TM) PDF Security Shell 4.8.25.2 (http://www.pdf-tools.com)</vt:lpwstr>
  </property>
</Properties>
</file>